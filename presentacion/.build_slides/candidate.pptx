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af2db1a01e4fdf" /><Relationship Type="http://schemas.openxmlformats.org/officeDocument/2006/relationships/extended-properties" Target="/docProps/app.xml" Id="R6930ab96da724dea" /><Relationship Type="http://schemas.openxmlformats.org/officeDocument/2006/relationships/officeDocument" Target="/ppt/presentation.xml" Id="R790087d4e3e641e2" /></Relationships>
</file>

<file path=ppt/presentation.xml><?xml version="1.0" encoding="utf-8"?>
<p:presentation xmlns:p="http://schemas.openxmlformats.org/presentationml/2006/main">
  <p:sldMasterIdLst>
    <p:sldMasterId xmlns:r="http://schemas.openxmlformats.org/officeDocument/2006/relationships" id="2147483648" r:id="R003596a6a69e41ee"/>
  </p:sldMasterIdLst>
  <p:notesMasterIdLst>
    <p:notesMasterId xmlns:r="http://schemas.openxmlformats.org/officeDocument/2006/relationships" r:id="R0461a45ba4384da1"/>
  </p:notesMasterIdLst>
  <p:sldIdLst>
    <p:sldId xmlns:r="http://schemas.openxmlformats.org/officeDocument/2006/relationships" id="256" r:id="R2221a49914b148db"/>
    <p:sldId xmlns:r="http://schemas.openxmlformats.org/officeDocument/2006/relationships" id="257" r:id="R721a48194c864c62"/>
    <p:sldId xmlns:r="http://schemas.openxmlformats.org/officeDocument/2006/relationships" id="258" r:id="R7c798174492c4a39"/>
    <p:sldId xmlns:r="http://schemas.openxmlformats.org/officeDocument/2006/relationships" id="259" r:id="R3b4e56344fa841d7"/>
    <p:sldId xmlns:r="http://schemas.openxmlformats.org/officeDocument/2006/relationships" id="260" r:id="Rb7e821712b784206"/>
    <p:sldId xmlns:r="http://schemas.openxmlformats.org/officeDocument/2006/relationships" id="261" r:id="R38deb8aff6574ec0"/>
    <p:sldId xmlns:r="http://schemas.openxmlformats.org/officeDocument/2006/relationships" id="262" r:id="Ref6f9c97643a423a"/>
    <p:sldId xmlns:r="http://schemas.openxmlformats.org/officeDocument/2006/relationships" id="263" r:id="R93e919176b044699"/>
    <p:sldId xmlns:r="http://schemas.openxmlformats.org/officeDocument/2006/relationships" id="264" r:id="Ra014e3fd02e347a1"/>
    <p:sldId xmlns:r="http://schemas.openxmlformats.org/officeDocument/2006/relationships" id="265" r:id="R775d1893eff84e81"/>
    <p:sldId xmlns:r="http://schemas.openxmlformats.org/officeDocument/2006/relationships" id="266" r:id="Rf81d92d489b54d4f"/>
    <p:sldId xmlns:r="http://schemas.openxmlformats.org/officeDocument/2006/relationships" id="267" r:id="R0320f12491804728"/>
    <p:sldId xmlns:r="http://schemas.openxmlformats.org/officeDocument/2006/relationships" id="268" r:id="Rcdb76841066f4283"/>
    <p:sldId xmlns:r="http://schemas.openxmlformats.org/officeDocument/2006/relationships" id="269" r:id="R1f562adac582493d"/>
    <p:sldId xmlns:r="http://schemas.openxmlformats.org/officeDocument/2006/relationships" id="270" r:id="R0a9c67fca32f41ee"/>
    <p:sldId xmlns:r="http://schemas.openxmlformats.org/officeDocument/2006/relationships" id="271" r:id="R85d9c6870d354a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d549ea45d84be2" /><Relationship Type="http://schemas.openxmlformats.org/officeDocument/2006/relationships/slideMaster" Target="/ppt/slideMasters/slideMaster1.xml" Id="R003596a6a69e41ee" /><Relationship Type="http://schemas.openxmlformats.org/officeDocument/2006/relationships/notesMaster" Target="/ppt/notesMasters/notesMaster1.xml" Id="R0461a45ba4384da1" /><Relationship Type="http://schemas.openxmlformats.org/officeDocument/2006/relationships/presProps" Target="/ppt/presProps.xml" Id="Rf2c914cd3fb946b6" /><Relationship Type="http://schemas.openxmlformats.org/officeDocument/2006/relationships/tableStyles" Target="/ppt/tableStyles.xml" Id="Rf1d37bd06c7d41f5" /><Relationship Type="http://schemas.openxmlformats.org/officeDocument/2006/relationships/slide" Target="/ppt/slides/slide1.xml" Id="R2221a49914b148db" /><Relationship Type="http://schemas.openxmlformats.org/officeDocument/2006/relationships/slide" Target="/ppt/slides/slide2.xml" Id="R721a48194c864c62" /><Relationship Type="http://schemas.openxmlformats.org/officeDocument/2006/relationships/slide" Target="/ppt/slides/slide3.xml" Id="R7c798174492c4a39" /><Relationship Type="http://schemas.openxmlformats.org/officeDocument/2006/relationships/slide" Target="/ppt/slides/slide4.xml" Id="R3b4e56344fa841d7" /><Relationship Type="http://schemas.openxmlformats.org/officeDocument/2006/relationships/slide" Target="/ppt/slides/slide5.xml" Id="Rb7e821712b784206" /><Relationship Type="http://schemas.openxmlformats.org/officeDocument/2006/relationships/slide" Target="/ppt/slides/slide6.xml" Id="R38deb8aff6574ec0" /><Relationship Type="http://schemas.openxmlformats.org/officeDocument/2006/relationships/slide" Target="/ppt/slides/slide7.xml" Id="Ref6f9c97643a423a" /><Relationship Type="http://schemas.openxmlformats.org/officeDocument/2006/relationships/slide" Target="/ppt/slides/slide8.xml" Id="R93e919176b044699" /><Relationship Type="http://schemas.openxmlformats.org/officeDocument/2006/relationships/slide" Target="/ppt/slides/slide9.xml" Id="Ra014e3fd02e347a1" /><Relationship Type="http://schemas.openxmlformats.org/officeDocument/2006/relationships/slide" Target="/ppt/slides/slide10.xml" Id="R775d1893eff84e81" /><Relationship Type="http://schemas.openxmlformats.org/officeDocument/2006/relationships/slide" Target="/ppt/slides/slide11.xml" Id="Rf81d92d489b54d4f" /><Relationship Type="http://schemas.openxmlformats.org/officeDocument/2006/relationships/slide" Target="/ppt/slides/slide12.xml" Id="R0320f12491804728" /><Relationship Type="http://schemas.openxmlformats.org/officeDocument/2006/relationships/slide" Target="/ppt/slides/slide13.xml" Id="Rcdb76841066f4283" /><Relationship Type="http://schemas.openxmlformats.org/officeDocument/2006/relationships/slide" Target="/ppt/slides/slide14.xml" Id="R1f562adac582493d" /><Relationship Type="http://schemas.openxmlformats.org/officeDocument/2006/relationships/slide" Target="/ppt/slides/slide15.xml" Id="R0a9c67fca32f41ee" /><Relationship Type="http://schemas.openxmlformats.org/officeDocument/2006/relationships/slide" Target="/ppt/slides/slide16.xml" Id="R85d9c6870d354a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8309aef85043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59e738602446f5" /><Relationship Type="http://schemas.openxmlformats.org/officeDocument/2006/relationships/notesMaster" Target="/ppt/notesMasters/notesMaster1.xml" Id="R30072f4b39a343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bf880555b4499f" /><Relationship Type="http://schemas.openxmlformats.org/officeDocument/2006/relationships/notesMaster" Target="/ppt/notesMasters/notesMaster1.xml" Id="Rd138d43bbced4d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dec24b0eb241bf" /><Relationship Type="http://schemas.openxmlformats.org/officeDocument/2006/relationships/notesMaster" Target="/ppt/notesMasters/notesMaster1.xml" Id="Rae5eab22891346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0e60201ac24a7f" /><Relationship Type="http://schemas.openxmlformats.org/officeDocument/2006/relationships/notesMaster" Target="/ppt/notesMasters/notesMaster1.xml" Id="R8df268f3062e47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73e89b88244063" /><Relationship Type="http://schemas.openxmlformats.org/officeDocument/2006/relationships/notesMaster" Target="/ppt/notesMasters/notesMaster1.xml" Id="R5747433a33cc4f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197bced3b44b7f" /><Relationship Type="http://schemas.openxmlformats.org/officeDocument/2006/relationships/notesMaster" Target="/ppt/notesMasters/notesMaster1.xml" Id="R3cc40e96225742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ac71151a544559" /><Relationship Type="http://schemas.openxmlformats.org/officeDocument/2006/relationships/notesMaster" Target="/ppt/notesMasters/notesMaster1.xml" Id="R7ca9f1d6e2d148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52623a1c8c439d" /><Relationship Type="http://schemas.openxmlformats.org/officeDocument/2006/relationships/notesMaster" Target="/ppt/notesMasters/notesMaster1.xml" Id="Rf1729feaaa9846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53d602472d4e08" /><Relationship Type="http://schemas.openxmlformats.org/officeDocument/2006/relationships/notesMaster" Target="/ppt/notesMasters/notesMaster1.xml" Id="R3871de8a40354b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c216cd07a2411e" /><Relationship Type="http://schemas.openxmlformats.org/officeDocument/2006/relationships/notesMaster" Target="/ppt/notesMasters/notesMaster1.xml" Id="R376cab2fdb6d4d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51adba3dd04648" /><Relationship Type="http://schemas.openxmlformats.org/officeDocument/2006/relationships/notesMaster" Target="/ppt/notesMasters/notesMaster1.xml" Id="R85f17766790447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bfcfdf4b954f79" /><Relationship Type="http://schemas.openxmlformats.org/officeDocument/2006/relationships/notesMaster" Target="/ppt/notesMasters/notesMaster1.xml" Id="Rec6ebbbb490b46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c655c06a2d4566" /><Relationship Type="http://schemas.openxmlformats.org/officeDocument/2006/relationships/notesMaster" Target="/ppt/notesMasters/notesMaster1.xml" Id="R7b0179efec6f49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21a84902a847aa" /><Relationship Type="http://schemas.openxmlformats.org/officeDocument/2006/relationships/notesMaster" Target="/ppt/notesMasters/notesMaster1.xml" Id="R4b241ca07ba844b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d3cda003fe4455f" /><Relationship Type="http://schemas.openxmlformats.org/officeDocument/2006/relationships/notesMaster" Target="/ppt/notesMasters/notesMaster1.xml" Id="R0a26c3c3c4ba48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298f87fa364ab1" /><Relationship Type="http://schemas.openxmlformats.org/officeDocument/2006/relationships/notesMaster" Target="/ppt/notesMasters/notesMaster1.xml" Id="R72812f9c531149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«Queremos explicar cómo la radiación afecta la electrónica de Voyager, incluyendo las partes que no son computadoras. Al 14 de octubre de 2026 ambas sondas tienen 49 años. Que continúen siendo útiles no significa que todas sus piezas funcionen como al comienzo. La radiación puede provocar una señal falsa por un instante, dejar un estado equivocado o degradar un componente. Vamos a recorrer esos efectos y ver qué decisiones de ingeniería ayudan a limitar sus consecuencias.»</a:t>
            </a:r>
          </a:p>
          <a:p xmlns:a="http://schemas.openxmlformats.org/drawingml/2006/main">
            <a:r>
              <a:t/>
            </a:r>
          </a:p>
          <a:p xmlns:a="http://schemas.openxmlformats.org/drawingml/2006/main">
            <a:r>
              <a:t>FUENTES Y LOCALIZADORES</a:t>
            </a:r>
          </a:p>
          <a:p xmlns:a="http://schemas.openxmlformats.org/drawingml/2006/main">
            <a:r>
              <a:t>[S06](04_fuentes.md#s06), [S07](04_fuentes.md#s07), [S21](04_fuentes.md#s21); dossier §§1 y 6.</a:t>
            </a:r>
          </a:p>
          <a:p xmlns:a="http://schemas.openxmlformats.org/drawingml/2006/main">
            <a:r>
              <a:t>S06 — Voyager Fact Sheet</a:t>
            </a:r>
          </a:p>
          <a:p xmlns:a="http://schemas.openxmlformats.org/drawingml/2006/main">
            <a:r>
              <a:t>https://science.nasa.gov/mission/voyager/fact-sheet/</a:t>
            </a:r>
          </a:p>
          <a:p xmlns:a="http://schemas.openxmlformats.org/drawingml/2006/main">
            <a:r>
              <a:t>S07 — Where Are Voyager 1 and 2 Now</a:t>
            </a:r>
          </a:p>
          <a:p xmlns:a="http://schemas.openxmlformats.org/drawingml/2006/main">
            <a:r>
              <a:t>https://science.nasa.gov/mission/voyager/where-are-voyager-1-and-voyager-2-now/</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Imagen: esquema publicado por NASA, S37. Señalar el bus y los RTG.</a:t>
            </a:r>
          </a:p>
          <a:p xmlns:a="http://schemas.openxmlformats.org/drawingml/2006/main">
            <a:r>
              <a:t>S37: 45 Years Ago: Voyager 1 Begins its Epic Journey to the Outer Planets and Beyond</a:t>
            </a:r>
          </a:p>
          <a:p xmlns:a="http://schemas.openxmlformats.org/drawingml/2006/main">
            <a:r>
              <a:t>https://www.nasa.gov/history/45-years-ago-voyager-1-begins-its-epic-journey-to-the-outer-planets-and-beyond/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rayos cósmicos galácticos incluyen principalmente núcleos, como protones y helio, y llegan desde fuera del sistema solar. El Sol también produce episodios de partículas energéticas. Además, las magnetosferas planetarias pueden atrapar partículas, como ocurre en Júpiter. La energía ayuda a determinar cómo penetra e interactúa una partícula; el flujo indica cuántas llegan por área y tiempo. La dosis mide energía depositada por masa en un material. Por eso no podemos tomar una cantidad de partículas y llamarla directamente dosis del chip: necesitamos saber qué deposita energía y dónde.»</a:t>
            </a:r>
          </a:p>
          <a:p xmlns:a="http://schemas.openxmlformats.org/drawingml/2006/main">
            <a:r>
              <a:t/>
            </a:r>
          </a:p>
          <a:p xmlns:a="http://schemas.openxmlformats.org/drawingml/2006/main">
            <a:r>
              <a:t>FUENTES Y LOCALIZADORES</a:t>
            </a:r>
          </a:p>
          <a:p xmlns:a="http://schemas.openxmlformats.org/drawingml/2006/main">
            <a:r>
              <a:t>[S01](04_fuentes.md#s01) §II; [S17](04_fuentes.md#s17); [S21](04_fuentes.md#s21) pp. 4–17.</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S17 — Cosmic Rays Introduction NASA GSFC</a:t>
            </a:r>
          </a:p>
          <a:p xmlns:a="http://schemas.openxmlformats.org/drawingml/2006/main">
            <a:r>
              <a:t>https://imagine.gsfc.nasa.gov/science/toolbox/cosmic_rays1_orig.html</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«Ambas sondas pasaron por Júpiter y Saturno; Voyager 2 continuó a Urano y Neptuno. Hoy están fuera de la heliosfera. Para el diseño, los electrones de Júpiter eran una amenaza importante. Los informes establecieron exposiciones y requisitos de protección según la ubicación del equipo. Tenemos mediciones recientes de partículas de Voyager 2, pero son datos de un instrumento con una respuesta propia. Entre ese ambiente y un chip hay materiales, blindaje y geometría. Los requisitos de diseño no son una medición de la dosis acumulada durante toda la misión.»</a:t>
            </a:r>
          </a:p>
          <a:p xmlns:a="http://schemas.openxmlformats.org/drawingml/2006/main">
            <a:r>
              <a:t/>
            </a:r>
          </a:p>
          <a:p xmlns:a="http://schemas.openxmlformats.org/drawingml/2006/main">
            <a:r>
              <a:t>FUENTES Y LOCALIZADORES</a:t>
            </a:r>
          </a:p>
          <a:p xmlns:a="http://schemas.openxmlformats.org/drawingml/2006/main">
            <a:r>
              <a:t>[S01](04_fuentes.md#s01) tablas 2-1/3-1; [S06](04_fuentes.md#s06), [S18](04_fuentes.md#s18), [S19](04_fuentes.md#s19), [S20](04_fuentes.md#s20), [S29](04_fuentes.md#s29), [S33](04_fuentes.md#s33). Distancias exactas fuera de la pantalla; fechas en dossier §1.3.</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S06 — Voyager Fact Sheet</a:t>
            </a:r>
          </a:p>
          <a:p xmlns:a="http://schemas.openxmlformats.org/drawingml/2006/main">
            <a:r>
              <a:t>https://science.nasa.gov/mission/voyager/fact-sheet/</a:t>
            </a:r>
          </a:p>
          <a:p xmlns:a="http://schemas.openxmlformats.org/drawingml/2006/main">
            <a:r>
              <a:t>S18 — Voyager CRS Data</a:t>
            </a:r>
          </a:p>
          <a:p xmlns:a="http://schemas.openxmlformats.org/drawingml/2006/main">
            <a:r>
              <a:t>https://voyager.gsfc.nasa.gov/data.html</a:t>
            </a:r>
          </a:p>
          <a:p xmlns:a="http://schemas.openxmlformats.org/drawingml/2006/main">
            <a:r>
              <a:t>S19 — Voyager CRS Flux Time History</a:t>
            </a:r>
          </a:p>
          <a:p xmlns:a="http://schemas.openxmlformats.org/drawingml/2006/main">
            <a:r>
              <a:t>https://voyager.gsfc.nasa.gov/flux.html</a:t>
            </a:r>
          </a:p>
          <a:p xmlns:a="http://schemas.openxmlformats.org/drawingml/2006/main">
            <a:r>
              <a:t>S20 — Voyager 2 PGH Rate six hour averages</a:t>
            </a:r>
          </a:p>
          <a:p xmlns:a="http://schemas.openxmlformats.org/drawingml/2006/main">
            <a:r>
              <a:t>https://voyager.gsfc.nasa.gov/_recent/data/v2_3m_ipgh.txt</a:t>
            </a:r>
          </a:p>
          <a:p xmlns:a="http://schemas.openxmlformats.org/drawingml/2006/main">
            <a:r>
              <a:t>S29 — The Voyage to Interstellar Space</a:t>
            </a:r>
          </a:p>
          <a:p xmlns:a="http://schemas.openxmlformats.org/drawingml/2006/main">
            <a:r>
              <a:t>https://www.nasa.gov/solar-system/the-voyage-to-interstellar-space/</a:t>
            </a:r>
          </a:p>
          <a:p xmlns:a="http://schemas.openxmlformats.org/drawingml/2006/main">
            <a:r>
              <a:t>S33 — Voyager 2 PGH Rate documentation</a:t>
            </a:r>
          </a:p>
          <a:p xmlns:a="http://schemas.openxmlformats.org/drawingml/2006/main">
            <a:r>
              <a:t>https://voyager.gsfc.nasa.gov/v2pgh.html</a:t>
            </a:r>
          </a:p>
          <a:p xmlns:a="http://schemas.openxmlformats.org/drawingml/2006/main">
            <a:r>
              <a:t>S37: ilustración de heliosfera publicada en 2022, no posiciones exactas de 2026.</a:t>
            </a:r>
          </a:p>
          <a:p xmlns:a="http://schemas.openxmlformats.org/drawingml/2006/main">
            <a:r>
              <a:t>S37: 45 Years Ago: Voyager 1 Begins its Epic Journey to the Outer Planets and Beyond</a:t>
            </a:r>
          </a:p>
          <a:p xmlns:a="http://schemas.openxmlformats.org/drawingml/2006/main">
            <a:r>
              <a:t>https://www.nasa.gov/history/45-years-ago-voyager-1-begins-its-epic-journey-to-the-outer-planets-and-beyond/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nave combina alimentación, sensores, procesamiento y comunicaciones. En ellos encontramos resistencias, capacitores, dispositivos magnéticos, diodos, transistores, circuitos integrados y conexiones. La documentación describe un procesador y memorias CMOS en el sistema de datos, además de otras funciones lógicas CMOS. Para cada componente preguntaremos qué cambia. Puede aparecer un pulso que termina solo; ese pulso puede dejar un dato u orden incorrectos; o pueden cambiar parámetros y quedar daño. Son resultados diferentes y no una secuencia inevitable.»</a:t>
            </a:r>
          </a:p>
          <a:p xmlns:a="http://schemas.openxmlformats.org/drawingml/2006/main">
            <a:r>
              <a:t/>
            </a:r>
          </a:p>
          <a:p xmlns:a="http://schemas.openxmlformats.org/drawingml/2006/main">
            <a:r>
              <a:t>FUENTES Y LOCALIZADORES</a:t>
            </a:r>
          </a:p>
          <a:p xmlns:a="http://schemas.openxmlformats.org/drawingml/2006/main">
            <a:r>
              <a:t>[S01](04_fuentes.md#s01) §VI.B; [S03](04_fuentes.md#s03), [S04](04_fuentes.md#s04); [S21](04_fuentes.md#s21), [S22](04_fuentes.md#s22). Alcance de identificación: dossier §4.4.</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S03 — Voyager Backgrounder</a:t>
            </a:r>
          </a:p>
          <a:p xmlns:a="http://schemas.openxmlformats.org/drawingml/2006/main">
            <a:r>
              <a:t>https://ntrs.nasa.gov/api/citations/19810023559/downloads/19810023559.pdf</a:t>
            </a:r>
          </a:p>
          <a:p xmlns:a="http://schemas.openxmlformats.org/drawingml/2006/main">
            <a:r>
              <a:t>S04 — Computers in Spaceflight The NASA Experience</a:t>
            </a:r>
          </a:p>
          <a:p xmlns:a="http://schemas.openxmlformats.org/drawingml/2006/main">
            <a:r>
              <a:t>https://ntrs.nasa.gov/api/citations/19880069935/downloads/19880069935_Optimized.pdf</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S22 — JPL ASIC Guide Design for Radiation Tolerance</a:t>
            </a:r>
          </a:p>
          <a:p xmlns:a="http://schemas.openxmlformats.org/drawingml/2006/main">
            <a:r>
              <a:t>https://parts.jpl.nasa.gov/asic/Sect.3.4.html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una resistencia importa su valor, pero también el aislamiento que la rodea. Una corriente no deseada puede crear una tensión considerable en una entrada de alta resistencia. En el instrumento PWS se consideró una corriente de carga de antena de cuatro microamperios y una resistencia de veinte megaohmios a masa: el producto da ochenta voltios. Esa resistencia ayuda a evacuar carga. Es un caso documentado, no una afirmación sobre cada resistencia de la nave.</a:t>
            </a:r>
          </a:p>
          <a:p xmlns:a="http://schemas.openxmlformats.org/drawingml/2006/main">
            <a:r>
              <a:t/>
            </a:r>
          </a:p>
          <a:p xmlns:a="http://schemas.openxmlformats.org/drawingml/2006/main">
            <a:r>
              <a:t>En el capacitor, los electrodos almacenan cargas opuestas y el dieléctrico limita la corriente entre ellos. La radiación puede generar portadores en ese aislante y hacer que conduzca más durante la exposición. Entonces crece la fuga. El capacitor puede perder carga y alterar un tiempo, incluso si después se recupera el aislamiento. El disparo puede adelantarse o retrasarse según cómo funcione ese temporizador. Si solo medimos capacitancia, podemos pasar por alto ese problema.</a:t>
            </a:r>
          </a:p>
          <a:p xmlns:a="http://schemas.openxmlformats.org/drawingml/2006/main">
            <a:r>
              <a:t/>
            </a:r>
          </a:p>
          <a:p xmlns:a="http://schemas.openxmlformats.org/drawingml/2006/main">
            <a:r>
              <a:t>El programa Voyager ensayó capacitores de teflón con cambios pequeños de capacitancia. Eso es evidencia favorable para ese parámetro y esas condiciones; no demuestra ausencia de todos los efectos. La mitigación exige elegir material, verificar aislamiento y comprobar que el circuito funcione con los parámetros previstos. Un capacitor usado como filtro tampoco elimina cualquier perturbación.»</a:t>
            </a:r>
          </a:p>
          <a:p xmlns:a="http://schemas.openxmlformats.org/drawingml/2006/main">
            <a:r>
              <a:t/>
            </a:r>
          </a:p>
          <a:p xmlns:a="http://schemas.openxmlformats.org/drawingml/2006/main">
            <a:r>
              <a:t>FUENTES Y LOCALIZADORES</a:t>
            </a:r>
          </a:p>
          <a:p xmlns:a="http://schemas.openxmlformats.org/drawingml/2006/main">
            <a:r>
              <a:t>[S01](04_fuentes.md#s01) p. 7-53; [S08](04_fuentes.md#s08) §5.G; [S24](04_fuentes.md#s24) p. 49. Dossier §§3.1–3.2 y 5.3–5.4.</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S08 — A Plasma Wave Investigation for the Voyager Mission</a:t>
            </a:r>
          </a:p>
          <a:p xmlns:a="http://schemas.openxmlformats.org/drawingml/2006/main">
            <a:r>
              <a:t>https://pds.nasa.gov/data/vg1-j-spice-6-spk-v2.0/vg_1501/document/pws/pwsinst.htm</a:t>
            </a:r>
          </a:p>
          <a:p xmlns:a="http://schemas.openxmlformats.org/drawingml/2006/main">
            <a:r>
              <a:t>S24 — Radiation Effects and Analysis Lessons Wyrwas Wilcox</a:t>
            </a:r>
          </a:p>
          <a:p xmlns:a="http://schemas.openxmlformats.org/drawingml/2006/main">
            <a:r>
              <a:t>https://nepp.nasa.gov/docs/etw/2022/16-JUN-THU/1600-Wyrwas-20220002512.pdf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una unión existe un campo eléctrico. Si la radiación genera cargas positivas y negativas cerca de esa zona, el campo puede separarlas y producir una corriente que no estaba prevista. En un diodo conectado a una entrada, esa corriente puede parecer una señal. Cuando se recoge o recombina la carga extra, el pulso termina; no es necesario que el diodo quede dañado.</a:t>
            </a:r>
          </a:p>
          <a:p xmlns:a="http://schemas.openxmlformats.org/drawingml/2006/main">
            <a:r>
              <a:t/>
            </a:r>
          </a:p>
          <a:p xmlns:a="http://schemas.openxmlformats.org/drawingml/2006/main">
            <a:r>
              <a:t>El transistor bipolar suma otra cuestión: su ganancia. En funcionamiento normal, muchos portadores inyectados desde el emisor llegan al colector y otros se recombinan. La radiación puede crear defectos que facilitan la recombinación, o alterar superficies que aumentan la corriente de base. Para sostener una misma corriente de salida puede necesitarse más corriente de control. Si el circuito no tiene ese margen, cambia su funcionamiento.</a:t>
            </a:r>
          </a:p>
          <a:p xmlns:a="http://schemas.openxmlformats.org/drawingml/2006/main">
            <a:r>
              <a:t/>
            </a:r>
          </a:p>
          <a:p xmlns:a="http://schemas.openxmlformats.org/drawingml/2006/main">
            <a:r>
              <a:t>Por ejemplo, en un modelo sencillo de región activa, diez miliamperios de salida requieren una décima de miliamperio de base con ganancia cien. Si la ganancia cae a cincuenta, requieren el doble. Son valores ilustrativos. El programa Voyager midió degradación en modelos como 2N2222 y 2N2907A, y encontró diferencias entre fabricantes. Esto justifica ensayar y seleccionar, no confiar solo en el nombre del transistor.</a:t>
            </a:r>
          </a:p>
          <a:p xmlns:a="http://schemas.openxmlformats.org/drawingml/2006/main">
            <a:r>
              <a:t/>
            </a:r>
          </a:p>
          <a:p xmlns:a="http://schemas.openxmlformats.org/drawingml/2006/main">
            <a:r>
              <a:t>Un bipolar también puede entregar un pulso espurio sin haber perdido ganancia permanentemente. Por eso hay que evaluar tanto el parámetro degradado como lo que el circuito hace ante un pulso.»</a:t>
            </a:r>
          </a:p>
          <a:p xmlns:a="http://schemas.openxmlformats.org/drawingml/2006/main">
            <a:r>
              <a:t/>
            </a:r>
          </a:p>
          <a:p xmlns:a="http://schemas.openxmlformats.org/drawingml/2006/main">
            <a:r>
              <a:t>FUENTES Y LOCALIZADORES</a:t>
            </a:r>
          </a:p>
          <a:p xmlns:a="http://schemas.openxmlformats.org/drawingml/2006/main">
            <a:r>
              <a:t>[S01](04_fuentes.md#s01) §VII.B, figuras 7-1/7-2; [S21](04_fuentes.md#s21); [S35](04_fuentes.md#s35), [S36](04_fuentes.md#s36). Dossier §§3.4–3.5. No explicar diagramas de bandas durante el relato principal.</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S21 — Radiation Effects on Electronics 101 Kenneth LaBel</a:t>
            </a:r>
          </a:p>
          <a:p xmlns:a="http://schemas.openxmlformats.org/drawingml/2006/main">
            <a:r>
              <a:t>https://nepp.nasa.gov/DocUploads/392333B0-7A48-4A04-A3A72B0B1DD73343/Rad_Effects_101_WebEx.pdf</a:t>
            </a:r>
          </a:p>
          <a:p xmlns:a="http://schemas.openxmlformats.org/drawingml/2006/main">
            <a:r>
              <a:t>S35 —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S36 — Hydrogen Contamination and Its Correlation with Enhanced Low-Dose-Rate Sensitivity</a:t>
            </a:r>
          </a:p>
          <a:p xmlns:a="http://schemas.openxmlformats.org/drawingml/2006/main">
            <a:r>
              <a:t>https://nepp.nasa.gov/files/25742/12_162_JPL_Adell_Hydrogen%20Contamination%20rec%201%207%2014.pdf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 transistor MOS, la compuerta controla la conducción mediante un campo eléctrico a través de un aislante. La radiación puede generar carga en ese óxido. Parte se recombina o sale, pero otra puede quedar atrapada. Esa carga también genera campo: cambia la tensión de compuerta necesaria para obtener la misma conducción. Los defectos en la interfaz aportan otros cambios, por lo que no todos los dispositivos responden igual.</a:t>
            </a:r>
          </a:p>
          <a:p xmlns:a="http://schemas.openxmlformats.org/drawingml/2006/main">
            <a:r>
              <a:t/>
            </a:r>
          </a:p>
          <a:p xmlns:a="http://schemas.openxmlformats.org/drawingml/2006/main">
            <a:r>
              <a:t>En este gráfico del programa Voyager vemos corriente frente a tensión de compuerta antes y después de irradiar. La característica NMOS se desplaza: para una misma corriente cambia la tensión de compuerta. Para el circuito eso puede significar menos margen de encendido y apagado o más consumo. El programa modificó un paso de fabricación de la familia CMOS RCA para mejorar su comportamiento. No significa que el dispositivo se hiciera inmune.</a:t>
            </a:r>
          </a:p>
          <a:p xmlns:a="http://schemas.openxmlformats.org/drawingml/2006/main">
            <a:r>
              <a:t/>
            </a:r>
          </a:p>
          <a:p xmlns:a="http://schemas.openxmlformats.org/drawingml/2006/main">
            <a:r>
              <a:t>Por otro camino, la carga generada en el semiconductor puede perturbar un nodo por un instante. Un amplificador puede entregar un pulso falso; un comparador puede cambiar su salida; una memoria puede conservar el estado equivocado después de que el pulso desapareció. No todo pulso llega a alterar un estado: importa su amplitud, duración y cuándo lo recibe el siguiente bloque. El filtrado o la comprobación de estados pueden ayudar en una aplicación, pero deben verificarse y no reparan por sí solos un dispositivo dañado.»</a:t>
            </a:r>
          </a:p>
          <a:p xmlns:a="http://schemas.openxmlformats.org/drawingml/2006/main">
            <a:r>
              <a:t/>
            </a:r>
          </a:p>
          <a:p xmlns:a="http://schemas.openxmlformats.org/drawingml/2006/main">
            <a:r>
              <a:t>FUENTES Y LOCALIZADORES</a:t>
            </a:r>
          </a:p>
          <a:p xmlns:a="http://schemas.openxmlformats.org/drawingml/2006/main">
            <a:r>
              <a:t>[S01](04_fuentes.md#s01) §VI.B y figura 6-1; [S22](04_fuentes.md#s22), [S23](04_fuentes.md#s23); [S35](04_fuentes.md#s35). Mitigaciones generales identificadas como tales.</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S22 — JPL ASIC Guide Design for Radiation Tolerance</a:t>
            </a:r>
          </a:p>
          <a:p xmlns:a="http://schemas.openxmlformats.org/drawingml/2006/main">
            <a:r>
              <a:t>https://parts.jpl.nasa.gov/asic/Sect.3.4.html</a:t>
            </a:r>
          </a:p>
          <a:p xmlns:a="http://schemas.openxmlformats.org/drawingml/2006/main">
            <a:r>
              <a:t>S23 — JPL ASIC Guide Appendix Three</a:t>
            </a:r>
          </a:p>
          <a:p xmlns:a="http://schemas.openxmlformats.org/drawingml/2006/main">
            <a:r>
              <a:t>https://parts.jpl.nasa.gov/asic/Appendix.3.html</a:t>
            </a:r>
          </a:p>
          <a:p xmlns:a="http://schemas.openxmlformats.org/drawingml/2006/main">
            <a:r>
              <a:t>S35 —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La figura completa conserva los ejes compartidos. Señalar NMOS: corriente en escala logarítmica frente a tensión de compuerta, curvas de 0 y 150 krad. No extraer un umbral numérico. El proceso RCA es una mitigación documentada; filtrado y recuperación son criterios generales.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placas y los bobinados tienen materiales aislantes. Pueden acumular carga o conducir más; según las condiciones, una descarga puede inyectar un pulso en una conexión. La pista puede estar sana y conducir ese pulso hasta otra entrada. Importan los retornos y la conexión entre partes, además de proteger cada chip.</a:t>
            </a:r>
          </a:p>
          <a:p xmlns:a="http://schemas.openxmlformats.org/drawingml/2006/main">
            <a:r>
              <a:t/>
            </a:r>
          </a:p>
          <a:p xmlns:a="http://schemas.openxmlformats.org/drawingml/2006/main">
            <a:r>
              <a:t>En un transformador debemos separar el núcleo, el bobinado y su aislamiento. También puede pasar que el transistor de mando entregue un pulso incorrecto a un magnético sano. Algo similar ocurre con un relé: si recibe una orden equivocada suficientemente larga, puede conectar una carga aunque no esté dañado.</a:t>
            </a:r>
          </a:p>
          <a:p xmlns:a="http://schemas.openxmlformats.org/drawingml/2006/main">
            <a:r>
              <a:t/>
            </a:r>
          </a:p>
          <a:p xmlns:a="http://schemas.openxmlformats.org/drawingml/2006/main">
            <a:r>
              <a:t>Esta explicación general se basa en manuales NASA. Cuando no conocemos el material o modelo de vuelo lo dejamos explícito; tampoco confundimos una soldadura fatigada con daño por radiación.»</a:t>
            </a:r>
          </a:p>
          <a:p xmlns:a="http://schemas.openxmlformats.org/drawingml/2006/main">
            <a:r>
              <a:t/>
            </a:r>
          </a:p>
          <a:p xmlns:a="http://schemas.openxmlformats.org/drawingml/2006/main">
            <a:r>
              <a:t>FUENTES Y LOCALIZADORES</a:t>
            </a:r>
          </a:p>
          <a:p xmlns:a="http://schemas.openxmlformats.org/drawingml/2006/main">
            <a:r>
              <a:t>[S25](04_fuentes.md#s25) §4.1; [S26](04_fuentes.md#s26) §10.2.6.5; [S03](04_fuentes.md#s03) p. 16; [S08](04_fuentes.md#s08) §5.G.</a:t>
            </a:r>
          </a:p>
          <a:p xmlns:a="http://schemas.openxmlformats.org/drawingml/2006/main">
            <a:r>
              <a:t>S25 — NASA HDBK 4002B Mitigating In Space Charging Effects</a:t>
            </a:r>
          </a:p>
          <a:p xmlns:a="http://schemas.openxmlformats.org/drawingml/2006/main">
            <a:r>
              <a:t>https://standards.nasa.gov/sites/default/files/standards/NASA/B/0/2022-06-07-NASA-HDBK-4002B-Approved.pdf</a:t>
            </a:r>
          </a:p>
          <a:p xmlns:a="http://schemas.openxmlformats.org/drawingml/2006/main">
            <a:r>
              <a:t>S26 — MIL HDBK 978B NASA Parts Application Handbook Volume 4</a:t>
            </a:r>
          </a:p>
          <a:p xmlns:a="http://schemas.openxmlformats.org/drawingml/2006/main">
            <a:r>
              <a:t>https://nepp.nasa.gov/files/21544/MIL-HDBK-978B_vol4.pdf</a:t>
            </a:r>
          </a:p>
          <a:p xmlns:a="http://schemas.openxmlformats.org/drawingml/2006/main">
            <a:r>
              <a:t>S03 — Voyager Backgrounder</a:t>
            </a:r>
          </a:p>
          <a:p xmlns:a="http://schemas.openxmlformats.org/drawingml/2006/main">
            <a:r>
              <a:t>https://ntrs.nasa.gov/api/citations/19810023559/downloads/19810023559.pdf</a:t>
            </a:r>
          </a:p>
          <a:p xmlns:a="http://schemas.openxmlformats.org/drawingml/2006/main">
            <a:r>
              <a:t>S08 — A Plasma Wave Investigation for the Voyager Mission</a:t>
            </a:r>
          </a:p>
          <a:p xmlns:a="http://schemas.openxmlformats.org/drawingml/2006/main">
            <a:r>
              <a:t>https://pds.nasa.gov/data/vg1-j-spice-6-spk-v2.0/vg_1501/document/pws/pwsinst.htm</a:t>
            </a:r>
          </a:p>
          <a:p xmlns:a="http://schemas.openxmlformats.org/drawingml/2006/main">
            <a:r>
              <a:t>Estas mitigaciones son criterios generales. S03 documenta relés de potencia, pero no se ha identificado el material de cada modelo de vuelo.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un detector de partículas, recoger la carga producida por radiación es la función. En un sensor óptico esa misma interacción puede parecer una luz que no llegó. Con exposición también puede cambiar la eficiencia del detector. En Voyager se documentaron daños después de Júpiter y ajustes de respuesta: recalibrar puede recuperar utilidad científica, pero no elimina los defectos. La cadena óptica también depende de emisor y receptor. Para cuarzo hay evidencia de selección mediante irradiación de muestras de barras. No atribuimos todo error de reloj al cristal: su electrónica también puede sufrir espurios.»</a:t>
            </a:r>
          </a:p>
          <a:p xmlns:a="http://schemas.openxmlformats.org/drawingml/2006/main">
            <a:r>
              <a:t/>
            </a:r>
          </a:p>
          <a:p xmlns:a="http://schemas.openxmlformats.org/drawingml/2006/main">
            <a:r>
              <a:t>FUENTES Y LOCALIZADORES</a:t>
            </a:r>
          </a:p>
          <a:p xmlns:a="http://schemas.openxmlformats.org/drawingml/2006/main">
            <a:r>
              <a:t>[S09](04_fuentes.md#s09); [S01](04_fuentes.md#s01) §§VII.I y VIII.F; [S26](04_fuentes.md#s26) §8.6.8; [S30](04_fuentes.md#s30).</a:t>
            </a:r>
          </a:p>
          <a:p xmlns:a="http://schemas.openxmlformats.org/drawingml/2006/main">
            <a:r>
              <a:t>S09 — Voyager CRS Instrument Problems</a:t>
            </a:r>
          </a:p>
          <a:p xmlns:a="http://schemas.openxmlformats.org/drawingml/2006/main">
            <a:r>
              <a:t>https://voyager.gsfc.nasa.gov/instrument_problems.html</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S26 — MIL HDBK 978B NASA Parts Application Handbook Volume 4</a:t>
            </a:r>
          </a:p>
          <a:p xmlns:a="http://schemas.openxmlformats.org/drawingml/2006/main">
            <a:r>
              <a:t>https://nepp.nasa.gov/files/21544/MIL-HDBK-978B_vol4.pdf</a:t>
            </a:r>
          </a:p>
          <a:p xmlns:a="http://schemas.openxmlformats.org/drawingml/2006/main">
            <a:r>
              <a:t>S30 — Voyager 1 and 2 Cosmic Ray Subsystem PDS</a:t>
            </a:r>
          </a:p>
          <a:p xmlns:a="http://schemas.openxmlformats.org/drawingml/2006/main">
            <a:r>
              <a:t>https://pds.nasa.gov/data/vg1-j-pls-5-summ-ele-mom-96.0sec-v1.1/vg_1501/document/crs/crsdata.htm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«Imaginemos que aparece un pulso falso en un amplificador. Si supera el umbral del comparador y el receptor lo acepta, un registro cambia y ordena activar una carga. El amplificador se recupera, pero el registro sigue dando la orden. No se rompió necesariamente ninguna pieza. Si el pulso era demasiado corto, pequeño o llegó fuera del momento de captura, esa consecuencia puede no ocurrir.</a:t>
            </a:r>
          </a:p>
          <a:p xmlns:a="http://schemas.openxmlformats.org/drawingml/2006/main">
            <a:r>
              <a:t/>
            </a:r>
          </a:p>
          <a:p xmlns:a="http://schemas.openxmlformats.org/drawingml/2006/main">
            <a:r>
              <a:t>Un filtro puede reducir ciertas perturbaciones; validar la duración puede rechazar otras; comprobar o restablecer el estado ayuda después. Pero filtrar también puede retrasar una señal legítima. Son decisiones de circuito que hay que verificar, no soluciones universales. Este ejemplo explica el mecanismo y no reconstruye una falla concreta de Voyager.»</a:t>
            </a:r>
          </a:p>
          <a:p xmlns:a="http://schemas.openxmlformats.org/drawingml/2006/main">
            <a:r>
              <a:t/>
            </a:r>
          </a:p>
          <a:p xmlns:a="http://schemas.openxmlformats.org/drawingml/2006/main">
            <a:r>
              <a:t>FUENTES Y LOCALIZADORES</a:t>
            </a:r>
          </a:p>
          <a:p xmlns:a="http://schemas.openxmlformats.org/drawingml/2006/main">
            <a:r>
              <a:t>[S35](04_fuentes.md#s35) §§2 y 4; [S22](04_fuentes.md#s22) SET. Modelo propio, dossier §5.7.</a:t>
            </a:r>
          </a:p>
          <a:p xmlns:a="http://schemas.openxmlformats.org/drawingml/2006/main">
            <a:r>
              <a:t>S35 —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S22 — JPL ASIC Guide Design for Radiation Tolerance</a:t>
            </a:r>
          </a:p>
          <a:p xmlns:a="http://schemas.openxmlformats.org/drawingml/2006/main">
            <a:r>
              <a:t>https://parts.jpl.nasa.gov/asic/Sect.3.4.html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informes de Voyager muestran ensayos de componentes, análisis de peor caso, selección, cambios de fabricación y blindaje específico. La arquitectura y el trabajo desde Tierra permitieron recuperar funciones. Cada medida trata un problema: reducir exposición no es lo mismo que tolerar una ganancia menor o corregir un estado erróneo.</a:t>
            </a:r>
          </a:p>
          <a:p xmlns:a="http://schemas.openxmlformats.org/drawingml/2006/main">
            <a:r>
              <a:t/>
            </a:r>
          </a:p>
          <a:p xmlns:a="http://schemas.openxmlformats.org/drawingml/2006/main">
            <a:r>
              <a:t>La evidencia también obliga a separar causas. Hay daño radiativo documentado en detectores tras Júpiter. En 2010 se corrigió un bit alterado, pero eso no identifica por sí solo una partícula causante. En 2024 se recuperó telemetría reubicando código tras una falla de memoria, cuya causa física no quedó resuelta entre las posibilidades publicadas. Además, apagar instrumentos para ahorrar energía no demuestra que esos instrumentos hayan sido destruidos por radiación.</a:t>
            </a:r>
          </a:p>
          <a:p xmlns:a="http://schemas.openxmlformats.org/drawingml/2006/main">
            <a:r>
              <a:t/>
            </a:r>
          </a:p>
          <a:p xmlns:a="http://schemas.openxmlformats.org/drawingml/2006/main">
            <a:r>
              <a:t>La conclusión es que la radiación puede alterar señales y parámetros. El diseño debe limitar ambas cosas y sus consecuencias. Voyager continúa produciendo ciencia con capacidades reducidas: eso muestra resistencia y recuperación del sistema, no ausencia de efectos.»</a:t>
            </a:r>
          </a:p>
          <a:p xmlns:a="http://schemas.openxmlformats.org/drawingml/2006/main">
            <a:r>
              <a:t/>
            </a:r>
          </a:p>
          <a:p xmlns:a="http://schemas.openxmlformats.org/drawingml/2006/main">
            <a:r>
              <a:t>FUENTES Y LOCALIZADORES</a:t>
            </a:r>
          </a:p>
          <a:p xmlns:a="http://schemas.openxmlformats.org/drawingml/2006/main">
            <a:r>
              <a:t>[S01](04_fuentes.md#s01), [S02](04_fuentes.md#s02), [S03](04_fuentes.md#s03), [S04](04_fuentes.md#s04), [S07](04_fuentes.md#s07), [S09](04_fuentes.md#s09), [S10](04_fuentes.md#s10), [S11](04_fuentes.md#s11), [S12](04_fuentes.md#s12), [S13](04_fuentes.md#s13), [S14](04_fuentes.md#s14), [S15](04_fuentes.md#s15), [S16](04_fuentes.md#s16). Presentar estado de instrumentos solo con fecha de corte si surge la pregunta.</a:t>
            </a:r>
          </a:p>
          <a:p xmlns:a="http://schemas.openxmlformats.org/drawingml/2006/main">
            <a:r>
              <a:t>S01 — Voyager Electronic Parts Radiation Program Volume I</a:t>
            </a:r>
          </a:p>
          <a:p xmlns:a="http://schemas.openxmlformats.org/drawingml/2006/main">
            <a:r>
              <a:t>https://ntrs.nasa.gov/api/citations/19780007219/downloads/19780007219.pdf</a:t>
            </a:r>
          </a:p>
          <a:p xmlns:a="http://schemas.openxmlformats.org/drawingml/2006/main">
            <a:r>
              <a:t>S02 — Voyager Electronic Parts Radiation Program Volume II</a:t>
            </a:r>
          </a:p>
          <a:p xmlns:a="http://schemas.openxmlformats.org/drawingml/2006/main">
            <a:r>
              <a:t>https://ntrs.nasa.gov/api/citations/19790006102/downloads/19790006102.pdf</a:t>
            </a:r>
          </a:p>
          <a:p xmlns:a="http://schemas.openxmlformats.org/drawingml/2006/main">
            <a:r>
              <a:t>S03 — Voyager Backgrounder</a:t>
            </a:r>
          </a:p>
          <a:p xmlns:a="http://schemas.openxmlformats.org/drawingml/2006/main">
            <a:r>
              <a:t>https://ntrs.nasa.gov/api/citations/19810023559/downloads/19810023559.pdf</a:t>
            </a:r>
          </a:p>
          <a:p xmlns:a="http://schemas.openxmlformats.org/drawingml/2006/main">
            <a:r>
              <a:t>S04 — Computers in Spaceflight The NASA Experience</a:t>
            </a:r>
          </a:p>
          <a:p xmlns:a="http://schemas.openxmlformats.org/drawingml/2006/main">
            <a:r>
              <a:t>https://ntrs.nasa.gov/api/citations/19880069935/downloads/19880069935_Optimized.pdf</a:t>
            </a:r>
          </a:p>
          <a:p xmlns:a="http://schemas.openxmlformats.org/drawingml/2006/main">
            <a:r>
              <a:t>S07 — Where Are Voyager 1 and 2 Now</a:t>
            </a:r>
          </a:p>
          <a:p xmlns:a="http://schemas.openxmlformats.org/drawingml/2006/main">
            <a:r>
              <a:t>https://science.nasa.gov/mission/voyager/where-are-voyager-1-and-voyager-2-now/</a:t>
            </a:r>
          </a:p>
          <a:p xmlns:a="http://schemas.openxmlformats.org/drawingml/2006/main">
            <a:r>
              <a:t>S09 — Voyager CRS Instrument Problems</a:t>
            </a:r>
          </a:p>
          <a:p xmlns:a="http://schemas.openxmlformats.org/drawingml/2006/main">
            <a:r>
              <a:t>https://voyager.gsfc.nasa.gov/instrument_problems.html</a:t>
            </a:r>
          </a:p>
          <a:p xmlns:a="http://schemas.openxmlformats.org/drawingml/2006/main">
            <a:r>
              <a:t>S10 — Voyager 2 FDS reset May 2010</a:t>
            </a:r>
          </a:p>
          <a:p xmlns:a="http://schemas.openxmlformats.org/drawingml/2006/main">
            <a:r>
              <a:t>https://voyager.gsfc.nasa.gov/Library/V2_FDS_reset.pdf</a:t>
            </a:r>
          </a:p>
          <a:p xmlns:a="http://schemas.openxmlformats.org/drawingml/2006/main">
            <a:r>
              <a:t>S11 — Engineers Pinpoint Cause of Voyager 1 Issue</a:t>
            </a:r>
          </a:p>
          <a:p xmlns:a="http://schemas.openxmlformats.org/drawingml/2006/main">
            <a:r>
              <a:t>https://science.nasa.gov/blogs/voyager/2024/04/04/engineers-pinpoint-cause-of-voyager-1-issue-are-working-on-solution/</a:t>
            </a:r>
          </a:p>
          <a:p xmlns:a="http://schemas.openxmlformats.org/drawingml/2006/main">
            <a:r>
              <a:t>S12 — Voyager 1 Resumes Sending Engineering Updates</a:t>
            </a:r>
          </a:p>
          <a:p xmlns:a="http://schemas.openxmlformats.org/drawingml/2006/main">
            <a:r>
              <a:t>https://www.jpl.nasa.gov/news/nasas-voyager-1-resumes-sending-engineering-updates-to-earth/</a:t>
            </a:r>
          </a:p>
          <a:p xmlns:a="http://schemas.openxmlformats.org/drawingml/2006/main">
            <a:r>
              <a:t>S13 — Voyager Will Do More Science With New Power Strategy</a:t>
            </a:r>
          </a:p>
          <a:p xmlns:a="http://schemas.openxmlformats.org/drawingml/2006/main">
            <a:r>
              <a:t>https://www.jpl.nasa.gov/news/nasas-voyager-will-do-more-science-with-new-power-strategy/</a:t>
            </a:r>
          </a:p>
          <a:p xmlns:a="http://schemas.openxmlformats.org/drawingml/2006/main">
            <a:r>
              <a:t>S14 — NASA Shuts Off Instrument on Voyager 1</a:t>
            </a:r>
          </a:p>
          <a:p xmlns:a="http://schemas.openxmlformats.org/drawingml/2006/main">
            <a:r>
              <a:t>https://science.nasa.gov/blogs/voyager/2026/04/17/nasa-shuts-off-instrument-on-voyager-1-to-keep-spacecraft-operating/</a:t>
            </a:r>
          </a:p>
          <a:p xmlns:a="http://schemas.openxmlformats.org/drawingml/2006/main">
            <a:r>
              <a:t>S15 — NASA Engineers Help Prolong Voyager 2 Science Mission</a:t>
            </a:r>
          </a:p>
          <a:p xmlns:a="http://schemas.openxmlformats.org/drawingml/2006/main">
            <a:r>
              <a:t>https://science.nasa.gov/blogs/voyager/2026/08/04/nasa-engineers-help-prolong-voyager-2s-science-mission/</a:t>
            </a:r>
          </a:p>
          <a:p xmlns:a="http://schemas.openxmlformats.org/drawingml/2006/main">
            <a:r>
              <a:t>S16 — NASA Turns Off 2 Voyager Science Instruments</a:t>
            </a:r>
          </a:p>
          <a:p xmlns:a="http://schemas.openxmlformats.org/drawingml/2006/main">
            <a:r>
              <a:t>https://science.nasa.gov/blogs/voyager/2025/03/05/nasa-turns-off-2-voyager-science-instruments-to-extend-mission/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dossier y citas/ contienen copias y localizadores.</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S09: Voyager CRS Instrument Problems</a:t>
            </a:r>
          </a:p>
          <a:p xmlns:a="http://schemas.openxmlformats.org/drawingml/2006/main">
            <a:r>
              <a:t>https://voyager.gsfc.nasa.gov/instrument_problems.html</a:t>
            </a:r>
          </a:p>
          <a:p xmlns:a="http://schemas.openxmlformats.org/drawingml/2006/main">
            <a:r>
              <a:t/>
            </a:r>
          </a:p>
          <a:p xmlns:a="http://schemas.openxmlformats.org/drawingml/2006/main">
            <a:r>
              <a:t>S21: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a:p xmlns:a="http://schemas.openxmlformats.org/drawingml/2006/main">
            <a:r>
              <a:t/>
            </a:r>
          </a:p>
          <a:p xmlns:a="http://schemas.openxmlformats.org/drawingml/2006/main">
            <a:r>
              <a:t>S26: MIL HDBK 978B NASA Parts Application Handbook Volume 4</a:t>
            </a:r>
          </a:p>
          <a:p xmlns:a="http://schemas.openxmlformats.org/drawingml/2006/main">
            <a:r>
              <a:t>https://nepp.nasa.gov/files/21544/MIL-HDBK-978B_vol4.pdf</a:t>
            </a:r>
          </a:p>
          <a:p xmlns:a="http://schemas.openxmlformats.org/drawingml/2006/main">
            <a:r>
              <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
            </a:r>
          </a:p>
          <a:p xmlns:a="http://schemas.openxmlformats.org/drawingml/2006/main">
            <a:r>
              <a:t>S36: Hydrogen Contamination and Its Correlation with Enhanced Low-Dose-Rate Sensitivity</a:t>
            </a:r>
          </a:p>
          <a:p xmlns:a="http://schemas.openxmlformats.org/drawingml/2006/main">
            <a:r>
              <a:t>https://nepp.nasa.gov/files/25742/12_162_JPL_Adell_Hydrogen%20Contamination%20rec%201%207%2014.pdf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figura 7-1, p. 7-3, PDF 101. Incremento de ganancia inversa frente a corriente de colector. Fluencia 5 × 10¹² electrones/cm². Importan fabricante y punto de trabajo. Ensayo del programa, no diagnóstico de una placa de vuelo.</a:t>
            </a:r>
          </a:p>
          <a:p xmlns:a="http://schemas.openxmlformats.org/drawingml/2006/main">
            <a:r>
              <a:t>S01: Voyager Electronic Parts Radiation Program Volume I</a:t>
            </a:r>
          </a:p>
          <a:p xmlns:a="http://schemas.openxmlformats.org/drawingml/2006/main">
            <a:r>
              <a:t>https://ntrs.nasa.gov/api/citations/19780007219/downloads/19780007219.pdf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lineal de S35, no Voyager. Condiciones impresas: LET 9 MeV·cm²/mg, Vcc ±15 V, V+ 5 V. Ejes: tensión de salida y tiempo en segundos. Recuperación del amplificador no garantiza recuperación de un estado capturado.</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S04 pp. 182–184 describe evolución del FDS. S01 §VI.B: 28 funciones CMOS usadas. No confundir prototipo con vuelo. La discrepancia 8198 frente a 8K palabras queda en el dossier.</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S03: Voyager Backgrounder</a:t>
            </a:r>
          </a:p>
          <a:p xmlns:a="http://schemas.openxmlformats.org/drawingml/2006/main">
            <a:r>
              <a:t>https://ntrs.nasa.gov/api/citations/19810023559/downloads/19810023559.pdf</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S05: Voyager Frequently Asked Questions</a:t>
            </a:r>
          </a:p>
          <a:p xmlns:a="http://schemas.openxmlformats.org/drawingml/2006/main">
            <a:r>
              <a:t>https://science.nasa.gov/mission/voyager/frequently-asked-questions/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S01 p. 7-53, PDF 151. Dale CDP16, CDP18, LDP16 y SDP16: cambios dentro de ±0,01% a 10¹³ electrones/cm². B11B, seis por valor 0,02 y 0,05 µF: −5 y −12 pF a 5 × 10¹² electrones/cm². Capacitancia estable no demuestra ausencia de fugas o transitorios. Discrepancia de fluencia S02 tabla A-2 documentada en el dossier.</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d2929c07434c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db4835eda748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e508600a214c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064b95cf7148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814f184af644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6fcfcfda0e4e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9CF17A-4C1D-4AFB-9E62-D4A97F5A15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8170E8-3762-41EC-A048-8F169F334B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4BF75E6-B037-4995-BEAF-8839FBEB82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8F5B95-87A6-47D4-B401-78A66D7678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354BF7-A684-4F43-A981-648FA0A386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76A0D23-2CC8-435B-ADB7-FD6FC1B8E7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5F5456-58BA-455E-814E-211561867B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2FB8AB-6DC4-4C79-8129-3954B9D2AD5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1BDBC9-C56A-4EF8-B8AA-3B6B8D1850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BDB76A-49CB-4EEA-B260-9BF072ABF5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c0416edd97446a" /><Relationship Type="http://schemas.openxmlformats.org/officeDocument/2006/relationships/slideLayout" Target="/ppt/slideLayouts/slideLayout1.xml" Id="R30cfe750d87c4ae5" /><Relationship Type="http://schemas.openxmlformats.org/officeDocument/2006/relationships/slideLayout" Target="/ppt/slideLayouts/slideLayout2.xml" Id="R3bed9537757a4c28" /><Relationship Type="http://schemas.openxmlformats.org/officeDocument/2006/relationships/slideLayout" Target="/ppt/slideLayouts/slideLayout3.xml" Id="R45bbca5980ee4147" /><Relationship Type="http://schemas.openxmlformats.org/officeDocument/2006/relationships/slideLayout" Target="/ppt/slideLayouts/slideLayout4.xml" Id="R3f4e2e9824874fea" /><Relationship Type="http://schemas.openxmlformats.org/officeDocument/2006/relationships/slideLayout" Target="/ppt/slideLayouts/slideLayout5.xml" Id="R80e0bae1ac3646ee" /><Relationship Type="http://schemas.openxmlformats.org/officeDocument/2006/relationships/slideLayout" Target="/ppt/slideLayouts/slideLayout6.xml" Id="R9f6332094dd944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cfe750d87c4ae5"/>
    <p:sldLayoutId xmlns:r="http://schemas.openxmlformats.org/officeDocument/2006/relationships" id="2147483650" r:id="R3bed9537757a4c28"/>
    <p:sldLayoutId xmlns:r="http://schemas.openxmlformats.org/officeDocument/2006/relationships" id="2147483651" r:id="R45bbca5980ee4147"/>
    <p:sldLayoutId xmlns:r="http://schemas.openxmlformats.org/officeDocument/2006/relationships" id="2147483652" r:id="R3f4e2e9824874fea"/>
    <p:sldLayoutId xmlns:r="http://schemas.openxmlformats.org/officeDocument/2006/relationships" id="2147483653" r:id="R80e0bae1ac3646ee"/>
    <p:sldLayoutId xmlns:r="http://schemas.openxmlformats.org/officeDocument/2006/relationships" id="2147483654" r:id="R9f6332094dd944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92eeda729f4fa7" /><Relationship Type="http://schemas.openxmlformats.org/officeDocument/2006/relationships/image" Target="/ppt/media/image.jpeg" Id="R2be56131890f4486" /><Relationship Type="http://schemas.openxmlformats.org/officeDocument/2006/relationships/notesSlide" Target="/ppt/notesSlides/notesSlide1.xml" Id="R92b9b02349c748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1057ae8dbf4626" /><Relationship Type="http://schemas.openxmlformats.org/officeDocument/2006/relationships/notesSlide" Target="/ppt/notesSlides/notesSlide2.xml" Id="R0b65eaa94f5c42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dfc77306bf435c" /><Relationship Type="http://schemas.openxmlformats.org/officeDocument/2006/relationships/image" Target="/ppt/media/image.png" Id="R11d6ecc9ebe544cf" /><Relationship Type="http://schemas.openxmlformats.org/officeDocument/2006/relationships/image" Target="/ppt/media/image2.jpeg" Id="Ra1afb0c5065c4739" /><Relationship Type="http://schemas.openxmlformats.org/officeDocument/2006/relationships/notesSlide" Target="/ppt/notesSlides/notesSlide3.xml" Id="R2474eabc529249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ba7099ea13748de" /><Relationship Type="http://schemas.openxmlformats.org/officeDocument/2006/relationships/notesSlide" Target="/ppt/notesSlides/notesSlide4.xml" Id="Rbfd9a3dc1b0d45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1747d82492425a" /><Relationship Type="http://schemas.openxmlformats.org/officeDocument/2006/relationships/notesSlide" Target="/ppt/notesSlides/notesSlide5.xml" Id="Rc54a60b3da4948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b3b978542046ed" /><Relationship Type="http://schemas.openxmlformats.org/officeDocument/2006/relationships/notesSlide" Target="/ppt/notesSlides/notesSlide6.xml" Id="R53ddd8c6f7304c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44cfbd9bd943cd" /><Relationship Type="http://schemas.openxmlformats.org/officeDocument/2006/relationships/image" Target="/ppt/media/image2.png" Id="R66cda9582a674e44" /><Relationship Type="http://schemas.openxmlformats.org/officeDocument/2006/relationships/notesSlide" Target="/ppt/notesSlides/notesSlide7.xml" Id="Rdc2b84eefa204d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46eeb779c8405c" /><Relationship Type="http://schemas.openxmlformats.org/officeDocument/2006/relationships/notesSlide" Target="/ppt/notesSlides/notesSlide8.xml" Id="R115e6f2040ba40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d1bfd56135a4f9d" /><Relationship Type="http://schemas.openxmlformats.org/officeDocument/2006/relationships/notesSlide" Target="/ppt/notesSlides/notesSlide9.xml" Id="Rb61c1fe0da284a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87dd35d1d64445" /><Relationship Type="http://schemas.openxmlformats.org/officeDocument/2006/relationships/notesSlide" Target="/ppt/notesSlides/notesSlide10.xml" Id="R6fd5a172ee6c41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91a41ffdf8e4e6f" /><Relationship Type="http://schemas.openxmlformats.org/officeDocument/2006/relationships/notesSlide" Target="/ppt/notesSlides/notesSlide11.xml" Id="Rca7b5dc44ed342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32ac6a8f6074803" /><Relationship Type="http://schemas.openxmlformats.org/officeDocument/2006/relationships/notesSlide" Target="/ppt/notesSlides/notesSlide12.xml" Id="Rbedec59dd76040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821ee39859140dd" /><Relationship Type="http://schemas.openxmlformats.org/officeDocument/2006/relationships/image" Target="/ppt/media/image3.png" Id="R512436a5b40b4d0c" /><Relationship Type="http://schemas.openxmlformats.org/officeDocument/2006/relationships/notesSlide" Target="/ppt/notesSlides/notesSlide13.xml" Id="R249c536b1ef74f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fcbda49e0a34b40" /><Relationship Type="http://schemas.openxmlformats.org/officeDocument/2006/relationships/image" Target="/ppt/media/image4.png" Id="Rfcf00d8880e54112" /><Relationship Type="http://schemas.openxmlformats.org/officeDocument/2006/relationships/notesSlide" Target="/ppt/notesSlides/notesSlide14.xml" Id="R3ee6df3387ee47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cadf610bfa441e" /><Relationship Type="http://schemas.openxmlformats.org/officeDocument/2006/relationships/notesSlide" Target="/ppt/notesSlides/notesSlide15.xml" Id="R0c3327ed9e6947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fb93ed257ee4957" /><Relationship Type="http://schemas.openxmlformats.org/officeDocument/2006/relationships/notesSlide" Target="/ppt/notesSlides/notesSlide16.xml" Id="R9a6303016d1c400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B5D831-78BB-4C14-9B8A-2642054EE616}"/>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Radiación y electrónica de Voyager</a:t>
            </a:r>
          </a:p>
        </p:txBody>
      </p:sp>
      <p:sp>
        <p:nvSpPr>
          <p:cNvPr id="2" name="">
            <a:extLst xmlns:a="http://schemas.openxmlformats.org/drawingml/2006/main">
              <a:ext uri="{FF2B5EF4-FFF2-40B4-BE49-F238E27FC236}">
                <a16:creationId xmlns:a16="http://schemas.microsoft.com/office/drawing/2014/main" id="{78D967BA-8639-4A8A-BA9D-E3C2FA651563}"/>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NASA/JPL · corte: 14/10/2026</a:t>
            </a:r>
          </a:p>
        </p:txBody>
      </p:sp>
      <p:sp>
        <p:nvSpPr>
          <p:cNvPr id="3" name="">
            <a:extLst xmlns:a="http://schemas.openxmlformats.org/drawingml/2006/main">
              <a:ext uri="{FF2B5EF4-FFF2-40B4-BE49-F238E27FC236}">
                <a16:creationId xmlns:a16="http://schemas.microsoft.com/office/drawing/2014/main" id="{3171F8CD-0E3D-40C7-8B40-99D09C74BA0D}"/>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01</a:t>
            </a:r>
          </a:p>
        </p:txBody>
      </p:sp>
      <p:sp>
        <p:nvSpPr>
          <p:cNvPr id="4" name="">
            <a:extLst xmlns:a="http://schemas.openxmlformats.org/drawingml/2006/main">
              <a:ext uri="{FF2B5EF4-FFF2-40B4-BE49-F238E27FC236}">
                <a16:creationId xmlns:a16="http://schemas.microsoft.com/office/drawing/2014/main" id="{08D762A5-9B89-4B65-85A6-10A27C06C73D}"/>
              </a:ext>
            </a:extLst>
          </p:cNvPr>
          <p:cNvSpPr>
            <a:spLocks xmlns:a="http://schemas.openxmlformats.org/drawingml/2006/main" noGrp="1"/>
          </p:cNvSpPr>
          <p:nvPr/>
        </p:nvSpPr>
        <p:spPr>
          <a:xfrm xmlns:a="http://schemas.openxmlformats.org/drawingml/2006/main">
            <a:off x="533400" y="1381125"/>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65A9"/>
                </a:solidFill>
              </a:defRPr>
            </a:defPPr>
          </a:lstStyle>
          <a:p xmlns:a="http://schemas.openxmlformats.org/drawingml/2006/main">
            <a:pPr>
              <a:defRPr sz="2700" b="1">
                <a:solidFill>
                  <a:srgbClr val="1565A9"/>
                </a:solidFill>
              </a:defRPr>
            </a:pPr>
            <a:r>
              <a:rPr sz="2700" b="1">
                <a:solidFill>
                  <a:srgbClr val="1565A9"/>
                </a:solidFill>
              </a:rPr>
              <a:t>Ignacio Cavicchioli</a:t>
            </a:r>
          </a:p>
        </p:txBody>
      </p:sp>
      <p:sp>
        <p:nvSpPr>
          <p:cNvPr id="5" name="">
            <a:extLst xmlns:a="http://schemas.openxmlformats.org/drawingml/2006/main">
              <a:ext uri="{FF2B5EF4-FFF2-40B4-BE49-F238E27FC236}">
                <a16:creationId xmlns:a16="http://schemas.microsoft.com/office/drawing/2014/main" id="{FC4F2D5D-356F-4E91-BAFC-5C33719475D8}"/>
              </a:ext>
            </a:extLst>
          </p:cNvPr>
          <p:cNvSpPr>
            <a:spLocks xmlns:a="http://schemas.openxmlformats.org/drawingml/2006/main" noGrp="1"/>
          </p:cNvSpPr>
          <p:nvPr/>
        </p:nvSpPr>
        <p:spPr>
          <a:xfrm xmlns:a="http://schemas.openxmlformats.org/drawingml/2006/main">
            <a:off x="533400" y="2238375"/>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62A3D"/>
                </a:solidFill>
              </a:defRPr>
            </a:defPPr>
          </a:lstStyle>
          <a:p xmlns:a="http://schemas.openxmlformats.org/drawingml/2006/main">
            <a:pPr>
              <a:defRPr sz="2700" b="0">
                <a:solidFill>
                  <a:srgbClr val="162A3D"/>
                </a:solidFill>
              </a:defRPr>
            </a:pPr>
            <a:r>
              <a:rPr sz="2700" b="0">
                <a:solidFill>
                  <a:srgbClr val="162A3D"/>
                </a:solidFill>
              </a:rPr>
              <a:t>49 años de operación</a:t>
            </a:r>
          </a:p>
        </p:txBody>
      </p:sp>
      <p:sp>
        <p:nvSpPr>
          <p:cNvPr id="6" name="">
            <a:extLst xmlns:a="http://schemas.openxmlformats.org/drawingml/2006/main">
              <a:ext uri="{FF2B5EF4-FFF2-40B4-BE49-F238E27FC236}">
                <a16:creationId xmlns:a16="http://schemas.microsoft.com/office/drawing/2014/main" id="{F17568D3-CCE3-4FF5-B836-C40A173686FE}"/>
              </a:ext>
            </a:extLst>
          </p:cNvPr>
          <p:cNvSpPr>
            <a:spLocks xmlns:a="http://schemas.openxmlformats.org/drawingml/2006/main" noGrp="1"/>
          </p:cNvSpPr>
          <p:nvPr/>
        </p:nvSpPr>
        <p:spPr>
          <a:xfrm xmlns:a="http://schemas.openxmlformats.org/drawingml/2006/main">
            <a:off x="533400" y="319087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Objetivo: explicar efectos y mitigaciones</a:t>
            </a:r>
          </a:p>
        </p:txBody>
      </p:sp>
      <p:pic>
        <p:nvPicPr>
          <p:cNvPr id="7" name="">
            <a:extLst xmlns:a="http://schemas.openxmlformats.org/drawingml/2006/main">
              <a:ext uri="{FF2B5EF4-FFF2-40B4-BE49-F238E27FC236}">
                <a16:creationId xmlns:a16="http://schemas.microsoft.com/office/drawing/2014/main" id="{976D9880-1785-4B0E-91EE-B88EB6596656}"/>
              </a:ext>
            </a:extLst>
          </p:cNvPr>
          <p:cNvPicPr>
            <a:picLocks xmlns:a="http://schemas.openxmlformats.org/drawingml/2006/main" noChangeAspect="1"/>
          </p:cNvPicPr>
          <p:nvPr/>
        </p:nvPicPr>
        <p:blipFill>
          <a:blip xmlns:r="http://schemas.openxmlformats.org/officeDocument/2006/relationships" xmlns:a="http://schemas.openxmlformats.org/drawingml/2006/main" r:embed="R2be56131890f4486"/>
          <a:stretch xmlns:a="http://schemas.openxmlformats.org/drawingml/2006/main"/>
        </p:blipFill>
        <p:spPr>
          <a:xfrm xmlns:a="http://schemas.openxmlformats.org/drawingml/2006/main">
            <a:off x="6858000" y="1730871"/>
            <a:ext cx="4762500" cy="3586758"/>
          </a:xfrm>
          <a:prstGeom xmlns:a="http://schemas.openxmlformats.org/drawingml/2006/main" prst="rect">
            <a:avLst/>
          </a:prstGeom>
        </p:spPr>
      </p:pic>
    </p:spTree>
    <p:extLst>
      <p:ext uri="{BB962C8B-B14F-4D97-AF65-F5344CB8AC3E}">
        <p14:creationId xmlns:p14="http://schemas.microsoft.com/office/powerpoint/2010/main" val="17422840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F93F0D2-E35B-4737-AD7C-206D63F5B4DC}"/>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Qué radiación encuentra un circuito</a:t>
            </a:r>
          </a:p>
        </p:txBody>
      </p:sp>
      <p:sp>
        <p:nvSpPr>
          <p:cNvPr id="2" name="">
            <a:extLst xmlns:a="http://schemas.openxmlformats.org/drawingml/2006/main">
              <a:ext uri="{FF2B5EF4-FFF2-40B4-BE49-F238E27FC236}">
                <a16:creationId xmlns:a16="http://schemas.microsoft.com/office/drawing/2014/main" id="{F78536CF-E764-4BDD-ACDF-1AD9727D17E1}"/>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NASA/NEPP · S17, S21</a:t>
            </a:r>
          </a:p>
        </p:txBody>
      </p:sp>
      <p:sp>
        <p:nvSpPr>
          <p:cNvPr id="3" name="">
            <a:extLst xmlns:a="http://schemas.openxmlformats.org/drawingml/2006/main">
              <a:ext uri="{FF2B5EF4-FFF2-40B4-BE49-F238E27FC236}">
                <a16:creationId xmlns:a16="http://schemas.microsoft.com/office/drawing/2014/main" id="{043D5B23-B4DA-436A-945E-253130BB0281}"/>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02</a:t>
            </a:r>
          </a:p>
        </p:txBody>
      </p:sp>
      <p:sp>
        <p:nvSpPr>
          <p:cNvPr id="4" name="">
            <a:extLst xmlns:a="http://schemas.openxmlformats.org/drawingml/2006/main">
              <a:ext uri="{FF2B5EF4-FFF2-40B4-BE49-F238E27FC236}">
                <a16:creationId xmlns:a16="http://schemas.microsoft.com/office/drawing/2014/main" id="{EC1D1EBF-2C58-4D43-8539-5CFE3BCC1555}"/>
              </a:ext>
            </a:extLst>
          </p:cNvPr>
          <p:cNvSpPr>
            <a:spLocks xmlns:a="http://schemas.openxmlformats.org/drawingml/2006/main" noGrp="1"/>
          </p:cNvSpPr>
          <p:nvPr/>
        </p:nvSpPr>
        <p:spPr>
          <a:xfrm xmlns:a="http://schemas.openxmlformats.org/drawingml/2006/main">
            <a:off x="609600" y="1714500"/>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12209379-B925-4693-9C59-4302AD915EFF}"/>
              </a:ext>
            </a:extLst>
          </p:cNvPr>
          <p:cNvSpPr>
            <a:spLocks xmlns:a="http://schemas.openxmlformats.org/drawingml/2006/main" noGrp="1"/>
          </p:cNvSpPr>
          <p:nvPr/>
        </p:nvSpPr>
        <p:spPr>
          <a:xfrm xmlns:a="http://schemas.openxmlformats.org/drawingml/2006/main">
            <a:off x="742950" y="1885950"/>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Galáctica</a:t>
            </a:r>
          </a:p>
        </p:txBody>
      </p:sp>
      <p:sp>
        <p:nvSpPr>
          <p:cNvPr id="6" name="">
            <a:extLst xmlns:a="http://schemas.openxmlformats.org/drawingml/2006/main">
              <a:ext uri="{FF2B5EF4-FFF2-40B4-BE49-F238E27FC236}">
                <a16:creationId xmlns:a16="http://schemas.microsoft.com/office/drawing/2014/main" id="{ABA4B95E-4B07-456C-B655-E82FA2C3EA0F}"/>
              </a:ext>
            </a:extLst>
          </p:cNvPr>
          <p:cNvSpPr>
            <a:spLocks xmlns:a="http://schemas.openxmlformats.org/drawingml/2006/main" noGrp="1"/>
          </p:cNvSpPr>
          <p:nvPr/>
        </p:nvSpPr>
        <p:spPr>
          <a:xfrm xmlns:a="http://schemas.openxmlformats.org/drawingml/2006/main">
            <a:off x="3638550" y="1962150"/>
            <a:ext cx="6572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C274CD-A9F7-45DE-B013-9ED4CD8B15FF}"/>
              </a:ext>
            </a:extLst>
          </p:cNvPr>
          <p:cNvSpPr>
            <a:spLocks xmlns:a="http://schemas.openxmlformats.org/drawingml/2006/main" noGrp="1"/>
          </p:cNvSpPr>
          <p:nvPr/>
        </p:nvSpPr>
        <p:spPr>
          <a:xfrm xmlns:a="http://schemas.openxmlformats.org/drawingml/2006/main">
            <a:off x="4371975" y="1714500"/>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8" name="">
            <a:extLst xmlns:a="http://schemas.openxmlformats.org/drawingml/2006/main">
              <a:ext uri="{FF2B5EF4-FFF2-40B4-BE49-F238E27FC236}">
                <a16:creationId xmlns:a16="http://schemas.microsoft.com/office/drawing/2014/main" id="{31AC6A33-74EB-4855-9F99-32899D35BB6C}"/>
              </a:ext>
            </a:extLst>
          </p:cNvPr>
          <p:cNvSpPr>
            <a:spLocks xmlns:a="http://schemas.openxmlformats.org/drawingml/2006/main" noGrp="1"/>
          </p:cNvSpPr>
          <p:nvPr/>
        </p:nvSpPr>
        <p:spPr>
          <a:xfrm xmlns:a="http://schemas.openxmlformats.org/drawingml/2006/main">
            <a:off x="4505325" y="1885950"/>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Solar</a:t>
            </a:r>
          </a:p>
        </p:txBody>
      </p:sp>
      <p:sp>
        <p:nvSpPr>
          <p:cNvPr id="9" name="">
            <a:extLst xmlns:a="http://schemas.openxmlformats.org/drawingml/2006/main">
              <a:ext uri="{FF2B5EF4-FFF2-40B4-BE49-F238E27FC236}">
                <a16:creationId xmlns:a16="http://schemas.microsoft.com/office/drawing/2014/main" id="{D23D9C18-0408-42F5-8981-64CB6E1C3EF0}"/>
              </a:ext>
            </a:extLst>
          </p:cNvPr>
          <p:cNvSpPr>
            <a:spLocks xmlns:a="http://schemas.openxmlformats.org/drawingml/2006/main" noGrp="1"/>
          </p:cNvSpPr>
          <p:nvPr/>
        </p:nvSpPr>
        <p:spPr>
          <a:xfrm xmlns:a="http://schemas.openxmlformats.org/drawingml/2006/main">
            <a:off x="7400925" y="1962150"/>
            <a:ext cx="6572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EFF8946-5B05-45F7-9103-0668BE17EF1F}"/>
              </a:ext>
            </a:extLst>
          </p:cNvPr>
          <p:cNvSpPr>
            <a:spLocks xmlns:a="http://schemas.openxmlformats.org/drawingml/2006/main" noGrp="1"/>
          </p:cNvSpPr>
          <p:nvPr/>
        </p:nvSpPr>
        <p:spPr>
          <a:xfrm xmlns:a="http://schemas.openxmlformats.org/drawingml/2006/main">
            <a:off x="8134350" y="1714500"/>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1" name="">
            <a:extLst xmlns:a="http://schemas.openxmlformats.org/drawingml/2006/main">
              <a:ext uri="{FF2B5EF4-FFF2-40B4-BE49-F238E27FC236}">
                <a16:creationId xmlns:a16="http://schemas.microsoft.com/office/drawing/2014/main" id="{3783927C-B23E-4C50-8026-EBBA3109ED19}"/>
              </a:ext>
            </a:extLst>
          </p:cNvPr>
          <p:cNvSpPr>
            <a:spLocks xmlns:a="http://schemas.openxmlformats.org/drawingml/2006/main" noGrp="1"/>
          </p:cNvSpPr>
          <p:nvPr/>
        </p:nvSpPr>
        <p:spPr>
          <a:xfrm xmlns:a="http://schemas.openxmlformats.org/drawingml/2006/main">
            <a:off x="8267700" y="1885950"/>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Atrapada</a:t>
            </a:r>
          </a:p>
        </p:txBody>
      </p:sp>
      <p:sp>
        <p:nvSpPr>
          <p:cNvPr id="12" name="">
            <a:extLst xmlns:a="http://schemas.openxmlformats.org/drawingml/2006/main">
              <a:ext uri="{FF2B5EF4-FFF2-40B4-BE49-F238E27FC236}">
                <a16:creationId xmlns:a16="http://schemas.microsoft.com/office/drawing/2014/main" id="{6B55F41D-238B-44FA-A41A-AB7462B505DB}"/>
              </a:ext>
            </a:extLst>
          </p:cNvPr>
          <p:cNvSpPr>
            <a:spLocks xmlns:a="http://schemas.openxmlformats.org/drawingml/2006/main" noGrp="1"/>
          </p:cNvSpPr>
          <p:nvPr/>
        </p:nvSpPr>
        <p:spPr>
          <a:xfrm xmlns:a="http://schemas.openxmlformats.org/drawingml/2006/main">
            <a:off x="609600" y="27146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Fuera del sistema solar</a:t>
            </a:r>
          </a:p>
        </p:txBody>
      </p:sp>
      <p:sp>
        <p:nvSpPr>
          <p:cNvPr id="13" name="">
            <a:extLst xmlns:a="http://schemas.openxmlformats.org/drawingml/2006/main">
              <a:ext uri="{FF2B5EF4-FFF2-40B4-BE49-F238E27FC236}">
                <a16:creationId xmlns:a16="http://schemas.microsoft.com/office/drawing/2014/main" id="{D96E35C2-3E4D-40F1-B81B-0E4ED1781B59}"/>
              </a:ext>
            </a:extLst>
          </p:cNvPr>
          <p:cNvSpPr>
            <a:spLocks xmlns:a="http://schemas.openxmlformats.org/drawingml/2006/main" noGrp="1"/>
          </p:cNvSpPr>
          <p:nvPr/>
        </p:nvSpPr>
        <p:spPr>
          <a:xfrm xmlns:a="http://schemas.openxmlformats.org/drawingml/2006/main">
            <a:off x="4371975" y="27146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Eventos del Sol</a:t>
            </a:r>
          </a:p>
        </p:txBody>
      </p:sp>
      <p:sp>
        <p:nvSpPr>
          <p:cNvPr id="14" name="">
            <a:extLst xmlns:a="http://schemas.openxmlformats.org/drawingml/2006/main">
              <a:ext uri="{FF2B5EF4-FFF2-40B4-BE49-F238E27FC236}">
                <a16:creationId xmlns:a16="http://schemas.microsoft.com/office/drawing/2014/main" id="{E3F25DB3-7C5C-4C79-B2BE-8B9194FA7393}"/>
              </a:ext>
            </a:extLst>
          </p:cNvPr>
          <p:cNvSpPr>
            <a:spLocks xmlns:a="http://schemas.openxmlformats.org/drawingml/2006/main" noGrp="1"/>
          </p:cNvSpPr>
          <p:nvPr/>
        </p:nvSpPr>
        <p:spPr>
          <a:xfrm xmlns:a="http://schemas.openxmlformats.org/drawingml/2006/main">
            <a:off x="8134350" y="2714625"/>
            <a:ext cx="328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Cinturones planetarios</a:t>
            </a:r>
          </a:p>
        </p:txBody>
      </p:sp>
      <p:sp>
        <p:nvSpPr>
          <p:cNvPr id="15" name="">
            <a:extLst xmlns:a="http://schemas.openxmlformats.org/drawingml/2006/main">
              <a:ext uri="{FF2B5EF4-FFF2-40B4-BE49-F238E27FC236}">
                <a16:creationId xmlns:a16="http://schemas.microsoft.com/office/drawing/2014/main" id="{9C9EED5C-CE4E-4D9B-B415-4A17623B8394}"/>
              </a:ext>
            </a:extLst>
          </p:cNvPr>
          <p:cNvSpPr>
            <a:spLocks xmlns:a="http://schemas.openxmlformats.org/drawingml/2006/main" noGrp="1"/>
          </p:cNvSpPr>
          <p:nvPr/>
        </p:nvSpPr>
        <p:spPr>
          <a:xfrm xmlns:a="http://schemas.openxmlformats.org/drawingml/2006/main">
            <a:off x="609600" y="4238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Energía por partícula; flujo por área y tiempo</a:t>
            </a:r>
          </a:p>
        </p:txBody>
      </p:sp>
      <p:sp>
        <p:nvSpPr>
          <p:cNvPr id="16" name="">
            <a:extLst xmlns:a="http://schemas.openxmlformats.org/drawingml/2006/main">
              <a:ext uri="{FF2B5EF4-FFF2-40B4-BE49-F238E27FC236}">
                <a16:creationId xmlns:a16="http://schemas.microsoft.com/office/drawing/2014/main" id="{2BF03890-916F-42F9-A949-1FA4AB39BA6A}"/>
              </a:ext>
            </a:extLst>
          </p:cNvPr>
          <p:cNvSpPr>
            <a:spLocks xmlns:a="http://schemas.openxmlformats.org/drawingml/2006/main" noGrp="1"/>
          </p:cNvSpPr>
          <p:nvPr/>
        </p:nvSpPr>
        <p:spPr>
          <a:xfrm xmlns:a="http://schemas.openxmlformats.org/drawingml/2006/main">
            <a:off x="609600" y="5095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65A9"/>
                </a:solidFill>
              </a:defRPr>
            </a:defPPr>
          </a:lstStyle>
          <a:p xmlns:a="http://schemas.openxmlformats.org/drawingml/2006/main">
            <a:pPr>
              <a:defRPr sz="2700" b="1">
                <a:solidFill>
                  <a:srgbClr val="1565A9"/>
                </a:solidFill>
              </a:defRPr>
            </a:pPr>
            <a:r>
              <a:rPr sz="2700" b="1">
                <a:solidFill>
                  <a:srgbClr val="1565A9"/>
                </a:solidFill>
              </a:rPr>
              <a:t>Dosis: energía depositada por masa</a:t>
            </a:r>
          </a:p>
        </p:txBody>
      </p:sp>
    </p:spTree>
    <p:extLst>
      <p:ext uri="{BB962C8B-B14F-4D97-AF65-F5344CB8AC3E}">
        <p14:creationId xmlns:p14="http://schemas.microsoft.com/office/powerpoint/2010/main" val="790281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F4422C-B27B-4E8F-9346-5F9B028674B4}"/>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Los ambientes de Voyager</a:t>
            </a:r>
          </a:p>
        </p:txBody>
      </p:sp>
      <p:sp>
        <p:nvSpPr>
          <p:cNvPr id="2" name="">
            <a:extLst xmlns:a="http://schemas.openxmlformats.org/drawingml/2006/main">
              <a:ext uri="{FF2B5EF4-FFF2-40B4-BE49-F238E27FC236}">
                <a16:creationId xmlns:a16="http://schemas.microsoft.com/office/drawing/2014/main" id="{2201C866-B41B-4F67-BCDC-B2E00A3CD65C}"/>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NASA/JPL · S01, S06, S29, S37</a:t>
            </a:r>
          </a:p>
        </p:txBody>
      </p:sp>
      <p:sp>
        <p:nvSpPr>
          <p:cNvPr id="3" name="">
            <a:extLst xmlns:a="http://schemas.openxmlformats.org/drawingml/2006/main">
              <a:ext uri="{FF2B5EF4-FFF2-40B4-BE49-F238E27FC236}">
                <a16:creationId xmlns:a16="http://schemas.microsoft.com/office/drawing/2014/main" id="{62CFE7E7-A1ED-4E9B-ABB4-AA1F9249A600}"/>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03</a:t>
            </a:r>
          </a:p>
        </p:txBody>
      </p:sp>
      <p:pic>
        <p:nvPicPr>
          <p:cNvPr id="4" name="">
            <a:extLst xmlns:a="http://schemas.openxmlformats.org/drawingml/2006/main">
              <a:ext uri="{FF2B5EF4-FFF2-40B4-BE49-F238E27FC236}">
                <a16:creationId xmlns:a16="http://schemas.microsoft.com/office/drawing/2014/main" id="{423AB1AC-A188-4248-88DB-3C5446A1CA0D}"/>
              </a:ext>
            </a:extLst>
          </p:cNvPr>
          <p:cNvPicPr>
            <a:picLocks xmlns:a="http://schemas.openxmlformats.org/drawingml/2006/main" noChangeAspect="1"/>
          </p:cNvPicPr>
          <p:nvPr/>
        </p:nvPicPr>
        <p:blipFill>
          <a:blip xmlns:r="http://schemas.openxmlformats.org/officeDocument/2006/relationships" xmlns:a="http://schemas.openxmlformats.org/drawingml/2006/main" r:embed="R11d6ecc9ebe544cf"/>
          <a:stretch xmlns:a="http://schemas.openxmlformats.org/drawingml/2006/main"/>
        </p:blipFill>
        <p:spPr>
          <a:xfrm xmlns:a="http://schemas.openxmlformats.org/drawingml/2006/main">
            <a:off x="815125" y="1285875"/>
            <a:ext cx="4675299" cy="3905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557C513-347B-487D-892F-3F8128B5EFB2}"/>
              </a:ext>
            </a:extLst>
          </p:cNvPr>
          <p:cNvPicPr>
            <a:picLocks xmlns:a="http://schemas.openxmlformats.org/drawingml/2006/main" noChangeAspect="1"/>
          </p:cNvPicPr>
          <p:nvPr/>
        </p:nvPicPr>
        <p:blipFill>
          <a:blip xmlns:r="http://schemas.openxmlformats.org/officeDocument/2006/relationships" xmlns:a="http://schemas.openxmlformats.org/drawingml/2006/main" r:embed="Ra1afb0c5065c4739"/>
          <a:stretch xmlns:a="http://schemas.openxmlformats.org/drawingml/2006/main"/>
        </p:blipFill>
        <p:spPr>
          <a:xfrm xmlns:a="http://schemas.openxmlformats.org/drawingml/2006/main">
            <a:off x="6238875" y="1390892"/>
            <a:ext cx="5429250" cy="321896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1647A3-C04F-4D3F-B945-04FC945F370C}"/>
              </a:ext>
            </a:extLst>
          </p:cNvPr>
          <p:cNvSpPr>
            <a:spLocks xmlns:a="http://schemas.openxmlformats.org/drawingml/2006/main" noGrp="1"/>
          </p:cNvSpPr>
          <p:nvPr/>
        </p:nvSpPr>
        <p:spPr>
          <a:xfrm xmlns:a="http://schemas.openxmlformats.org/drawingml/2006/main">
            <a:off x="609600" y="52863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Encuentros: 1979–1989</a:t>
            </a:r>
          </a:p>
        </p:txBody>
      </p:sp>
      <p:sp>
        <p:nvSpPr>
          <p:cNvPr id="7" name="">
            <a:extLst xmlns:a="http://schemas.openxmlformats.org/drawingml/2006/main">
              <a:ext uri="{FF2B5EF4-FFF2-40B4-BE49-F238E27FC236}">
                <a16:creationId xmlns:a16="http://schemas.microsoft.com/office/drawing/2014/main" id="{2AC1A5C5-DC09-45FD-99A6-835F35A36964}"/>
              </a:ext>
            </a:extLst>
          </p:cNvPr>
          <p:cNvSpPr>
            <a:spLocks xmlns:a="http://schemas.openxmlformats.org/drawingml/2006/main" noGrp="1"/>
          </p:cNvSpPr>
          <p:nvPr/>
        </p:nvSpPr>
        <p:spPr>
          <a:xfrm xmlns:a="http://schemas.openxmlformats.org/drawingml/2006/main">
            <a:off x="6286500" y="481012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Heliopausa: 2012 y 2018</a:t>
            </a:r>
          </a:p>
        </p:txBody>
      </p:sp>
      <p:sp>
        <p:nvSpPr>
          <p:cNvPr id="8" name="">
            <a:extLst xmlns:a="http://schemas.openxmlformats.org/drawingml/2006/main">
              <a:ext uri="{FF2B5EF4-FFF2-40B4-BE49-F238E27FC236}">
                <a16:creationId xmlns:a16="http://schemas.microsoft.com/office/drawing/2014/main" id="{1D01CC0D-E0A3-4A77-8524-A134AAE0AD94}"/>
              </a:ext>
            </a:extLst>
          </p:cNvPr>
          <p:cNvSpPr>
            <a:spLocks xmlns:a="http://schemas.openxmlformats.org/drawingml/2006/main" noGrp="1"/>
          </p:cNvSpPr>
          <p:nvPr/>
        </p:nvSpPr>
        <p:spPr>
          <a:xfrm xmlns:a="http://schemas.openxmlformats.org/drawingml/2006/main">
            <a:off x="6286500" y="5381625"/>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65A9"/>
                </a:solidFill>
              </a:defRPr>
            </a:defPPr>
          </a:lstStyle>
          <a:p xmlns:a="http://schemas.openxmlformats.org/drawingml/2006/main">
            <a:pPr>
              <a:defRPr sz="2400" b="1">
                <a:solidFill>
                  <a:srgbClr val="1565A9"/>
                </a:solidFill>
              </a:defRPr>
            </a:pPr>
            <a:r>
              <a:rPr sz="2400" b="1">
                <a:solidFill>
                  <a:srgbClr val="1565A9"/>
                </a:solidFill>
              </a:rPr>
              <a:t>Exposición externa ≠ dosis del chip</a:t>
            </a:r>
          </a:p>
        </p:txBody>
      </p:sp>
    </p:spTree>
    <p:extLst>
      <p:ext uri="{BB962C8B-B14F-4D97-AF65-F5344CB8AC3E}">
        <p14:creationId xmlns:p14="http://schemas.microsoft.com/office/powerpoint/2010/main" val="626143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920D239-2E50-4429-9C16-BACFCD2B9435}"/>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Componentes y resultados posibles</a:t>
            </a:r>
          </a:p>
        </p:txBody>
      </p:sp>
      <p:sp>
        <p:nvSpPr>
          <p:cNvPr id="2" name="">
            <a:extLst xmlns:a="http://schemas.openxmlformats.org/drawingml/2006/main">
              <a:ext uri="{FF2B5EF4-FFF2-40B4-BE49-F238E27FC236}">
                <a16:creationId xmlns:a16="http://schemas.microsoft.com/office/drawing/2014/main" id="{692EB3D1-1E95-46B1-AFC7-36044B18E441}"/>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Mapa conceptual · NASA/JPL S01–S04</a:t>
            </a:r>
          </a:p>
        </p:txBody>
      </p:sp>
      <p:sp>
        <p:nvSpPr>
          <p:cNvPr id="3" name="">
            <a:extLst xmlns:a="http://schemas.openxmlformats.org/drawingml/2006/main">
              <a:ext uri="{FF2B5EF4-FFF2-40B4-BE49-F238E27FC236}">
                <a16:creationId xmlns:a16="http://schemas.microsoft.com/office/drawing/2014/main" id="{1612E988-E1E9-40F2-A0F7-07091E2D379A}"/>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04</a:t>
            </a:r>
          </a:p>
        </p:txBody>
      </p:sp>
      <p:sp>
        <p:nvSpPr>
          <p:cNvPr id="4" name="">
            <a:extLst xmlns:a="http://schemas.openxmlformats.org/drawingml/2006/main">
              <a:ext uri="{FF2B5EF4-FFF2-40B4-BE49-F238E27FC236}">
                <a16:creationId xmlns:a16="http://schemas.microsoft.com/office/drawing/2014/main" id="{D32AB13D-1AE3-48D1-B089-6BB241FC6564}"/>
              </a:ext>
            </a:extLst>
          </p:cNvPr>
          <p:cNvSpPr>
            <a:spLocks xmlns:a="http://schemas.openxmlformats.org/drawingml/2006/main" noGrp="1"/>
          </p:cNvSpPr>
          <p:nvPr/>
        </p:nvSpPr>
        <p:spPr>
          <a:xfrm xmlns:a="http://schemas.openxmlformats.org/drawingml/2006/main">
            <a:off x="609600" y="1381125"/>
            <a:ext cx="5286375"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F6A8809D-149D-4F4B-B45D-5C46029917B9}"/>
              </a:ext>
            </a:extLst>
          </p:cNvPr>
          <p:cNvSpPr>
            <a:spLocks xmlns:a="http://schemas.openxmlformats.org/drawingml/2006/main" noGrp="1"/>
          </p:cNvSpPr>
          <p:nvPr/>
        </p:nvSpPr>
        <p:spPr>
          <a:xfrm xmlns:a="http://schemas.openxmlformats.org/drawingml/2006/main">
            <a:off x="742950" y="1552575"/>
            <a:ext cx="5019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Resistencias / capacitores</a:t>
            </a:r>
          </a:p>
        </p:txBody>
      </p:sp>
      <p:sp>
        <p:nvSpPr>
          <p:cNvPr id="6" name="">
            <a:extLst xmlns:a="http://schemas.openxmlformats.org/drawingml/2006/main">
              <a:ext uri="{FF2B5EF4-FFF2-40B4-BE49-F238E27FC236}">
                <a16:creationId xmlns:a16="http://schemas.microsoft.com/office/drawing/2014/main" id="{310D5E2C-4B94-4622-A261-EF0A84476098}"/>
              </a:ext>
            </a:extLst>
          </p:cNvPr>
          <p:cNvSpPr>
            <a:spLocks xmlns:a="http://schemas.openxmlformats.org/drawingml/2006/main" noGrp="1"/>
          </p:cNvSpPr>
          <p:nvPr/>
        </p:nvSpPr>
        <p:spPr>
          <a:xfrm xmlns:a="http://schemas.openxmlformats.org/drawingml/2006/main">
            <a:off x="6229350" y="1381125"/>
            <a:ext cx="5286375"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7" name="">
            <a:extLst xmlns:a="http://schemas.openxmlformats.org/drawingml/2006/main">
              <a:ext uri="{FF2B5EF4-FFF2-40B4-BE49-F238E27FC236}">
                <a16:creationId xmlns:a16="http://schemas.microsoft.com/office/drawing/2014/main" id="{B2B26693-16F6-499B-B01A-43E9DA5CA1BE}"/>
              </a:ext>
            </a:extLst>
          </p:cNvPr>
          <p:cNvSpPr>
            <a:spLocks xmlns:a="http://schemas.openxmlformats.org/drawingml/2006/main" noGrp="1"/>
          </p:cNvSpPr>
          <p:nvPr/>
        </p:nvSpPr>
        <p:spPr>
          <a:xfrm xmlns:a="http://schemas.openxmlformats.org/drawingml/2006/main">
            <a:off x="6362700" y="1552575"/>
            <a:ext cx="5019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Diodos / transistores</a:t>
            </a:r>
          </a:p>
        </p:txBody>
      </p:sp>
      <p:sp>
        <p:nvSpPr>
          <p:cNvPr id="8" name="">
            <a:extLst xmlns:a="http://schemas.openxmlformats.org/drawingml/2006/main">
              <a:ext uri="{FF2B5EF4-FFF2-40B4-BE49-F238E27FC236}">
                <a16:creationId xmlns:a16="http://schemas.microsoft.com/office/drawing/2014/main" id="{AE8FF69F-9457-48E4-B46D-EA6C3716EF1E}"/>
              </a:ext>
            </a:extLst>
          </p:cNvPr>
          <p:cNvSpPr>
            <a:spLocks xmlns:a="http://schemas.openxmlformats.org/drawingml/2006/main" noGrp="1"/>
          </p:cNvSpPr>
          <p:nvPr/>
        </p:nvSpPr>
        <p:spPr>
          <a:xfrm xmlns:a="http://schemas.openxmlformats.org/drawingml/2006/main">
            <a:off x="609600" y="2619375"/>
            <a:ext cx="5286375"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9" name="">
            <a:extLst xmlns:a="http://schemas.openxmlformats.org/drawingml/2006/main">
              <a:ext uri="{FF2B5EF4-FFF2-40B4-BE49-F238E27FC236}">
                <a16:creationId xmlns:a16="http://schemas.microsoft.com/office/drawing/2014/main" id="{3F1A6ED4-1AF0-4E3B-82F8-86588059DDB1}"/>
              </a:ext>
            </a:extLst>
          </p:cNvPr>
          <p:cNvSpPr>
            <a:spLocks xmlns:a="http://schemas.openxmlformats.org/drawingml/2006/main" noGrp="1"/>
          </p:cNvSpPr>
          <p:nvPr/>
        </p:nvSpPr>
        <p:spPr>
          <a:xfrm xmlns:a="http://schemas.openxmlformats.org/drawingml/2006/main">
            <a:off x="742950" y="2790825"/>
            <a:ext cx="5019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Analógico / lógica</a:t>
            </a:r>
          </a:p>
        </p:txBody>
      </p:sp>
      <p:sp>
        <p:nvSpPr>
          <p:cNvPr id="10" name="">
            <a:extLst xmlns:a="http://schemas.openxmlformats.org/drawingml/2006/main">
              <a:ext uri="{FF2B5EF4-FFF2-40B4-BE49-F238E27FC236}">
                <a16:creationId xmlns:a16="http://schemas.microsoft.com/office/drawing/2014/main" id="{0FE423B6-89F6-49B6-8F25-67C4C79B77B7}"/>
              </a:ext>
            </a:extLst>
          </p:cNvPr>
          <p:cNvSpPr>
            <a:spLocks xmlns:a="http://schemas.openxmlformats.org/drawingml/2006/main" noGrp="1"/>
          </p:cNvSpPr>
          <p:nvPr/>
        </p:nvSpPr>
        <p:spPr>
          <a:xfrm xmlns:a="http://schemas.openxmlformats.org/drawingml/2006/main">
            <a:off x="6229350" y="2619375"/>
            <a:ext cx="5286375"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1" name="">
            <a:extLst xmlns:a="http://schemas.openxmlformats.org/drawingml/2006/main">
              <a:ext uri="{FF2B5EF4-FFF2-40B4-BE49-F238E27FC236}">
                <a16:creationId xmlns:a16="http://schemas.microsoft.com/office/drawing/2014/main" id="{E7A8ADAD-08D9-4C5D-8211-84949225F5B0}"/>
              </a:ext>
            </a:extLst>
          </p:cNvPr>
          <p:cNvSpPr>
            <a:spLocks xmlns:a="http://schemas.openxmlformats.org/drawingml/2006/main" noGrp="1"/>
          </p:cNvSpPr>
          <p:nvPr/>
        </p:nvSpPr>
        <p:spPr>
          <a:xfrm xmlns:a="http://schemas.openxmlformats.org/drawingml/2006/main">
            <a:off x="6362700" y="2790825"/>
            <a:ext cx="5019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Magnéticos / relés</a:t>
            </a:r>
          </a:p>
        </p:txBody>
      </p:sp>
      <p:sp>
        <p:nvSpPr>
          <p:cNvPr id="12" name="">
            <a:extLst xmlns:a="http://schemas.openxmlformats.org/drawingml/2006/main">
              <a:ext uri="{FF2B5EF4-FFF2-40B4-BE49-F238E27FC236}">
                <a16:creationId xmlns:a16="http://schemas.microsoft.com/office/drawing/2014/main" id="{7CC24F88-D4ED-4D63-A792-1D65F67F38D4}"/>
              </a:ext>
            </a:extLst>
          </p:cNvPr>
          <p:cNvSpPr>
            <a:spLocks xmlns:a="http://schemas.openxmlformats.org/drawingml/2006/main" noGrp="1"/>
          </p:cNvSpPr>
          <p:nvPr/>
        </p:nvSpPr>
        <p:spPr>
          <a:xfrm xmlns:a="http://schemas.openxmlformats.org/drawingml/2006/main">
            <a:off x="609600" y="3857625"/>
            <a:ext cx="5286375"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3" name="">
            <a:extLst xmlns:a="http://schemas.openxmlformats.org/drawingml/2006/main">
              <a:ext uri="{FF2B5EF4-FFF2-40B4-BE49-F238E27FC236}">
                <a16:creationId xmlns:a16="http://schemas.microsoft.com/office/drawing/2014/main" id="{7B132137-2ABC-493F-848F-134B6EAA0591}"/>
              </a:ext>
            </a:extLst>
          </p:cNvPr>
          <p:cNvSpPr>
            <a:spLocks xmlns:a="http://schemas.openxmlformats.org/drawingml/2006/main" noGrp="1"/>
          </p:cNvSpPr>
          <p:nvPr/>
        </p:nvSpPr>
        <p:spPr>
          <a:xfrm xmlns:a="http://schemas.openxmlformats.org/drawingml/2006/main">
            <a:off x="742950" y="4029075"/>
            <a:ext cx="5019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Placas / conexiones</a:t>
            </a:r>
          </a:p>
        </p:txBody>
      </p:sp>
      <p:sp>
        <p:nvSpPr>
          <p:cNvPr id="14" name="">
            <a:extLst xmlns:a="http://schemas.openxmlformats.org/drawingml/2006/main">
              <a:ext uri="{FF2B5EF4-FFF2-40B4-BE49-F238E27FC236}">
                <a16:creationId xmlns:a16="http://schemas.microsoft.com/office/drawing/2014/main" id="{308CA2C6-4978-4491-A36B-F92008F6BF0D}"/>
              </a:ext>
            </a:extLst>
          </p:cNvPr>
          <p:cNvSpPr>
            <a:spLocks xmlns:a="http://schemas.openxmlformats.org/drawingml/2006/main" noGrp="1"/>
          </p:cNvSpPr>
          <p:nvPr/>
        </p:nvSpPr>
        <p:spPr>
          <a:xfrm xmlns:a="http://schemas.openxmlformats.org/drawingml/2006/main">
            <a:off x="6229350" y="3857625"/>
            <a:ext cx="5286375"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5" name="">
            <a:extLst xmlns:a="http://schemas.openxmlformats.org/drawingml/2006/main">
              <a:ext uri="{FF2B5EF4-FFF2-40B4-BE49-F238E27FC236}">
                <a16:creationId xmlns:a16="http://schemas.microsoft.com/office/drawing/2014/main" id="{4EF989A8-DEBB-42A6-AA5F-B3E23C88DFEA}"/>
              </a:ext>
            </a:extLst>
          </p:cNvPr>
          <p:cNvSpPr>
            <a:spLocks xmlns:a="http://schemas.openxmlformats.org/drawingml/2006/main" noGrp="1"/>
          </p:cNvSpPr>
          <p:nvPr/>
        </p:nvSpPr>
        <p:spPr>
          <a:xfrm xmlns:a="http://schemas.openxmlformats.org/drawingml/2006/main">
            <a:off x="6362700" y="4029075"/>
            <a:ext cx="5019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Detectores / cuarzo</a:t>
            </a:r>
          </a:p>
        </p:txBody>
      </p:sp>
      <p:sp>
        <p:nvSpPr>
          <p:cNvPr id="16" name="">
            <a:extLst xmlns:a="http://schemas.openxmlformats.org/drawingml/2006/main">
              <a:ext uri="{FF2B5EF4-FFF2-40B4-BE49-F238E27FC236}">
                <a16:creationId xmlns:a16="http://schemas.microsoft.com/office/drawing/2014/main" id="{D49AAD11-0BCF-4CA3-AFA8-DF88CA2D2C1C}"/>
              </a:ext>
            </a:extLst>
          </p:cNvPr>
          <p:cNvSpPr>
            <a:spLocks xmlns:a="http://schemas.openxmlformats.org/drawingml/2006/main" noGrp="1"/>
          </p:cNvSpPr>
          <p:nvPr/>
        </p:nvSpPr>
        <p:spPr>
          <a:xfrm xmlns:a="http://schemas.openxmlformats.org/drawingml/2006/main">
            <a:off x="609600" y="5429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65A9"/>
                </a:solidFill>
              </a:defRPr>
            </a:defPPr>
          </a:lstStyle>
          <a:p xmlns:a="http://schemas.openxmlformats.org/drawingml/2006/main">
            <a:pPr>
              <a:defRPr sz="2700" b="1">
                <a:solidFill>
                  <a:srgbClr val="1565A9"/>
                </a:solidFill>
              </a:defRPr>
            </a:pPr>
            <a:r>
              <a:rPr sz="2700" b="1">
                <a:solidFill>
                  <a:srgbClr val="1565A9"/>
                </a:solidFill>
              </a:rPr>
              <a:t>Pulso     Estado alterado     Degradación</a:t>
            </a:r>
          </a:p>
        </p:txBody>
      </p:sp>
    </p:spTree>
    <p:extLst>
      <p:ext uri="{BB962C8B-B14F-4D97-AF65-F5344CB8AC3E}">
        <p14:creationId xmlns:p14="http://schemas.microsoft.com/office/powerpoint/2010/main" val="10583038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FD559E8-1DD9-40E1-8967-3614A99034F2}"/>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Resistencias y capacitores</a:t>
            </a:r>
          </a:p>
        </p:txBody>
      </p:sp>
      <p:sp>
        <p:nvSpPr>
          <p:cNvPr id="2" name="">
            <a:extLst xmlns:a="http://schemas.openxmlformats.org/drawingml/2006/main">
              <a:ext uri="{FF2B5EF4-FFF2-40B4-BE49-F238E27FC236}">
                <a16:creationId xmlns:a16="http://schemas.microsoft.com/office/drawing/2014/main" id="{69068E9C-2FCB-455D-BAEC-A1845CE485B3}"/>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PWS y ensayos Voyager · S08, S01</a:t>
            </a:r>
          </a:p>
        </p:txBody>
      </p:sp>
      <p:sp>
        <p:nvSpPr>
          <p:cNvPr id="3" name="">
            <a:extLst xmlns:a="http://schemas.openxmlformats.org/drawingml/2006/main">
              <a:ext uri="{FF2B5EF4-FFF2-40B4-BE49-F238E27FC236}">
                <a16:creationId xmlns:a16="http://schemas.microsoft.com/office/drawing/2014/main" id="{78F558F9-B8C0-47BD-8362-B07BCE77C675}"/>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05</a:t>
            </a:r>
          </a:p>
        </p:txBody>
      </p:sp>
      <p:sp>
        <p:nvSpPr>
          <p:cNvPr id="4" name="">
            <a:extLst xmlns:a="http://schemas.openxmlformats.org/drawingml/2006/main">
              <a:ext uri="{FF2B5EF4-FFF2-40B4-BE49-F238E27FC236}">
                <a16:creationId xmlns:a16="http://schemas.microsoft.com/office/drawing/2014/main" id="{E3D64A90-7C14-4F67-BE19-7DB3BDF15BFF}"/>
              </a:ext>
            </a:extLst>
          </p:cNvPr>
          <p:cNvSpPr>
            <a:spLocks xmlns:a="http://schemas.openxmlformats.org/drawingml/2006/main" noGrp="1"/>
          </p:cNvSpPr>
          <p:nvPr/>
        </p:nvSpPr>
        <p:spPr>
          <a:xfrm xmlns:a="http://schemas.openxmlformats.org/drawingml/2006/main">
            <a:off x="609600" y="1571625"/>
            <a:ext cx="30480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4B59FCCE-74B1-49C3-B30D-7FE5CFE68BCE}"/>
              </a:ext>
            </a:extLst>
          </p:cNvPr>
          <p:cNvSpPr>
            <a:spLocks xmlns:a="http://schemas.openxmlformats.org/drawingml/2006/main" noGrp="1"/>
          </p:cNvSpPr>
          <p:nvPr/>
        </p:nvSpPr>
        <p:spPr>
          <a:xfrm xmlns:a="http://schemas.openxmlformats.org/drawingml/2006/main">
            <a:off x="742950" y="1743075"/>
            <a:ext cx="2781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Antena PWS</a:t>
            </a:r>
          </a:p>
        </p:txBody>
      </p:sp>
      <p:sp>
        <p:nvSpPr>
          <p:cNvPr id="6" name="">
            <a:extLst xmlns:a="http://schemas.openxmlformats.org/drawingml/2006/main">
              <a:ext uri="{FF2B5EF4-FFF2-40B4-BE49-F238E27FC236}">
                <a16:creationId xmlns:a16="http://schemas.microsoft.com/office/drawing/2014/main" id="{B65B56E1-6D52-4C3A-B118-DC46FC65DF18}"/>
              </a:ext>
            </a:extLst>
          </p:cNvPr>
          <p:cNvSpPr>
            <a:spLocks xmlns:a="http://schemas.openxmlformats.org/drawingml/2006/main" noGrp="1"/>
          </p:cNvSpPr>
          <p:nvPr/>
        </p:nvSpPr>
        <p:spPr>
          <a:xfrm xmlns:a="http://schemas.openxmlformats.org/drawingml/2006/main">
            <a:off x="3857625" y="1819275"/>
            <a:ext cx="6191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306446C-A126-4B21-8BCD-D272E633C9E1}"/>
              </a:ext>
            </a:extLst>
          </p:cNvPr>
          <p:cNvSpPr>
            <a:spLocks xmlns:a="http://schemas.openxmlformats.org/drawingml/2006/main" noGrp="1"/>
          </p:cNvSpPr>
          <p:nvPr/>
        </p:nvSpPr>
        <p:spPr>
          <a:xfrm xmlns:a="http://schemas.openxmlformats.org/drawingml/2006/main">
            <a:off x="4667250" y="1571625"/>
            <a:ext cx="30480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8" name="">
            <a:extLst xmlns:a="http://schemas.openxmlformats.org/drawingml/2006/main">
              <a:ext uri="{FF2B5EF4-FFF2-40B4-BE49-F238E27FC236}">
                <a16:creationId xmlns:a16="http://schemas.microsoft.com/office/drawing/2014/main" id="{946F750D-9C19-4323-B42F-33099A0592F4}"/>
              </a:ext>
            </a:extLst>
          </p:cNvPr>
          <p:cNvSpPr>
            <a:spLocks xmlns:a="http://schemas.openxmlformats.org/drawingml/2006/main" noGrp="1"/>
          </p:cNvSpPr>
          <p:nvPr/>
        </p:nvSpPr>
        <p:spPr>
          <a:xfrm xmlns:a="http://schemas.openxmlformats.org/drawingml/2006/main">
            <a:off x="4800600" y="1743075"/>
            <a:ext cx="2781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20 MΩ a masa</a:t>
            </a:r>
          </a:p>
        </p:txBody>
      </p:sp>
      <p:sp>
        <p:nvSpPr>
          <p:cNvPr id="9" name="">
            <a:extLst xmlns:a="http://schemas.openxmlformats.org/drawingml/2006/main">
              <a:ext uri="{FF2B5EF4-FFF2-40B4-BE49-F238E27FC236}">
                <a16:creationId xmlns:a16="http://schemas.microsoft.com/office/drawing/2014/main" id="{4F76F2A7-8FA8-4F38-B323-E93B3B2850DC}"/>
              </a:ext>
            </a:extLst>
          </p:cNvPr>
          <p:cNvSpPr>
            <a:spLocks xmlns:a="http://schemas.openxmlformats.org/drawingml/2006/main" noGrp="1"/>
          </p:cNvSpPr>
          <p:nvPr/>
        </p:nvSpPr>
        <p:spPr>
          <a:xfrm xmlns:a="http://schemas.openxmlformats.org/drawingml/2006/main">
            <a:off x="619125" y="276225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1565A9"/>
                </a:solidFill>
              </a:defRPr>
            </a:defPPr>
          </a:lstStyle>
          <a:p xmlns:a="http://schemas.openxmlformats.org/drawingml/2006/main">
            <a:pPr>
              <a:defRPr sz="3000" b="1">
                <a:solidFill>
                  <a:srgbClr val="1565A9"/>
                </a:solidFill>
              </a:defRPr>
            </a:pPr>
            <a:r>
              <a:rPr sz="3000" b="1">
                <a:solidFill>
                  <a:srgbClr val="1565A9"/>
                </a:solidFill>
              </a:rPr>
              <a:t>4 µA × 20 MΩ = 80 V</a:t>
            </a:r>
          </a:p>
        </p:txBody>
      </p:sp>
      <p:sp>
        <p:nvSpPr>
          <p:cNvPr id="10" name="">
            <a:extLst xmlns:a="http://schemas.openxmlformats.org/drawingml/2006/main">
              <a:ext uri="{FF2B5EF4-FFF2-40B4-BE49-F238E27FC236}">
                <a16:creationId xmlns:a16="http://schemas.microsoft.com/office/drawing/2014/main" id="{EE28AB95-F24B-4188-B764-B77EA373F1B3}"/>
              </a:ext>
            </a:extLst>
          </p:cNvPr>
          <p:cNvSpPr>
            <a:spLocks xmlns:a="http://schemas.openxmlformats.org/drawingml/2006/main" noGrp="1"/>
          </p:cNvSpPr>
          <p:nvPr/>
        </p:nvSpPr>
        <p:spPr>
          <a:xfrm xmlns:a="http://schemas.openxmlformats.org/drawingml/2006/main">
            <a:off x="8572500" y="1762125"/>
            <a:ext cx="0" cy="762000"/>
          </a:xfrm>
          <a:prstGeom xmlns:a="http://schemas.openxmlformats.org/drawingml/2006/main" prst="line">
            <a:avLst/>
          </a:prstGeom>
          <a:ln xmlns:a="http://schemas.openxmlformats.org/drawingml/2006/main" w="28575">
            <a:solidFill>
              <a:srgbClr val="1565A9"/>
            </a:solidFill>
          </a:ln>
        </p:spPr>
      </p:sp>
      <p:sp>
        <p:nvSpPr>
          <p:cNvPr id="11" name="">
            <a:extLst xmlns:a="http://schemas.openxmlformats.org/drawingml/2006/main">
              <a:ext uri="{FF2B5EF4-FFF2-40B4-BE49-F238E27FC236}">
                <a16:creationId xmlns:a16="http://schemas.microsoft.com/office/drawing/2014/main" id="{DAD290F5-1B79-4E70-BA91-C8AA6FA0EC98}"/>
              </a:ext>
            </a:extLst>
          </p:cNvPr>
          <p:cNvSpPr>
            <a:spLocks xmlns:a="http://schemas.openxmlformats.org/drawingml/2006/main" noGrp="1"/>
          </p:cNvSpPr>
          <p:nvPr/>
        </p:nvSpPr>
        <p:spPr>
          <a:xfrm xmlns:a="http://schemas.openxmlformats.org/drawingml/2006/main">
            <a:off x="8096250" y="2524125"/>
            <a:ext cx="952500" cy="0"/>
          </a:xfrm>
          <a:prstGeom xmlns:a="http://schemas.openxmlformats.org/drawingml/2006/main" prst="line">
            <a:avLst/>
          </a:prstGeom>
          <a:ln xmlns:a="http://schemas.openxmlformats.org/drawingml/2006/main" w="28575">
            <a:solidFill>
              <a:srgbClr val="1565A9"/>
            </a:solidFill>
          </a:ln>
        </p:spPr>
      </p:sp>
      <p:sp>
        <p:nvSpPr>
          <p:cNvPr id="12" name="">
            <a:extLst xmlns:a="http://schemas.openxmlformats.org/drawingml/2006/main">
              <a:ext uri="{FF2B5EF4-FFF2-40B4-BE49-F238E27FC236}">
                <a16:creationId xmlns:a16="http://schemas.microsoft.com/office/drawing/2014/main" id="{B7F97A91-EAFF-49A4-A8B9-13905D63D132}"/>
              </a:ext>
            </a:extLst>
          </p:cNvPr>
          <p:cNvSpPr>
            <a:spLocks xmlns:a="http://schemas.openxmlformats.org/drawingml/2006/main" noGrp="1"/>
          </p:cNvSpPr>
          <p:nvPr/>
        </p:nvSpPr>
        <p:spPr>
          <a:xfrm xmlns:a="http://schemas.openxmlformats.org/drawingml/2006/main">
            <a:off x="8096250" y="2762250"/>
            <a:ext cx="952500" cy="0"/>
          </a:xfrm>
          <a:prstGeom xmlns:a="http://schemas.openxmlformats.org/drawingml/2006/main" prst="line">
            <a:avLst/>
          </a:prstGeom>
          <a:ln xmlns:a="http://schemas.openxmlformats.org/drawingml/2006/main" w="28575">
            <a:solidFill>
              <a:srgbClr val="1565A9"/>
            </a:solidFill>
          </a:ln>
        </p:spPr>
      </p:sp>
      <p:sp>
        <p:nvSpPr>
          <p:cNvPr id="13" name="">
            <a:extLst xmlns:a="http://schemas.openxmlformats.org/drawingml/2006/main">
              <a:ext uri="{FF2B5EF4-FFF2-40B4-BE49-F238E27FC236}">
                <a16:creationId xmlns:a16="http://schemas.microsoft.com/office/drawing/2014/main" id="{175471B7-51BA-4356-8183-8752EE9BE3EE}"/>
              </a:ext>
            </a:extLst>
          </p:cNvPr>
          <p:cNvSpPr>
            <a:spLocks xmlns:a="http://schemas.openxmlformats.org/drawingml/2006/main" noGrp="1"/>
          </p:cNvSpPr>
          <p:nvPr/>
        </p:nvSpPr>
        <p:spPr>
          <a:xfrm xmlns:a="http://schemas.openxmlformats.org/drawingml/2006/main">
            <a:off x="8572500" y="2762250"/>
            <a:ext cx="0" cy="714375"/>
          </a:xfrm>
          <a:prstGeom xmlns:a="http://schemas.openxmlformats.org/drawingml/2006/main" prst="line">
            <a:avLst/>
          </a:prstGeom>
          <a:ln xmlns:a="http://schemas.openxmlformats.org/drawingml/2006/main" w="28575">
            <a:solidFill>
              <a:srgbClr val="1565A9"/>
            </a:solidFill>
          </a:ln>
        </p:spPr>
      </p:sp>
      <p:sp>
        <p:nvSpPr>
          <p:cNvPr id="14" name="">
            <a:extLst xmlns:a="http://schemas.openxmlformats.org/drawingml/2006/main">
              <a:ext uri="{FF2B5EF4-FFF2-40B4-BE49-F238E27FC236}">
                <a16:creationId xmlns:a16="http://schemas.microsoft.com/office/drawing/2014/main" id="{1DA4C83E-184C-4E53-9234-57D97EFE74EC}"/>
              </a:ext>
            </a:extLst>
          </p:cNvPr>
          <p:cNvSpPr>
            <a:spLocks xmlns:a="http://schemas.openxmlformats.org/drawingml/2006/main" noGrp="1"/>
          </p:cNvSpPr>
          <p:nvPr/>
        </p:nvSpPr>
        <p:spPr>
          <a:xfrm xmlns:a="http://schemas.openxmlformats.org/drawingml/2006/main">
            <a:off x="8572500" y="1762125"/>
            <a:ext cx="1905000" cy="0"/>
          </a:xfrm>
          <a:prstGeom xmlns:a="http://schemas.openxmlformats.org/drawingml/2006/main" prst="line">
            <a:avLst/>
          </a:prstGeom>
          <a:ln xmlns:a="http://schemas.openxmlformats.org/drawingml/2006/main" w="28575">
            <a:solidFill>
              <a:srgbClr val="1565A9"/>
            </a:solidFill>
          </a:ln>
        </p:spPr>
      </p:sp>
      <p:sp>
        <p:nvSpPr>
          <p:cNvPr id="15" name="">
            <a:extLst xmlns:a="http://schemas.openxmlformats.org/drawingml/2006/main">
              <a:ext uri="{FF2B5EF4-FFF2-40B4-BE49-F238E27FC236}">
                <a16:creationId xmlns:a16="http://schemas.microsoft.com/office/drawing/2014/main" id="{988ED305-6019-46F5-932A-32EC90DCDB47}"/>
              </a:ext>
            </a:extLst>
          </p:cNvPr>
          <p:cNvSpPr>
            <a:spLocks xmlns:a="http://schemas.openxmlformats.org/drawingml/2006/main" noGrp="1"/>
          </p:cNvSpPr>
          <p:nvPr/>
        </p:nvSpPr>
        <p:spPr>
          <a:xfrm xmlns:a="http://schemas.openxmlformats.org/drawingml/2006/main">
            <a:off x="10477500" y="1762125"/>
            <a:ext cx="0" cy="476250"/>
          </a:xfrm>
          <a:prstGeom xmlns:a="http://schemas.openxmlformats.org/drawingml/2006/main" prst="line">
            <a:avLst/>
          </a:prstGeom>
          <a:ln xmlns:a="http://schemas.openxmlformats.org/drawingml/2006/main" w="28575">
            <a:solidFill>
              <a:srgbClr val="1565A9"/>
            </a:solidFill>
          </a:ln>
        </p:spPr>
      </p:sp>
      <p:sp>
        <p:nvSpPr>
          <p:cNvPr id="16" name="">
            <a:extLst xmlns:a="http://schemas.openxmlformats.org/drawingml/2006/main">
              <a:ext uri="{FF2B5EF4-FFF2-40B4-BE49-F238E27FC236}">
                <a16:creationId xmlns:a16="http://schemas.microsoft.com/office/drawing/2014/main" id="{868C36E8-FA57-4CF9-B49D-A416FE36ECD6}"/>
              </a:ext>
            </a:extLst>
          </p:cNvPr>
          <p:cNvSpPr>
            <a:spLocks xmlns:a="http://schemas.openxmlformats.org/drawingml/2006/main" noGrp="1"/>
          </p:cNvSpPr>
          <p:nvPr/>
        </p:nvSpPr>
        <p:spPr>
          <a:xfrm xmlns:a="http://schemas.openxmlformats.org/drawingml/2006/main">
            <a:off x="10287000" y="2238375"/>
            <a:ext cx="3810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565A9"/>
            </a:solidFill>
          </a:ln>
        </p:spPr>
      </p:sp>
      <p:sp>
        <p:nvSpPr>
          <p:cNvPr id="17" name="">
            <a:extLst xmlns:a="http://schemas.openxmlformats.org/drawingml/2006/main">
              <a:ext uri="{FF2B5EF4-FFF2-40B4-BE49-F238E27FC236}">
                <a16:creationId xmlns:a16="http://schemas.microsoft.com/office/drawing/2014/main" id="{4E1EC4A9-6D92-4D0C-98D9-32F0674CEF4D}"/>
              </a:ext>
            </a:extLst>
          </p:cNvPr>
          <p:cNvSpPr>
            <a:spLocks xmlns:a="http://schemas.openxmlformats.org/drawingml/2006/main" noGrp="1"/>
          </p:cNvSpPr>
          <p:nvPr/>
        </p:nvSpPr>
        <p:spPr>
          <a:xfrm xmlns:a="http://schemas.openxmlformats.org/drawingml/2006/main">
            <a:off x="10477500" y="3000375"/>
            <a:ext cx="0" cy="476250"/>
          </a:xfrm>
          <a:prstGeom xmlns:a="http://schemas.openxmlformats.org/drawingml/2006/main" prst="line">
            <a:avLst/>
          </a:prstGeom>
          <a:ln xmlns:a="http://schemas.openxmlformats.org/drawingml/2006/main" w="28575">
            <a:solidFill>
              <a:srgbClr val="1565A9"/>
            </a:solidFill>
          </a:ln>
        </p:spPr>
      </p:sp>
      <p:sp>
        <p:nvSpPr>
          <p:cNvPr id="18" name="">
            <a:extLst xmlns:a="http://schemas.openxmlformats.org/drawingml/2006/main">
              <a:ext uri="{FF2B5EF4-FFF2-40B4-BE49-F238E27FC236}">
                <a16:creationId xmlns:a16="http://schemas.microsoft.com/office/drawing/2014/main" id="{8CE0823B-D7B8-48ED-9788-ABE1366177D8}"/>
              </a:ext>
            </a:extLst>
          </p:cNvPr>
          <p:cNvSpPr>
            <a:spLocks xmlns:a="http://schemas.openxmlformats.org/drawingml/2006/main" noGrp="1"/>
          </p:cNvSpPr>
          <p:nvPr/>
        </p:nvSpPr>
        <p:spPr>
          <a:xfrm xmlns:a="http://schemas.openxmlformats.org/drawingml/2006/main">
            <a:off x="8572500" y="3476625"/>
            <a:ext cx="1905000" cy="0"/>
          </a:xfrm>
          <a:prstGeom xmlns:a="http://schemas.openxmlformats.org/drawingml/2006/main" prst="line">
            <a:avLst/>
          </a:prstGeom>
          <a:ln xmlns:a="http://schemas.openxmlformats.org/drawingml/2006/main" w="28575">
            <a:solidFill>
              <a:srgbClr val="1565A9"/>
            </a:solidFill>
          </a:ln>
        </p:spPr>
      </p:sp>
      <p:sp>
        <p:nvSpPr>
          <p:cNvPr id="19" name="">
            <a:extLst xmlns:a="http://schemas.openxmlformats.org/drawingml/2006/main">
              <a:ext uri="{FF2B5EF4-FFF2-40B4-BE49-F238E27FC236}">
                <a16:creationId xmlns:a16="http://schemas.microsoft.com/office/drawing/2014/main" id="{3D6863CF-98A2-4443-A5BD-E0087E8A5C60}"/>
              </a:ext>
            </a:extLst>
          </p:cNvPr>
          <p:cNvSpPr>
            <a:spLocks xmlns:a="http://schemas.openxmlformats.org/drawingml/2006/main" noGrp="1"/>
          </p:cNvSpPr>
          <p:nvPr/>
        </p:nvSpPr>
        <p:spPr>
          <a:xfrm xmlns:a="http://schemas.openxmlformats.org/drawingml/2006/main">
            <a:off x="7953375" y="3048000"/>
            <a:ext cx="619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C</a:t>
            </a:r>
          </a:p>
        </p:txBody>
      </p:sp>
      <p:sp>
        <p:nvSpPr>
          <p:cNvPr id="20" name="">
            <a:extLst xmlns:a="http://schemas.openxmlformats.org/drawingml/2006/main">
              <a:ext uri="{FF2B5EF4-FFF2-40B4-BE49-F238E27FC236}">
                <a16:creationId xmlns:a16="http://schemas.microsoft.com/office/drawing/2014/main" id="{7D0D023B-AE6E-4252-995C-9E11BA5A3AC5}"/>
              </a:ext>
            </a:extLst>
          </p:cNvPr>
          <p:cNvSpPr>
            <a:spLocks xmlns:a="http://schemas.openxmlformats.org/drawingml/2006/main" noGrp="1"/>
          </p:cNvSpPr>
          <p:nvPr/>
        </p:nvSpPr>
        <p:spPr>
          <a:xfrm xmlns:a="http://schemas.openxmlformats.org/drawingml/2006/main">
            <a:off x="9858375" y="3714750"/>
            <a:ext cx="161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Fuga</a:t>
            </a:r>
          </a:p>
        </p:txBody>
      </p:sp>
      <p:sp>
        <p:nvSpPr>
          <p:cNvPr id="21" name="">
            <a:extLst xmlns:a="http://schemas.openxmlformats.org/drawingml/2006/main">
              <a:ext uri="{FF2B5EF4-FFF2-40B4-BE49-F238E27FC236}">
                <a16:creationId xmlns:a16="http://schemas.microsoft.com/office/drawing/2014/main" id="{344F3375-492D-48C9-B705-1616D160FDBA}"/>
              </a:ext>
            </a:extLst>
          </p:cNvPr>
          <p:cNvSpPr>
            <a:spLocks xmlns:a="http://schemas.openxmlformats.org/drawingml/2006/main" noGrp="1"/>
          </p:cNvSpPr>
          <p:nvPr/>
        </p:nvSpPr>
        <p:spPr>
          <a:xfrm xmlns:a="http://schemas.openxmlformats.org/drawingml/2006/main">
            <a:off x="609600" y="44767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62A3D"/>
                </a:solidFill>
              </a:defRPr>
            </a:defPPr>
          </a:lstStyle>
          <a:p xmlns:a="http://schemas.openxmlformats.org/drawingml/2006/main">
            <a:pPr>
              <a:defRPr sz="2700" b="0">
                <a:solidFill>
                  <a:srgbClr val="162A3D"/>
                </a:solidFill>
              </a:defRPr>
            </a:pPr>
            <a:r>
              <a:rPr sz="2700" b="0">
                <a:solidFill>
                  <a:srgbClr val="162A3D"/>
                </a:solidFill>
              </a:rPr>
              <a:t>La fuga altera carga y tiempos</a:t>
            </a:r>
          </a:p>
        </p:txBody>
      </p:sp>
      <p:sp>
        <p:nvSpPr>
          <p:cNvPr id="22" name="">
            <a:extLst xmlns:a="http://schemas.openxmlformats.org/drawingml/2006/main">
              <a:ext uri="{FF2B5EF4-FFF2-40B4-BE49-F238E27FC236}">
                <a16:creationId xmlns:a16="http://schemas.microsoft.com/office/drawing/2014/main" id="{56A5C3C6-10C6-43E5-A34A-4AB16A75E42D}"/>
              </a:ext>
            </a:extLst>
          </p:cNvPr>
          <p:cNvSpPr>
            <a:spLocks xmlns:a="http://schemas.openxmlformats.org/drawingml/2006/main" noGrp="1"/>
          </p:cNvSpPr>
          <p:nvPr/>
        </p:nvSpPr>
        <p:spPr>
          <a:xfrm xmlns:a="http://schemas.openxmlformats.org/drawingml/2006/main">
            <a:off x="609600" y="5286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Mitigación: aislamiento, selección y margen</a:t>
            </a:r>
          </a:p>
        </p:txBody>
      </p:sp>
    </p:spTree>
    <p:extLst>
      <p:ext uri="{BB962C8B-B14F-4D97-AF65-F5344CB8AC3E}">
        <p14:creationId xmlns:p14="http://schemas.microsoft.com/office/powerpoint/2010/main" val="17419839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8E3D7B8-23E4-4B15-9C48-24B7F086732D}"/>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Diodos y BJT: pulso y ganancia</a:t>
            </a:r>
          </a:p>
        </p:txBody>
      </p:sp>
      <p:sp>
        <p:nvSpPr>
          <p:cNvPr id="2" name="">
            <a:extLst xmlns:a="http://schemas.openxmlformats.org/drawingml/2006/main">
              <a:ext uri="{FF2B5EF4-FFF2-40B4-BE49-F238E27FC236}">
                <a16:creationId xmlns:a16="http://schemas.microsoft.com/office/drawing/2014/main" id="{43E2A1E1-4FB8-4410-8A7F-6781AEC9DA27}"/>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Ensayos Voyager y física · S01, S36</a:t>
            </a:r>
          </a:p>
        </p:txBody>
      </p:sp>
      <p:sp>
        <p:nvSpPr>
          <p:cNvPr id="3" name="">
            <a:extLst xmlns:a="http://schemas.openxmlformats.org/drawingml/2006/main">
              <a:ext uri="{FF2B5EF4-FFF2-40B4-BE49-F238E27FC236}">
                <a16:creationId xmlns:a16="http://schemas.microsoft.com/office/drawing/2014/main" id="{E366B0A5-E7C3-48F8-A412-A8F06275F742}"/>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06</a:t>
            </a:r>
          </a:p>
        </p:txBody>
      </p:sp>
      <p:sp>
        <p:nvSpPr>
          <p:cNvPr id="4" name="">
            <a:extLst xmlns:a="http://schemas.openxmlformats.org/drawingml/2006/main">
              <a:ext uri="{FF2B5EF4-FFF2-40B4-BE49-F238E27FC236}">
                <a16:creationId xmlns:a16="http://schemas.microsoft.com/office/drawing/2014/main" id="{0C73A06B-2A26-4ADF-ACC5-55B4DBCF543F}"/>
              </a:ext>
            </a:extLst>
          </p:cNvPr>
          <p:cNvSpPr>
            <a:spLocks xmlns:a="http://schemas.openxmlformats.org/drawingml/2006/main" noGrp="1"/>
          </p:cNvSpPr>
          <p:nvPr/>
        </p:nvSpPr>
        <p:spPr>
          <a:xfrm xmlns:a="http://schemas.openxmlformats.org/drawingml/2006/main">
            <a:off x="609600" y="1571625"/>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F04F4354-D06A-43F7-A453-CF26F073C0A4}"/>
              </a:ext>
            </a:extLst>
          </p:cNvPr>
          <p:cNvSpPr>
            <a:spLocks xmlns:a="http://schemas.openxmlformats.org/drawingml/2006/main" noGrp="1"/>
          </p:cNvSpPr>
          <p:nvPr/>
        </p:nvSpPr>
        <p:spPr>
          <a:xfrm xmlns:a="http://schemas.openxmlformats.org/drawingml/2006/main">
            <a:off x="742950" y="1743075"/>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Carga generada</a:t>
            </a:r>
          </a:p>
        </p:txBody>
      </p:sp>
      <p:sp>
        <p:nvSpPr>
          <p:cNvPr id="6" name="">
            <a:extLst xmlns:a="http://schemas.openxmlformats.org/drawingml/2006/main">
              <a:ext uri="{FF2B5EF4-FFF2-40B4-BE49-F238E27FC236}">
                <a16:creationId xmlns:a16="http://schemas.microsoft.com/office/drawing/2014/main" id="{FBC89C8A-B7AA-46EF-B863-BDDB146C5469}"/>
              </a:ext>
            </a:extLst>
          </p:cNvPr>
          <p:cNvSpPr>
            <a:spLocks xmlns:a="http://schemas.openxmlformats.org/drawingml/2006/main" noGrp="1"/>
          </p:cNvSpPr>
          <p:nvPr/>
        </p:nvSpPr>
        <p:spPr>
          <a:xfrm xmlns:a="http://schemas.openxmlformats.org/drawingml/2006/main">
            <a:off x="3638550" y="1819275"/>
            <a:ext cx="6572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280D95-AF81-4059-B969-A989019F2E45}"/>
              </a:ext>
            </a:extLst>
          </p:cNvPr>
          <p:cNvSpPr>
            <a:spLocks xmlns:a="http://schemas.openxmlformats.org/drawingml/2006/main" noGrp="1"/>
          </p:cNvSpPr>
          <p:nvPr/>
        </p:nvSpPr>
        <p:spPr>
          <a:xfrm xmlns:a="http://schemas.openxmlformats.org/drawingml/2006/main">
            <a:off x="4371975" y="1571625"/>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8" name="">
            <a:extLst xmlns:a="http://schemas.openxmlformats.org/drawingml/2006/main">
              <a:ext uri="{FF2B5EF4-FFF2-40B4-BE49-F238E27FC236}">
                <a16:creationId xmlns:a16="http://schemas.microsoft.com/office/drawing/2014/main" id="{54CE65F0-AD96-4EAB-A7CA-7F29D4010100}"/>
              </a:ext>
            </a:extLst>
          </p:cNvPr>
          <p:cNvSpPr>
            <a:spLocks xmlns:a="http://schemas.openxmlformats.org/drawingml/2006/main" noGrp="1"/>
          </p:cNvSpPr>
          <p:nvPr/>
        </p:nvSpPr>
        <p:spPr>
          <a:xfrm xmlns:a="http://schemas.openxmlformats.org/drawingml/2006/main">
            <a:off x="4505325" y="1743075"/>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Carga recogida</a:t>
            </a:r>
          </a:p>
        </p:txBody>
      </p:sp>
      <p:sp>
        <p:nvSpPr>
          <p:cNvPr id="9" name="">
            <a:extLst xmlns:a="http://schemas.openxmlformats.org/drawingml/2006/main">
              <a:ext uri="{FF2B5EF4-FFF2-40B4-BE49-F238E27FC236}">
                <a16:creationId xmlns:a16="http://schemas.microsoft.com/office/drawing/2014/main" id="{0DF5986B-53A1-4749-BF08-54A0E338E41C}"/>
              </a:ext>
            </a:extLst>
          </p:cNvPr>
          <p:cNvSpPr>
            <a:spLocks xmlns:a="http://schemas.openxmlformats.org/drawingml/2006/main" noGrp="1"/>
          </p:cNvSpPr>
          <p:nvPr/>
        </p:nvSpPr>
        <p:spPr>
          <a:xfrm xmlns:a="http://schemas.openxmlformats.org/drawingml/2006/main">
            <a:off x="7400925" y="1819275"/>
            <a:ext cx="6572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C8FBA5B-048F-4D4D-A963-8C4943D0F4D2}"/>
              </a:ext>
            </a:extLst>
          </p:cNvPr>
          <p:cNvSpPr>
            <a:spLocks xmlns:a="http://schemas.openxmlformats.org/drawingml/2006/main" noGrp="1"/>
          </p:cNvSpPr>
          <p:nvPr/>
        </p:nvSpPr>
        <p:spPr>
          <a:xfrm xmlns:a="http://schemas.openxmlformats.org/drawingml/2006/main">
            <a:off x="8134350" y="1571625"/>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1" name="">
            <a:extLst xmlns:a="http://schemas.openxmlformats.org/drawingml/2006/main">
              <a:ext uri="{FF2B5EF4-FFF2-40B4-BE49-F238E27FC236}">
                <a16:creationId xmlns:a16="http://schemas.microsoft.com/office/drawing/2014/main" id="{6B5489F5-8F51-477F-B646-022060FC81E5}"/>
              </a:ext>
            </a:extLst>
          </p:cNvPr>
          <p:cNvSpPr>
            <a:spLocks xmlns:a="http://schemas.openxmlformats.org/drawingml/2006/main" noGrp="1"/>
          </p:cNvSpPr>
          <p:nvPr/>
        </p:nvSpPr>
        <p:spPr>
          <a:xfrm xmlns:a="http://schemas.openxmlformats.org/drawingml/2006/main">
            <a:off x="8267700" y="1743075"/>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Pulso espurio</a:t>
            </a:r>
          </a:p>
        </p:txBody>
      </p:sp>
      <p:sp>
        <p:nvSpPr>
          <p:cNvPr id="12" name="">
            <a:extLst xmlns:a="http://schemas.openxmlformats.org/drawingml/2006/main">
              <a:ext uri="{FF2B5EF4-FFF2-40B4-BE49-F238E27FC236}">
                <a16:creationId xmlns:a16="http://schemas.microsoft.com/office/drawing/2014/main" id="{E943895B-3DD7-4725-9473-F19F262E97C3}"/>
              </a:ext>
            </a:extLst>
          </p:cNvPr>
          <p:cNvSpPr>
            <a:spLocks xmlns:a="http://schemas.openxmlformats.org/drawingml/2006/main" noGrp="1"/>
          </p:cNvSpPr>
          <p:nvPr/>
        </p:nvSpPr>
        <p:spPr>
          <a:xfrm xmlns:a="http://schemas.openxmlformats.org/drawingml/2006/main">
            <a:off x="609600" y="3048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62A3D"/>
                </a:solidFill>
              </a:defRPr>
            </a:defPPr>
          </a:lstStyle>
          <a:p xmlns:a="http://schemas.openxmlformats.org/drawingml/2006/main">
            <a:pPr>
              <a:defRPr sz="2700" b="0">
                <a:solidFill>
                  <a:srgbClr val="162A3D"/>
                </a:solidFill>
              </a:defRPr>
            </a:pPr>
            <a:r>
              <a:rPr sz="2700" b="0">
                <a:solidFill>
                  <a:srgbClr val="162A3D"/>
                </a:solidFill>
              </a:rPr>
              <a:t>Recombinación: más corriente de base</a:t>
            </a:r>
          </a:p>
        </p:txBody>
      </p:sp>
      <p:sp>
        <p:nvSpPr>
          <p:cNvPr id="13" name="">
            <a:extLst xmlns:a="http://schemas.openxmlformats.org/drawingml/2006/main">
              <a:ext uri="{FF2B5EF4-FFF2-40B4-BE49-F238E27FC236}">
                <a16:creationId xmlns:a16="http://schemas.microsoft.com/office/drawing/2014/main" id="{98EA3645-E49A-467C-8CA7-93FF09FADF37}"/>
              </a:ext>
            </a:extLst>
          </p:cNvPr>
          <p:cNvSpPr>
            <a:spLocks xmlns:a="http://schemas.openxmlformats.org/drawingml/2006/main" noGrp="1"/>
          </p:cNvSpPr>
          <p:nvPr/>
        </p:nvSpPr>
        <p:spPr>
          <a:xfrm xmlns:a="http://schemas.openxmlformats.org/drawingml/2006/main">
            <a:off x="609600" y="3905250"/>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565A9"/>
                </a:solidFill>
              </a:defRPr>
            </a:defPPr>
          </a:lstStyle>
          <a:p xmlns:a="http://schemas.openxmlformats.org/drawingml/2006/main">
            <a:pPr>
              <a:defRPr sz="3600" b="1">
                <a:solidFill>
                  <a:srgbClr val="1565A9"/>
                </a:solidFill>
              </a:defRPr>
            </a:pPr>
            <a:r>
              <a:rPr sz="3600" b="1">
                <a:solidFill>
                  <a:srgbClr val="1565A9"/>
                </a:solidFill>
              </a:rPr>
              <a:t>β = IC / IB</a:t>
            </a:r>
          </a:p>
        </p:txBody>
      </p:sp>
      <p:sp>
        <p:nvSpPr>
          <p:cNvPr id="14" name="">
            <a:extLst xmlns:a="http://schemas.openxmlformats.org/drawingml/2006/main">
              <a:ext uri="{FF2B5EF4-FFF2-40B4-BE49-F238E27FC236}">
                <a16:creationId xmlns:a16="http://schemas.microsoft.com/office/drawing/2014/main" id="{9806B2BC-B903-4CCA-A34A-B14AE4024D6D}"/>
              </a:ext>
            </a:extLst>
          </p:cNvPr>
          <p:cNvSpPr>
            <a:spLocks xmlns:a="http://schemas.openxmlformats.org/drawingml/2006/main" noGrp="1"/>
          </p:cNvSpPr>
          <p:nvPr/>
        </p:nvSpPr>
        <p:spPr>
          <a:xfrm xmlns:a="http://schemas.openxmlformats.org/drawingml/2006/main">
            <a:off x="5238750" y="4048125"/>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β: 100 a 50; IB: 0,1 a 0,2 mA</a:t>
            </a:r>
          </a:p>
        </p:txBody>
      </p:sp>
      <p:sp>
        <p:nvSpPr>
          <p:cNvPr id="15" name="">
            <a:extLst xmlns:a="http://schemas.openxmlformats.org/drawingml/2006/main">
              <a:ext uri="{FF2B5EF4-FFF2-40B4-BE49-F238E27FC236}">
                <a16:creationId xmlns:a16="http://schemas.microsoft.com/office/drawing/2014/main" id="{37A54DEA-B65C-48A3-88DA-98576ADC2F12}"/>
              </a:ext>
            </a:extLst>
          </p:cNvPr>
          <p:cNvSpPr>
            <a:spLocks xmlns:a="http://schemas.openxmlformats.org/drawingml/2006/main" noGrp="1"/>
          </p:cNvSpPr>
          <p:nvPr/>
        </p:nvSpPr>
        <p:spPr>
          <a:xfrm xmlns:a="http://schemas.openxmlformats.org/drawingml/2006/main">
            <a:off x="5238750" y="46672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IC = 10 mA; ejemplo ilustrativo</a:t>
            </a:r>
          </a:p>
        </p:txBody>
      </p:sp>
      <p:sp>
        <p:nvSpPr>
          <p:cNvPr id="16" name="">
            <a:extLst xmlns:a="http://schemas.openxmlformats.org/drawingml/2006/main">
              <a:ext uri="{FF2B5EF4-FFF2-40B4-BE49-F238E27FC236}">
                <a16:creationId xmlns:a16="http://schemas.microsoft.com/office/drawing/2014/main" id="{E70E7507-0204-4231-912E-2A5BC000F1E2}"/>
              </a:ext>
            </a:extLst>
          </p:cNvPr>
          <p:cNvSpPr>
            <a:spLocks xmlns:a="http://schemas.openxmlformats.org/drawingml/2006/main" noGrp="1"/>
          </p:cNvSpPr>
          <p:nvPr/>
        </p:nvSpPr>
        <p:spPr>
          <a:xfrm xmlns:a="http://schemas.openxmlformats.org/drawingml/2006/main">
            <a:off x="609600" y="5429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Voyager: ensayos y selección por fabricante</a:t>
            </a:r>
          </a:p>
        </p:txBody>
      </p:sp>
    </p:spTree>
    <p:extLst>
      <p:ext uri="{BB962C8B-B14F-4D97-AF65-F5344CB8AC3E}">
        <p14:creationId xmlns:p14="http://schemas.microsoft.com/office/powerpoint/2010/main" val="18170919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0551B7-6DC5-455B-AD20-0FE7185CC012}"/>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MOS, analógico y lógica</a:t>
            </a:r>
          </a:p>
        </p:txBody>
      </p:sp>
      <p:sp>
        <p:nvSpPr>
          <p:cNvPr id="2" name="">
            <a:extLst xmlns:a="http://schemas.openxmlformats.org/drawingml/2006/main">
              <a:ext uri="{FF2B5EF4-FFF2-40B4-BE49-F238E27FC236}">
                <a16:creationId xmlns:a16="http://schemas.microsoft.com/office/drawing/2014/main" id="{FB2D047A-C1B2-40D9-BA06-6546C9A83DE9}"/>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Ensayo Voyager · S01 fig. 6-1</a:t>
            </a:r>
          </a:p>
        </p:txBody>
      </p:sp>
      <p:sp>
        <p:nvSpPr>
          <p:cNvPr id="3" name="">
            <a:extLst xmlns:a="http://schemas.openxmlformats.org/drawingml/2006/main">
              <a:ext uri="{FF2B5EF4-FFF2-40B4-BE49-F238E27FC236}">
                <a16:creationId xmlns:a16="http://schemas.microsoft.com/office/drawing/2014/main" id="{59CD365D-0C1F-4784-B118-131288C215C6}"/>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07</a:t>
            </a:r>
          </a:p>
        </p:txBody>
      </p:sp>
      <p:sp>
        <p:nvSpPr>
          <p:cNvPr id="4" name="">
            <a:extLst xmlns:a="http://schemas.openxmlformats.org/drawingml/2006/main">
              <a:ext uri="{FF2B5EF4-FFF2-40B4-BE49-F238E27FC236}">
                <a16:creationId xmlns:a16="http://schemas.microsoft.com/office/drawing/2014/main" id="{287C9BC1-ED3F-4D99-B6DB-ED2FE32BB8A1}"/>
              </a:ext>
            </a:extLst>
          </p:cNvPr>
          <p:cNvSpPr>
            <a:spLocks xmlns:a="http://schemas.openxmlformats.org/drawingml/2006/main" noGrp="1"/>
          </p:cNvSpPr>
          <p:nvPr/>
        </p:nvSpPr>
        <p:spPr>
          <a:xfrm xmlns:a="http://schemas.openxmlformats.org/drawingml/2006/main">
            <a:off x="609600" y="1428750"/>
            <a:ext cx="40005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23DD866B-8F72-4CCA-82C6-B379F78D0860}"/>
              </a:ext>
            </a:extLst>
          </p:cNvPr>
          <p:cNvSpPr>
            <a:spLocks xmlns:a="http://schemas.openxmlformats.org/drawingml/2006/main" noGrp="1"/>
          </p:cNvSpPr>
          <p:nvPr/>
        </p:nvSpPr>
        <p:spPr>
          <a:xfrm xmlns:a="http://schemas.openxmlformats.org/drawingml/2006/main">
            <a:off x="742950" y="1600200"/>
            <a:ext cx="3733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Compuerta</a:t>
            </a:r>
          </a:p>
        </p:txBody>
      </p:sp>
      <p:sp>
        <p:nvSpPr>
          <p:cNvPr id="6" name="">
            <a:extLst xmlns:a="http://schemas.openxmlformats.org/drawingml/2006/main">
              <a:ext uri="{FF2B5EF4-FFF2-40B4-BE49-F238E27FC236}">
                <a16:creationId xmlns:a16="http://schemas.microsoft.com/office/drawing/2014/main" id="{EE537897-1583-455A-8F7F-81C80DB3751D}"/>
              </a:ext>
            </a:extLst>
          </p:cNvPr>
          <p:cNvSpPr>
            <a:spLocks xmlns:a="http://schemas.openxmlformats.org/drawingml/2006/main" noGrp="1"/>
          </p:cNvSpPr>
          <p:nvPr/>
        </p:nvSpPr>
        <p:spPr>
          <a:xfrm xmlns:a="http://schemas.openxmlformats.org/drawingml/2006/main">
            <a:off x="609600" y="2343150"/>
            <a:ext cx="4000500" cy="59055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7" name="">
            <a:extLst xmlns:a="http://schemas.openxmlformats.org/drawingml/2006/main">
              <a:ext uri="{FF2B5EF4-FFF2-40B4-BE49-F238E27FC236}">
                <a16:creationId xmlns:a16="http://schemas.microsoft.com/office/drawing/2014/main" id="{2D95934D-72FB-4C37-B606-ABF4E29D996A}"/>
              </a:ext>
            </a:extLst>
          </p:cNvPr>
          <p:cNvSpPr>
            <a:spLocks xmlns:a="http://schemas.openxmlformats.org/drawingml/2006/main" noGrp="1"/>
          </p:cNvSpPr>
          <p:nvPr/>
        </p:nvSpPr>
        <p:spPr>
          <a:xfrm xmlns:a="http://schemas.openxmlformats.org/drawingml/2006/main">
            <a:off x="742950" y="2457450"/>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Óxido: carga atrapada</a:t>
            </a:r>
          </a:p>
        </p:txBody>
      </p:sp>
      <p:sp>
        <p:nvSpPr>
          <p:cNvPr id="8" name="">
            <a:extLst xmlns:a="http://schemas.openxmlformats.org/drawingml/2006/main">
              <a:ext uri="{FF2B5EF4-FFF2-40B4-BE49-F238E27FC236}">
                <a16:creationId xmlns:a16="http://schemas.microsoft.com/office/drawing/2014/main" id="{0D563303-3759-4BD3-BC51-EA5939107F4F}"/>
              </a:ext>
            </a:extLst>
          </p:cNvPr>
          <p:cNvSpPr>
            <a:spLocks xmlns:a="http://schemas.openxmlformats.org/drawingml/2006/main" noGrp="1"/>
          </p:cNvSpPr>
          <p:nvPr/>
        </p:nvSpPr>
        <p:spPr>
          <a:xfrm xmlns:a="http://schemas.openxmlformats.org/drawingml/2006/main">
            <a:off x="609600" y="3143250"/>
            <a:ext cx="4000500"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1565A9"/>
            </a:solidFill>
          </a:ln>
        </p:spPr>
      </p:sp>
      <p:sp>
        <p:nvSpPr>
          <p:cNvPr id="9" name="">
            <a:extLst xmlns:a="http://schemas.openxmlformats.org/drawingml/2006/main">
              <a:ext uri="{FF2B5EF4-FFF2-40B4-BE49-F238E27FC236}">
                <a16:creationId xmlns:a16="http://schemas.microsoft.com/office/drawing/2014/main" id="{72E7312D-7E64-4636-A704-18ACEA5F1E0D}"/>
              </a:ext>
            </a:extLst>
          </p:cNvPr>
          <p:cNvSpPr>
            <a:spLocks xmlns:a="http://schemas.openxmlformats.org/drawingml/2006/main" noGrp="1"/>
          </p:cNvSpPr>
          <p:nvPr/>
        </p:nvSpPr>
        <p:spPr>
          <a:xfrm xmlns:a="http://schemas.openxmlformats.org/drawingml/2006/main">
            <a:off x="742950" y="3267075"/>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Semiconductor</a:t>
            </a:r>
          </a:p>
        </p:txBody>
      </p:sp>
      <p:sp>
        <p:nvSpPr>
          <p:cNvPr id="10" name="">
            <a:extLst xmlns:a="http://schemas.openxmlformats.org/drawingml/2006/main">
              <a:ext uri="{FF2B5EF4-FFF2-40B4-BE49-F238E27FC236}">
                <a16:creationId xmlns:a16="http://schemas.microsoft.com/office/drawing/2014/main" id="{DB8E4BC0-F19C-48FB-9CB1-852D86071AD8}"/>
              </a:ext>
            </a:extLst>
          </p:cNvPr>
          <p:cNvSpPr>
            <a:spLocks xmlns:a="http://schemas.openxmlformats.org/drawingml/2006/main" noGrp="1"/>
          </p:cNvSpPr>
          <p:nvPr/>
        </p:nvSpPr>
        <p:spPr>
          <a:xfrm xmlns:a="http://schemas.openxmlformats.org/drawingml/2006/main">
            <a:off x="609600" y="4191000"/>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65A9"/>
                </a:solidFill>
              </a:defRPr>
            </a:defPPr>
          </a:lstStyle>
          <a:p xmlns:a="http://schemas.openxmlformats.org/drawingml/2006/main">
            <a:pPr>
              <a:defRPr sz="2400" b="1">
                <a:solidFill>
                  <a:srgbClr val="1565A9"/>
                </a:solidFill>
              </a:defRPr>
            </a:pPr>
            <a:r>
              <a:rPr sz="2400" b="1">
                <a:solidFill>
                  <a:srgbClr val="1565A9"/>
                </a:solidFill>
              </a:rPr>
              <a:t>Cambia el control eléctrico</a:t>
            </a:r>
          </a:p>
        </p:txBody>
      </p:sp>
      <p:sp>
        <p:nvSpPr>
          <p:cNvPr id="11" name="">
            <a:extLst xmlns:a="http://schemas.openxmlformats.org/drawingml/2006/main">
              <a:ext uri="{FF2B5EF4-FFF2-40B4-BE49-F238E27FC236}">
                <a16:creationId xmlns:a16="http://schemas.microsoft.com/office/drawing/2014/main" id="{D0F93922-04F7-45B2-BFB8-B23B73554E99}"/>
              </a:ext>
            </a:extLst>
          </p:cNvPr>
          <p:cNvSpPr>
            <a:spLocks xmlns:a="http://schemas.openxmlformats.org/drawingml/2006/main" noGrp="1"/>
          </p:cNvSpPr>
          <p:nvPr/>
        </p:nvSpPr>
        <p:spPr>
          <a:xfrm xmlns:a="http://schemas.openxmlformats.org/drawingml/2006/main">
            <a:off x="609600" y="52863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Un pulso puede alterar estados</a:t>
            </a:r>
          </a:p>
        </p:txBody>
      </p:sp>
      <p:pic>
        <p:nvPicPr>
          <p:cNvPr id="12" name="">
            <a:extLst xmlns:a="http://schemas.openxmlformats.org/drawingml/2006/main">
              <a:ext uri="{FF2B5EF4-FFF2-40B4-BE49-F238E27FC236}">
                <a16:creationId xmlns:a16="http://schemas.microsoft.com/office/drawing/2014/main" id="{05991688-9C37-4401-A7C0-12532E8F3C87}"/>
              </a:ext>
            </a:extLst>
          </p:cNvPr>
          <p:cNvPicPr>
            <a:picLocks xmlns:a="http://schemas.openxmlformats.org/drawingml/2006/main" noChangeAspect="1"/>
          </p:cNvPicPr>
          <p:nvPr/>
        </p:nvPicPr>
        <p:blipFill>
          <a:blip xmlns:r="http://schemas.openxmlformats.org/officeDocument/2006/relationships" xmlns:a="http://schemas.openxmlformats.org/drawingml/2006/main" r:embed="R66cda9582a674e44"/>
          <a:stretch xmlns:a="http://schemas.openxmlformats.org/drawingml/2006/main"/>
        </p:blipFill>
        <p:spPr>
          <a:xfrm xmlns:a="http://schemas.openxmlformats.org/drawingml/2006/main">
            <a:off x="7260116" y="1190625"/>
            <a:ext cx="2815268" cy="4810125"/>
          </a:xfrm>
          <a:prstGeom xmlns:a="http://schemas.openxmlformats.org/drawingml/2006/main" prst="rect">
            <a:avLst/>
          </a:prstGeom>
        </p:spPr>
      </p:pic>
    </p:spTree>
    <p:extLst>
      <p:ext uri="{BB962C8B-B14F-4D97-AF65-F5344CB8AC3E}">
        <p14:creationId xmlns:p14="http://schemas.microsoft.com/office/powerpoint/2010/main" val="6926183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74AF1FC-17B4-42B5-B976-F75F397DCB53}"/>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Aislamiento e interconexiones</a:t>
            </a:r>
          </a:p>
        </p:txBody>
      </p:sp>
      <p:sp>
        <p:nvSpPr>
          <p:cNvPr id="2" name="">
            <a:extLst xmlns:a="http://schemas.openxmlformats.org/drawingml/2006/main">
              <a:ext uri="{FF2B5EF4-FFF2-40B4-BE49-F238E27FC236}">
                <a16:creationId xmlns:a16="http://schemas.microsoft.com/office/drawing/2014/main" id="{C206D23E-1C30-42D8-9518-F67D7030D96A}"/>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Mecanismo general · NASA S25, S26</a:t>
            </a:r>
          </a:p>
        </p:txBody>
      </p:sp>
      <p:sp>
        <p:nvSpPr>
          <p:cNvPr id="3" name="">
            <a:extLst xmlns:a="http://schemas.openxmlformats.org/drawingml/2006/main">
              <a:ext uri="{FF2B5EF4-FFF2-40B4-BE49-F238E27FC236}">
                <a16:creationId xmlns:a16="http://schemas.microsoft.com/office/drawing/2014/main" id="{76D04BAB-B795-4583-AF7C-AB1A21A29759}"/>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08</a:t>
            </a:r>
          </a:p>
        </p:txBody>
      </p:sp>
      <p:sp>
        <p:nvSpPr>
          <p:cNvPr id="4" name="">
            <a:extLst xmlns:a="http://schemas.openxmlformats.org/drawingml/2006/main">
              <a:ext uri="{FF2B5EF4-FFF2-40B4-BE49-F238E27FC236}">
                <a16:creationId xmlns:a16="http://schemas.microsoft.com/office/drawing/2014/main" id="{1218C573-C30D-41E1-A672-C34EE8CF74CC}"/>
              </a:ext>
            </a:extLst>
          </p:cNvPr>
          <p:cNvSpPr>
            <a:spLocks xmlns:a="http://schemas.openxmlformats.org/drawingml/2006/main" noGrp="1"/>
          </p:cNvSpPr>
          <p:nvPr/>
        </p:nvSpPr>
        <p:spPr>
          <a:xfrm xmlns:a="http://schemas.openxmlformats.org/drawingml/2006/main">
            <a:off x="609600" y="1619250"/>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D5DE6549-F06F-4723-ABCC-A358AB6FEEA5}"/>
              </a:ext>
            </a:extLst>
          </p:cNvPr>
          <p:cNvSpPr>
            <a:spLocks xmlns:a="http://schemas.openxmlformats.org/drawingml/2006/main" noGrp="1"/>
          </p:cNvSpPr>
          <p:nvPr/>
        </p:nvSpPr>
        <p:spPr>
          <a:xfrm xmlns:a="http://schemas.openxmlformats.org/drawingml/2006/main">
            <a:off x="742950" y="1790700"/>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Carga en aislante</a:t>
            </a:r>
          </a:p>
        </p:txBody>
      </p:sp>
      <p:sp>
        <p:nvSpPr>
          <p:cNvPr id="6" name="">
            <a:extLst xmlns:a="http://schemas.openxmlformats.org/drawingml/2006/main">
              <a:ext uri="{FF2B5EF4-FFF2-40B4-BE49-F238E27FC236}">
                <a16:creationId xmlns:a16="http://schemas.microsoft.com/office/drawing/2014/main" id="{526A5818-4B3E-4D1B-B3E1-43F8A0C126D9}"/>
              </a:ext>
            </a:extLst>
          </p:cNvPr>
          <p:cNvSpPr>
            <a:spLocks xmlns:a="http://schemas.openxmlformats.org/drawingml/2006/main" noGrp="1"/>
          </p:cNvSpPr>
          <p:nvPr/>
        </p:nvSpPr>
        <p:spPr>
          <a:xfrm xmlns:a="http://schemas.openxmlformats.org/drawingml/2006/main">
            <a:off x="3638550" y="1866900"/>
            <a:ext cx="6572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227C5E-0598-46EE-9907-CEFB665C27D3}"/>
              </a:ext>
            </a:extLst>
          </p:cNvPr>
          <p:cNvSpPr>
            <a:spLocks xmlns:a="http://schemas.openxmlformats.org/drawingml/2006/main" noGrp="1"/>
          </p:cNvSpPr>
          <p:nvPr/>
        </p:nvSpPr>
        <p:spPr>
          <a:xfrm xmlns:a="http://schemas.openxmlformats.org/drawingml/2006/main">
            <a:off x="4371975" y="1619250"/>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8" name="">
            <a:extLst xmlns:a="http://schemas.openxmlformats.org/drawingml/2006/main">
              <a:ext uri="{FF2B5EF4-FFF2-40B4-BE49-F238E27FC236}">
                <a16:creationId xmlns:a16="http://schemas.microsoft.com/office/drawing/2014/main" id="{C8F4CA18-B013-47D4-A184-BD602949D3AC}"/>
              </a:ext>
            </a:extLst>
          </p:cNvPr>
          <p:cNvSpPr>
            <a:spLocks xmlns:a="http://schemas.openxmlformats.org/drawingml/2006/main" noGrp="1"/>
          </p:cNvSpPr>
          <p:nvPr/>
        </p:nvSpPr>
        <p:spPr>
          <a:xfrm xmlns:a="http://schemas.openxmlformats.org/drawingml/2006/main">
            <a:off x="4505325" y="1790700"/>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Descarga</a:t>
            </a:r>
          </a:p>
        </p:txBody>
      </p:sp>
      <p:sp>
        <p:nvSpPr>
          <p:cNvPr id="9" name="">
            <a:extLst xmlns:a="http://schemas.openxmlformats.org/drawingml/2006/main">
              <a:ext uri="{FF2B5EF4-FFF2-40B4-BE49-F238E27FC236}">
                <a16:creationId xmlns:a16="http://schemas.microsoft.com/office/drawing/2014/main" id="{DB3ACB20-0799-4B03-BBFF-625F4B9B1A78}"/>
              </a:ext>
            </a:extLst>
          </p:cNvPr>
          <p:cNvSpPr>
            <a:spLocks xmlns:a="http://schemas.openxmlformats.org/drawingml/2006/main" noGrp="1"/>
          </p:cNvSpPr>
          <p:nvPr/>
        </p:nvSpPr>
        <p:spPr>
          <a:xfrm xmlns:a="http://schemas.openxmlformats.org/drawingml/2006/main">
            <a:off x="7400925" y="1866900"/>
            <a:ext cx="657225"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887515E-FFEC-47F1-8F8E-52433A5D61CF}"/>
              </a:ext>
            </a:extLst>
          </p:cNvPr>
          <p:cNvSpPr>
            <a:spLocks xmlns:a="http://schemas.openxmlformats.org/drawingml/2006/main" noGrp="1"/>
          </p:cNvSpPr>
          <p:nvPr/>
        </p:nvSpPr>
        <p:spPr>
          <a:xfrm xmlns:a="http://schemas.openxmlformats.org/drawingml/2006/main">
            <a:off x="8134350" y="1619250"/>
            <a:ext cx="2952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1" name="">
            <a:extLst xmlns:a="http://schemas.openxmlformats.org/drawingml/2006/main">
              <a:ext uri="{FF2B5EF4-FFF2-40B4-BE49-F238E27FC236}">
                <a16:creationId xmlns:a16="http://schemas.microsoft.com/office/drawing/2014/main" id="{EB116988-1996-4C4F-BD10-73A200E9A7D4}"/>
              </a:ext>
            </a:extLst>
          </p:cNvPr>
          <p:cNvSpPr>
            <a:spLocks xmlns:a="http://schemas.openxmlformats.org/drawingml/2006/main" noGrp="1"/>
          </p:cNvSpPr>
          <p:nvPr/>
        </p:nvSpPr>
        <p:spPr>
          <a:xfrm xmlns:a="http://schemas.openxmlformats.org/drawingml/2006/main">
            <a:off x="8267700" y="1790700"/>
            <a:ext cx="268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Pulso en línea</a:t>
            </a:r>
          </a:p>
        </p:txBody>
      </p:sp>
      <p:sp>
        <p:nvSpPr>
          <p:cNvPr id="12" name="">
            <a:extLst xmlns:a="http://schemas.openxmlformats.org/drawingml/2006/main">
              <a:ext uri="{FF2B5EF4-FFF2-40B4-BE49-F238E27FC236}">
                <a16:creationId xmlns:a16="http://schemas.microsoft.com/office/drawing/2014/main" id="{1A565612-2EC3-47F9-80E6-6745B31C517E}"/>
              </a:ext>
            </a:extLst>
          </p:cNvPr>
          <p:cNvSpPr>
            <a:spLocks xmlns:a="http://schemas.openxmlformats.org/drawingml/2006/main" noGrp="1"/>
          </p:cNvSpPr>
          <p:nvPr/>
        </p:nvSpPr>
        <p:spPr>
          <a:xfrm xmlns:a="http://schemas.openxmlformats.org/drawingml/2006/main">
            <a:off x="609600" y="32385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62A3D"/>
                </a:solidFill>
              </a:defRPr>
            </a:defPPr>
          </a:lstStyle>
          <a:p xmlns:a="http://schemas.openxmlformats.org/drawingml/2006/main">
            <a:pPr>
              <a:defRPr sz="2700" b="0">
                <a:solidFill>
                  <a:srgbClr val="162A3D"/>
                </a:solidFill>
              </a:defRPr>
            </a:pPr>
            <a:r>
              <a:rPr sz="2700" b="0">
                <a:solidFill>
                  <a:srgbClr val="162A3D"/>
                </a:solidFill>
              </a:rPr>
              <a:t>Bobinados: núcleo, conductor y aislamiento</a:t>
            </a:r>
          </a:p>
        </p:txBody>
      </p:sp>
      <p:sp>
        <p:nvSpPr>
          <p:cNvPr id="13" name="">
            <a:extLst xmlns:a="http://schemas.openxmlformats.org/drawingml/2006/main">
              <a:ext uri="{FF2B5EF4-FFF2-40B4-BE49-F238E27FC236}">
                <a16:creationId xmlns:a16="http://schemas.microsoft.com/office/drawing/2014/main" id="{2FECF402-5E33-48C6-95ED-762BE53E01FF}"/>
              </a:ext>
            </a:extLst>
          </p:cNvPr>
          <p:cNvSpPr>
            <a:spLocks xmlns:a="http://schemas.openxmlformats.org/drawingml/2006/main" noGrp="1"/>
          </p:cNvSpPr>
          <p:nvPr/>
        </p:nvSpPr>
        <p:spPr>
          <a:xfrm xmlns:a="http://schemas.openxmlformats.org/drawingml/2006/main">
            <a:off x="609600" y="4191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62A3D"/>
                </a:solidFill>
              </a:defRPr>
            </a:defPPr>
          </a:lstStyle>
          <a:p xmlns:a="http://schemas.openxmlformats.org/drawingml/2006/main">
            <a:pPr>
              <a:defRPr sz="2700" b="0">
                <a:solidFill>
                  <a:srgbClr val="162A3D"/>
                </a:solidFill>
              </a:defRPr>
            </a:pPr>
            <a:r>
              <a:rPr sz="2700" b="0">
                <a:solidFill>
                  <a:srgbClr val="162A3D"/>
                </a:solidFill>
              </a:rPr>
              <a:t>Un relé sano puede obedecer mal</a:t>
            </a:r>
          </a:p>
        </p:txBody>
      </p:sp>
      <p:sp>
        <p:nvSpPr>
          <p:cNvPr id="14" name="">
            <a:extLst xmlns:a="http://schemas.openxmlformats.org/drawingml/2006/main">
              <a:ext uri="{FF2B5EF4-FFF2-40B4-BE49-F238E27FC236}">
                <a16:creationId xmlns:a16="http://schemas.microsoft.com/office/drawing/2014/main" id="{F3678E8B-981F-456F-A675-23752EC4C4D1}"/>
              </a:ext>
            </a:extLst>
          </p:cNvPr>
          <p:cNvSpPr>
            <a:spLocks xmlns:a="http://schemas.openxmlformats.org/drawingml/2006/main" noGrp="1"/>
          </p:cNvSpPr>
          <p:nvPr/>
        </p:nvSpPr>
        <p:spPr>
          <a:xfrm xmlns:a="http://schemas.openxmlformats.org/drawingml/2006/main">
            <a:off x="609600" y="5191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Mitigación: aislamiento, retornos y mando</a:t>
            </a:r>
          </a:p>
        </p:txBody>
      </p:sp>
    </p:spTree>
    <p:extLst>
      <p:ext uri="{BB962C8B-B14F-4D97-AF65-F5344CB8AC3E}">
        <p14:creationId xmlns:p14="http://schemas.microsoft.com/office/powerpoint/2010/main" val="755122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C9C9C9-45CB-4B63-B589-C8A3FB990A7A}"/>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Detectores, óptica y cuarzo</a:t>
            </a:r>
          </a:p>
        </p:txBody>
      </p:sp>
      <p:sp>
        <p:nvSpPr>
          <p:cNvPr id="2" name="">
            <a:extLst xmlns:a="http://schemas.openxmlformats.org/drawingml/2006/main">
              <a:ext uri="{FF2B5EF4-FFF2-40B4-BE49-F238E27FC236}">
                <a16:creationId xmlns:a16="http://schemas.microsoft.com/office/drawing/2014/main" id="{B3A6E0AD-A528-4AAB-95FA-84848D4F727B}"/>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Voyager: vuelo y ensayos · S09, S01</a:t>
            </a:r>
          </a:p>
        </p:txBody>
      </p:sp>
      <p:sp>
        <p:nvSpPr>
          <p:cNvPr id="3" name="">
            <a:extLst xmlns:a="http://schemas.openxmlformats.org/drawingml/2006/main">
              <a:ext uri="{FF2B5EF4-FFF2-40B4-BE49-F238E27FC236}">
                <a16:creationId xmlns:a16="http://schemas.microsoft.com/office/drawing/2014/main" id="{A2CBC62F-943F-4231-A183-CF658B07B77F}"/>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09</a:t>
            </a:r>
          </a:p>
        </p:txBody>
      </p:sp>
      <p:sp>
        <p:nvSpPr>
          <p:cNvPr id="4" name="">
            <a:extLst xmlns:a="http://schemas.openxmlformats.org/drawingml/2006/main">
              <a:ext uri="{FF2B5EF4-FFF2-40B4-BE49-F238E27FC236}">
                <a16:creationId xmlns:a16="http://schemas.microsoft.com/office/drawing/2014/main" id="{1C8E374B-6640-422F-A39F-2756CFC83277}"/>
              </a:ext>
            </a:extLst>
          </p:cNvPr>
          <p:cNvSpPr>
            <a:spLocks xmlns:a="http://schemas.openxmlformats.org/drawingml/2006/main" noGrp="1"/>
          </p:cNvSpPr>
          <p:nvPr/>
        </p:nvSpPr>
        <p:spPr>
          <a:xfrm xmlns:a="http://schemas.openxmlformats.org/drawingml/2006/main">
            <a:off x="609600" y="1571625"/>
            <a:ext cx="30480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AA0BB8EF-67B2-42B5-B424-0276BA97F067}"/>
              </a:ext>
            </a:extLst>
          </p:cNvPr>
          <p:cNvSpPr>
            <a:spLocks xmlns:a="http://schemas.openxmlformats.org/drawingml/2006/main" noGrp="1"/>
          </p:cNvSpPr>
          <p:nvPr/>
        </p:nvSpPr>
        <p:spPr>
          <a:xfrm xmlns:a="http://schemas.openxmlformats.org/drawingml/2006/main">
            <a:off x="742950" y="1743075"/>
            <a:ext cx="2781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Partículas</a:t>
            </a:r>
          </a:p>
        </p:txBody>
      </p:sp>
      <p:sp>
        <p:nvSpPr>
          <p:cNvPr id="6" name="">
            <a:extLst xmlns:a="http://schemas.openxmlformats.org/drawingml/2006/main">
              <a:ext uri="{FF2B5EF4-FFF2-40B4-BE49-F238E27FC236}">
                <a16:creationId xmlns:a16="http://schemas.microsoft.com/office/drawing/2014/main" id="{73D800E2-6A07-4EAA-AB2E-924C548B045B}"/>
              </a:ext>
            </a:extLst>
          </p:cNvPr>
          <p:cNvSpPr>
            <a:spLocks xmlns:a="http://schemas.openxmlformats.org/drawingml/2006/main" noGrp="1"/>
          </p:cNvSpPr>
          <p:nvPr/>
        </p:nvSpPr>
        <p:spPr>
          <a:xfrm xmlns:a="http://schemas.openxmlformats.org/drawingml/2006/main">
            <a:off x="4381500" y="1571625"/>
            <a:ext cx="333375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7" name="">
            <a:extLst xmlns:a="http://schemas.openxmlformats.org/drawingml/2006/main">
              <a:ext uri="{FF2B5EF4-FFF2-40B4-BE49-F238E27FC236}">
                <a16:creationId xmlns:a16="http://schemas.microsoft.com/office/drawing/2014/main" id="{C6B7B363-F67A-4F0D-8862-4D971D3B3A39}"/>
              </a:ext>
            </a:extLst>
          </p:cNvPr>
          <p:cNvSpPr>
            <a:spLocks xmlns:a="http://schemas.openxmlformats.org/drawingml/2006/main" noGrp="1"/>
          </p:cNvSpPr>
          <p:nvPr/>
        </p:nvSpPr>
        <p:spPr>
          <a:xfrm xmlns:a="http://schemas.openxmlformats.org/drawingml/2006/main">
            <a:off x="4514850" y="1743075"/>
            <a:ext cx="3067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Sensor óptico</a:t>
            </a:r>
          </a:p>
        </p:txBody>
      </p:sp>
      <p:sp>
        <p:nvSpPr>
          <p:cNvPr id="8" name="">
            <a:extLst xmlns:a="http://schemas.openxmlformats.org/drawingml/2006/main">
              <a:ext uri="{FF2B5EF4-FFF2-40B4-BE49-F238E27FC236}">
                <a16:creationId xmlns:a16="http://schemas.microsoft.com/office/drawing/2014/main" id="{0C013D83-5F30-474B-99DA-1BE0DDCD7AAE}"/>
              </a:ext>
            </a:extLst>
          </p:cNvPr>
          <p:cNvSpPr>
            <a:spLocks xmlns:a="http://schemas.openxmlformats.org/drawingml/2006/main" noGrp="1"/>
          </p:cNvSpPr>
          <p:nvPr/>
        </p:nvSpPr>
        <p:spPr>
          <a:xfrm xmlns:a="http://schemas.openxmlformats.org/drawingml/2006/main">
            <a:off x="8429625" y="1571625"/>
            <a:ext cx="30480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9" name="">
            <a:extLst xmlns:a="http://schemas.openxmlformats.org/drawingml/2006/main">
              <a:ext uri="{FF2B5EF4-FFF2-40B4-BE49-F238E27FC236}">
                <a16:creationId xmlns:a16="http://schemas.microsoft.com/office/drawing/2014/main" id="{980B2184-7FC1-47FE-9CB4-A9A4BC5CD716}"/>
              </a:ext>
            </a:extLst>
          </p:cNvPr>
          <p:cNvSpPr>
            <a:spLocks xmlns:a="http://schemas.openxmlformats.org/drawingml/2006/main" noGrp="1"/>
          </p:cNvSpPr>
          <p:nvPr/>
        </p:nvSpPr>
        <p:spPr>
          <a:xfrm xmlns:a="http://schemas.openxmlformats.org/drawingml/2006/main">
            <a:off x="8562975" y="1743075"/>
            <a:ext cx="2781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Cuarzo</a:t>
            </a:r>
          </a:p>
        </p:txBody>
      </p:sp>
      <p:sp>
        <p:nvSpPr>
          <p:cNvPr id="10" name="">
            <a:extLst xmlns:a="http://schemas.openxmlformats.org/drawingml/2006/main">
              <a:ext uri="{FF2B5EF4-FFF2-40B4-BE49-F238E27FC236}">
                <a16:creationId xmlns:a16="http://schemas.microsoft.com/office/drawing/2014/main" id="{5E8A09F3-2271-4573-BCEC-7D0680D322AD}"/>
              </a:ext>
            </a:extLst>
          </p:cNvPr>
          <p:cNvSpPr>
            <a:spLocks xmlns:a="http://schemas.openxmlformats.org/drawingml/2006/main" noGrp="1"/>
          </p:cNvSpPr>
          <p:nvPr/>
        </p:nvSpPr>
        <p:spPr>
          <a:xfrm xmlns:a="http://schemas.openxmlformats.org/drawingml/2006/main">
            <a:off x="609600" y="26670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65A9"/>
                </a:solidFill>
              </a:defRPr>
            </a:defPPr>
          </a:lstStyle>
          <a:p xmlns:a="http://schemas.openxmlformats.org/drawingml/2006/main">
            <a:pPr>
              <a:defRPr sz="2700" b="1">
                <a:solidFill>
                  <a:srgbClr val="1565A9"/>
                </a:solidFill>
              </a:defRPr>
            </a:pPr>
            <a:r>
              <a:rPr sz="2700" b="1">
                <a:solidFill>
                  <a:srgbClr val="1565A9"/>
                </a:solidFill>
              </a:rPr>
              <a:t>Carga buscada</a:t>
            </a:r>
          </a:p>
        </p:txBody>
      </p:sp>
      <p:sp>
        <p:nvSpPr>
          <p:cNvPr id="11" name="">
            <a:extLst xmlns:a="http://schemas.openxmlformats.org/drawingml/2006/main">
              <a:ext uri="{FF2B5EF4-FFF2-40B4-BE49-F238E27FC236}">
                <a16:creationId xmlns:a16="http://schemas.microsoft.com/office/drawing/2014/main" id="{912DBB8C-136C-4AA1-A28F-46538FE9C634}"/>
              </a:ext>
            </a:extLst>
          </p:cNvPr>
          <p:cNvSpPr>
            <a:spLocks xmlns:a="http://schemas.openxmlformats.org/drawingml/2006/main" noGrp="1"/>
          </p:cNvSpPr>
          <p:nvPr/>
        </p:nvSpPr>
        <p:spPr>
          <a:xfrm xmlns:a="http://schemas.openxmlformats.org/drawingml/2006/main">
            <a:off x="4381500" y="26670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565A9"/>
                </a:solidFill>
              </a:defRPr>
            </a:defPPr>
          </a:lstStyle>
          <a:p xmlns:a="http://schemas.openxmlformats.org/drawingml/2006/main">
            <a:pPr>
              <a:defRPr sz="2700" b="1">
                <a:solidFill>
                  <a:srgbClr val="1565A9"/>
                </a:solidFill>
              </a:defRPr>
            </a:pPr>
            <a:r>
              <a:rPr sz="2700" b="1">
                <a:solidFill>
                  <a:srgbClr val="1565A9"/>
                </a:solidFill>
              </a:rPr>
              <a:t>Señal falsa</a:t>
            </a:r>
          </a:p>
        </p:txBody>
      </p:sp>
      <p:sp>
        <p:nvSpPr>
          <p:cNvPr id="12" name="">
            <a:extLst xmlns:a="http://schemas.openxmlformats.org/drawingml/2006/main">
              <a:ext uri="{FF2B5EF4-FFF2-40B4-BE49-F238E27FC236}">
                <a16:creationId xmlns:a16="http://schemas.microsoft.com/office/drawing/2014/main" id="{3D751BCC-6C8D-49C6-A903-C19D4A877690}"/>
              </a:ext>
            </a:extLst>
          </p:cNvPr>
          <p:cNvSpPr>
            <a:spLocks xmlns:a="http://schemas.openxmlformats.org/drawingml/2006/main" noGrp="1"/>
          </p:cNvSpPr>
          <p:nvPr/>
        </p:nvSpPr>
        <p:spPr>
          <a:xfrm xmlns:a="http://schemas.openxmlformats.org/drawingml/2006/main">
            <a:off x="8429625" y="26670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65A9"/>
                </a:solidFill>
              </a:defRPr>
            </a:defPPr>
          </a:lstStyle>
          <a:p xmlns:a="http://schemas.openxmlformats.org/drawingml/2006/main">
            <a:pPr>
              <a:defRPr sz="2400" b="1">
                <a:solidFill>
                  <a:srgbClr val="1565A9"/>
                </a:solidFill>
              </a:defRPr>
            </a:pPr>
            <a:r>
              <a:rPr sz="2400" b="1">
                <a:solidFill>
                  <a:srgbClr val="1565A9"/>
                </a:solidFill>
              </a:rPr>
              <a:t>Referencia temporal</a:t>
            </a:r>
          </a:p>
        </p:txBody>
      </p:sp>
      <p:sp>
        <p:nvSpPr>
          <p:cNvPr id="13" name="">
            <a:extLst xmlns:a="http://schemas.openxmlformats.org/drawingml/2006/main">
              <a:ext uri="{FF2B5EF4-FFF2-40B4-BE49-F238E27FC236}">
                <a16:creationId xmlns:a16="http://schemas.microsoft.com/office/drawing/2014/main" id="{86D48E07-89C6-415C-93DA-D4553B04893E}"/>
              </a:ext>
            </a:extLst>
          </p:cNvPr>
          <p:cNvSpPr>
            <a:spLocks xmlns:a="http://schemas.openxmlformats.org/drawingml/2006/main" noGrp="1"/>
          </p:cNvSpPr>
          <p:nvPr/>
        </p:nvSpPr>
        <p:spPr>
          <a:xfrm xmlns:a="http://schemas.openxmlformats.org/drawingml/2006/main">
            <a:off x="609600" y="41910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Recalibrar conserva utilidad; los defectos permanecen</a:t>
            </a:r>
          </a:p>
        </p:txBody>
      </p:sp>
      <p:sp>
        <p:nvSpPr>
          <p:cNvPr id="14" name="">
            <a:extLst xmlns:a="http://schemas.openxmlformats.org/drawingml/2006/main">
              <a:ext uri="{FF2B5EF4-FFF2-40B4-BE49-F238E27FC236}">
                <a16:creationId xmlns:a16="http://schemas.microsoft.com/office/drawing/2014/main" id="{C4F5CE7D-F991-4978-95BA-E0E9149365E9}"/>
              </a:ext>
            </a:extLst>
          </p:cNvPr>
          <p:cNvSpPr>
            <a:spLocks xmlns:a="http://schemas.openxmlformats.org/drawingml/2006/main" noGrp="1"/>
          </p:cNvSpPr>
          <p:nvPr/>
        </p:nvSpPr>
        <p:spPr>
          <a:xfrm xmlns:a="http://schemas.openxmlformats.org/drawingml/2006/main">
            <a:off x="609600" y="52863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Voyager: selección de barras de cuarzo</a:t>
            </a:r>
          </a:p>
        </p:txBody>
      </p:sp>
    </p:spTree>
    <p:extLst>
      <p:ext uri="{BB962C8B-B14F-4D97-AF65-F5344CB8AC3E}">
        <p14:creationId xmlns:p14="http://schemas.microsoft.com/office/powerpoint/2010/main" val="10624510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36BF462-F878-4FAC-9E58-12FCE8818BC9}"/>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Un pulso puede dejar una orden</a:t>
            </a:r>
          </a:p>
        </p:txBody>
      </p:sp>
      <p:sp>
        <p:nvSpPr>
          <p:cNvPr id="2" name="">
            <a:extLst xmlns:a="http://schemas.openxmlformats.org/drawingml/2006/main">
              <a:ext uri="{FF2B5EF4-FFF2-40B4-BE49-F238E27FC236}">
                <a16:creationId xmlns:a16="http://schemas.microsoft.com/office/drawing/2014/main" id="{75EB9A88-7F1A-4C9E-ADA4-2E6663CBE3B3}"/>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Ejemplo conceptual · NASA/NEPP S35</a:t>
            </a:r>
          </a:p>
        </p:txBody>
      </p:sp>
      <p:sp>
        <p:nvSpPr>
          <p:cNvPr id="3" name="">
            <a:extLst xmlns:a="http://schemas.openxmlformats.org/drawingml/2006/main">
              <a:ext uri="{FF2B5EF4-FFF2-40B4-BE49-F238E27FC236}">
                <a16:creationId xmlns:a16="http://schemas.microsoft.com/office/drawing/2014/main" id="{97C0C4F9-CCA1-4BCF-AE7E-7AB613E2111C}"/>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10</a:t>
            </a:r>
          </a:p>
        </p:txBody>
      </p:sp>
      <p:sp>
        <p:nvSpPr>
          <p:cNvPr id="4" name="">
            <a:extLst xmlns:a="http://schemas.openxmlformats.org/drawingml/2006/main">
              <a:ext uri="{FF2B5EF4-FFF2-40B4-BE49-F238E27FC236}">
                <a16:creationId xmlns:a16="http://schemas.microsoft.com/office/drawing/2014/main" id="{35349493-5748-4466-B1A1-6E354AAAA403}"/>
              </a:ext>
            </a:extLst>
          </p:cNvPr>
          <p:cNvSpPr>
            <a:spLocks xmlns:a="http://schemas.openxmlformats.org/drawingml/2006/main" noGrp="1"/>
          </p:cNvSpPr>
          <p:nvPr/>
        </p:nvSpPr>
        <p:spPr>
          <a:xfrm xmlns:a="http://schemas.openxmlformats.org/drawingml/2006/main">
            <a:off x="609600" y="1476375"/>
            <a:ext cx="21717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5" name="">
            <a:extLst xmlns:a="http://schemas.openxmlformats.org/drawingml/2006/main">
              <a:ext uri="{FF2B5EF4-FFF2-40B4-BE49-F238E27FC236}">
                <a16:creationId xmlns:a16="http://schemas.microsoft.com/office/drawing/2014/main" id="{51C05EDB-1AD1-4DC2-92BE-EA94E5958294}"/>
              </a:ext>
            </a:extLst>
          </p:cNvPr>
          <p:cNvSpPr>
            <a:spLocks xmlns:a="http://schemas.openxmlformats.org/drawingml/2006/main" noGrp="1"/>
          </p:cNvSpPr>
          <p:nvPr/>
        </p:nvSpPr>
        <p:spPr>
          <a:xfrm xmlns:a="http://schemas.openxmlformats.org/drawingml/2006/main">
            <a:off x="742950" y="16478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Amplificador</a:t>
            </a:r>
          </a:p>
        </p:txBody>
      </p:sp>
      <p:sp>
        <p:nvSpPr>
          <p:cNvPr id="6" name="">
            <a:extLst xmlns:a="http://schemas.openxmlformats.org/drawingml/2006/main">
              <a:ext uri="{FF2B5EF4-FFF2-40B4-BE49-F238E27FC236}">
                <a16:creationId xmlns:a16="http://schemas.microsoft.com/office/drawing/2014/main" id="{69831005-0B83-4DB8-989A-185EA049C76E}"/>
              </a:ext>
            </a:extLst>
          </p:cNvPr>
          <p:cNvSpPr>
            <a:spLocks xmlns:a="http://schemas.openxmlformats.org/drawingml/2006/main" noGrp="1"/>
          </p:cNvSpPr>
          <p:nvPr/>
        </p:nvSpPr>
        <p:spPr>
          <a:xfrm xmlns:a="http://schemas.openxmlformats.org/drawingml/2006/main">
            <a:off x="2857500" y="1724025"/>
            <a:ext cx="495300"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28C8CDF-647F-4A36-9AF8-282C5F0C2CF6}"/>
              </a:ext>
            </a:extLst>
          </p:cNvPr>
          <p:cNvSpPr>
            <a:spLocks xmlns:a="http://schemas.openxmlformats.org/drawingml/2006/main" noGrp="1"/>
          </p:cNvSpPr>
          <p:nvPr/>
        </p:nvSpPr>
        <p:spPr>
          <a:xfrm xmlns:a="http://schemas.openxmlformats.org/drawingml/2006/main">
            <a:off x="3429000" y="1476375"/>
            <a:ext cx="21717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8" name="">
            <a:extLst xmlns:a="http://schemas.openxmlformats.org/drawingml/2006/main">
              <a:ext uri="{FF2B5EF4-FFF2-40B4-BE49-F238E27FC236}">
                <a16:creationId xmlns:a16="http://schemas.microsoft.com/office/drawing/2014/main" id="{6CCFB7D1-ABB6-4D92-9E54-D5CFF99117C1}"/>
              </a:ext>
            </a:extLst>
          </p:cNvPr>
          <p:cNvSpPr>
            <a:spLocks xmlns:a="http://schemas.openxmlformats.org/drawingml/2006/main" noGrp="1"/>
          </p:cNvSpPr>
          <p:nvPr/>
        </p:nvSpPr>
        <p:spPr>
          <a:xfrm xmlns:a="http://schemas.openxmlformats.org/drawingml/2006/main">
            <a:off x="3562350" y="16478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Comparador</a:t>
            </a:r>
          </a:p>
        </p:txBody>
      </p:sp>
      <p:sp>
        <p:nvSpPr>
          <p:cNvPr id="9" name="">
            <a:extLst xmlns:a="http://schemas.openxmlformats.org/drawingml/2006/main">
              <a:ext uri="{FF2B5EF4-FFF2-40B4-BE49-F238E27FC236}">
                <a16:creationId xmlns:a16="http://schemas.microsoft.com/office/drawing/2014/main" id="{CEF69D78-C557-4C5F-893B-82E611C2749E}"/>
              </a:ext>
            </a:extLst>
          </p:cNvPr>
          <p:cNvSpPr>
            <a:spLocks xmlns:a="http://schemas.openxmlformats.org/drawingml/2006/main" noGrp="1"/>
          </p:cNvSpPr>
          <p:nvPr/>
        </p:nvSpPr>
        <p:spPr>
          <a:xfrm xmlns:a="http://schemas.openxmlformats.org/drawingml/2006/main">
            <a:off x="5676900" y="1724025"/>
            <a:ext cx="495300"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981570E-7E38-4594-937E-3F280FE9FFFB}"/>
              </a:ext>
            </a:extLst>
          </p:cNvPr>
          <p:cNvSpPr>
            <a:spLocks xmlns:a="http://schemas.openxmlformats.org/drawingml/2006/main" noGrp="1"/>
          </p:cNvSpPr>
          <p:nvPr/>
        </p:nvSpPr>
        <p:spPr>
          <a:xfrm xmlns:a="http://schemas.openxmlformats.org/drawingml/2006/main">
            <a:off x="6248400" y="1476375"/>
            <a:ext cx="21717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1" name="">
            <a:extLst xmlns:a="http://schemas.openxmlformats.org/drawingml/2006/main">
              <a:ext uri="{FF2B5EF4-FFF2-40B4-BE49-F238E27FC236}">
                <a16:creationId xmlns:a16="http://schemas.microsoft.com/office/drawing/2014/main" id="{7DEC6A9A-B830-41FD-9B66-9A257DAEAD10}"/>
              </a:ext>
            </a:extLst>
          </p:cNvPr>
          <p:cNvSpPr>
            <a:spLocks xmlns:a="http://schemas.openxmlformats.org/drawingml/2006/main" noGrp="1"/>
          </p:cNvSpPr>
          <p:nvPr/>
        </p:nvSpPr>
        <p:spPr>
          <a:xfrm xmlns:a="http://schemas.openxmlformats.org/drawingml/2006/main">
            <a:off x="6381750" y="16478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Registro</a:t>
            </a:r>
          </a:p>
        </p:txBody>
      </p:sp>
      <p:sp>
        <p:nvSpPr>
          <p:cNvPr id="12" name="">
            <a:extLst xmlns:a="http://schemas.openxmlformats.org/drawingml/2006/main">
              <a:ext uri="{FF2B5EF4-FFF2-40B4-BE49-F238E27FC236}">
                <a16:creationId xmlns:a16="http://schemas.microsoft.com/office/drawing/2014/main" id="{F3D04F59-31BB-40BD-ABE6-B039EC15A1A7}"/>
              </a:ext>
            </a:extLst>
          </p:cNvPr>
          <p:cNvSpPr>
            <a:spLocks xmlns:a="http://schemas.openxmlformats.org/drawingml/2006/main" noGrp="1"/>
          </p:cNvSpPr>
          <p:nvPr/>
        </p:nvSpPr>
        <p:spPr>
          <a:xfrm xmlns:a="http://schemas.openxmlformats.org/drawingml/2006/main">
            <a:off x="8496300" y="1724025"/>
            <a:ext cx="495300" cy="228600"/>
          </a:xfrm>
          <a:prstGeom xmlns:a="http://schemas.openxmlformats.org/drawingml/2006/main" prst="rightArrow">
            <a:avLst/>
          </a:prstGeom>
          <a:solidFill xmlns:a="http://schemas.openxmlformats.org/drawingml/2006/main">
            <a:srgbClr val="1565A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10103BD-03CB-45A4-A4CE-9F3B88C85D36}"/>
              </a:ext>
            </a:extLst>
          </p:cNvPr>
          <p:cNvSpPr>
            <a:spLocks xmlns:a="http://schemas.openxmlformats.org/drawingml/2006/main" noGrp="1"/>
          </p:cNvSpPr>
          <p:nvPr/>
        </p:nvSpPr>
        <p:spPr>
          <a:xfrm xmlns:a="http://schemas.openxmlformats.org/drawingml/2006/main">
            <a:off x="9067800" y="1476375"/>
            <a:ext cx="2171700" cy="723900"/>
          </a:xfrm>
          <a:prstGeom xmlns:a="http://schemas.openxmlformats.org/drawingml/2006/main" prst="rect">
            <a:avLst/>
          </a:prstGeom>
          <a:solidFill xmlns:a="http://schemas.openxmlformats.org/drawingml/2006/main">
            <a:srgbClr val="E8F1F8"/>
          </a:solidFill>
          <a:ln xmlns:a="http://schemas.openxmlformats.org/drawingml/2006/main" w="19050">
            <a:solidFill>
              <a:srgbClr val="1565A9"/>
            </a:solidFill>
          </a:ln>
        </p:spPr>
      </p:sp>
      <p:sp>
        <p:nvSpPr>
          <p:cNvPr id="14" name="">
            <a:extLst xmlns:a="http://schemas.openxmlformats.org/drawingml/2006/main">
              <a:ext uri="{FF2B5EF4-FFF2-40B4-BE49-F238E27FC236}">
                <a16:creationId xmlns:a16="http://schemas.microsoft.com/office/drawing/2014/main" id="{342F0847-236B-4D7E-B7B4-23F48462093A}"/>
              </a:ext>
            </a:extLst>
          </p:cNvPr>
          <p:cNvSpPr>
            <a:spLocks xmlns:a="http://schemas.openxmlformats.org/drawingml/2006/main" noGrp="1"/>
          </p:cNvSpPr>
          <p:nvPr/>
        </p:nvSpPr>
        <p:spPr>
          <a:xfrm xmlns:a="http://schemas.openxmlformats.org/drawingml/2006/main">
            <a:off x="9201150" y="1647825"/>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62A3D"/>
                </a:solidFill>
              </a:defRPr>
            </a:defPPr>
          </a:lstStyle>
          <a:p xmlns:a="http://schemas.openxmlformats.org/drawingml/2006/main">
            <a:pPr>
              <a:defRPr sz="2400" b="1">
                <a:solidFill>
                  <a:srgbClr val="162A3D"/>
                </a:solidFill>
              </a:defRPr>
            </a:pPr>
            <a:r>
              <a:rPr sz="2400" b="1">
                <a:solidFill>
                  <a:srgbClr val="162A3D"/>
                </a:solidFill>
              </a:rPr>
              <a:t>Carga</a:t>
            </a:r>
          </a:p>
        </p:txBody>
      </p:sp>
      <p:sp>
        <p:nvSpPr>
          <p:cNvPr id="15" name="">
            <a:extLst xmlns:a="http://schemas.openxmlformats.org/drawingml/2006/main">
              <a:ext uri="{FF2B5EF4-FFF2-40B4-BE49-F238E27FC236}">
                <a16:creationId xmlns:a16="http://schemas.microsoft.com/office/drawing/2014/main" id="{4D63ABAB-4855-45A8-9280-7BD8A815EA7D}"/>
              </a:ext>
            </a:extLst>
          </p:cNvPr>
          <p:cNvSpPr>
            <a:spLocks xmlns:a="http://schemas.openxmlformats.org/drawingml/2006/main" noGrp="1"/>
          </p:cNvSpPr>
          <p:nvPr/>
        </p:nvSpPr>
        <p:spPr>
          <a:xfrm xmlns:a="http://schemas.openxmlformats.org/drawingml/2006/main">
            <a:off x="609600" y="31432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Pulso</a:t>
            </a:r>
          </a:p>
        </p:txBody>
      </p:sp>
      <p:sp>
        <p:nvSpPr>
          <p:cNvPr id="16" name="">
            <a:extLst xmlns:a="http://schemas.openxmlformats.org/drawingml/2006/main">
              <a:ext uri="{FF2B5EF4-FFF2-40B4-BE49-F238E27FC236}">
                <a16:creationId xmlns:a16="http://schemas.microsoft.com/office/drawing/2014/main" id="{9E3304D6-1811-4504-B61D-07D76913651D}"/>
              </a:ext>
            </a:extLst>
          </p:cNvPr>
          <p:cNvSpPr>
            <a:spLocks xmlns:a="http://schemas.openxmlformats.org/drawingml/2006/main" noGrp="1"/>
          </p:cNvSpPr>
          <p:nvPr/>
        </p:nvSpPr>
        <p:spPr>
          <a:xfrm xmlns:a="http://schemas.openxmlformats.org/drawingml/2006/main">
            <a:off x="609600" y="457200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Estado</a:t>
            </a:r>
          </a:p>
        </p:txBody>
      </p:sp>
      <p:sp>
        <p:nvSpPr>
          <p:cNvPr id="17" name="">
            <a:extLst xmlns:a="http://schemas.openxmlformats.org/drawingml/2006/main">
              <a:ext uri="{FF2B5EF4-FFF2-40B4-BE49-F238E27FC236}">
                <a16:creationId xmlns:a16="http://schemas.microsoft.com/office/drawing/2014/main" id="{3240F36E-089D-4EAB-AC77-1A1A5E9DBCFD}"/>
              </a:ext>
            </a:extLst>
          </p:cNvPr>
          <p:cNvSpPr>
            <a:spLocks xmlns:a="http://schemas.openxmlformats.org/drawingml/2006/main" noGrp="1"/>
          </p:cNvSpPr>
          <p:nvPr/>
        </p:nvSpPr>
        <p:spPr>
          <a:xfrm xmlns:a="http://schemas.openxmlformats.org/drawingml/2006/main">
            <a:off x="2667000" y="3810000"/>
            <a:ext cx="8096250" cy="0"/>
          </a:xfrm>
          <a:prstGeom xmlns:a="http://schemas.openxmlformats.org/drawingml/2006/main" prst="line">
            <a:avLst/>
          </a:prstGeom>
          <a:ln xmlns:a="http://schemas.openxmlformats.org/drawingml/2006/main" w="28575">
            <a:solidFill>
              <a:srgbClr val="1565A9"/>
            </a:solidFill>
          </a:ln>
        </p:spPr>
      </p:sp>
      <p:sp>
        <p:nvSpPr>
          <p:cNvPr id="18" name="">
            <a:extLst xmlns:a="http://schemas.openxmlformats.org/drawingml/2006/main">
              <a:ext uri="{FF2B5EF4-FFF2-40B4-BE49-F238E27FC236}">
                <a16:creationId xmlns:a16="http://schemas.microsoft.com/office/drawing/2014/main" id="{E710C88D-19CB-40EA-B360-03F0CF1AA931}"/>
              </a:ext>
            </a:extLst>
          </p:cNvPr>
          <p:cNvSpPr>
            <a:spLocks xmlns:a="http://schemas.openxmlformats.org/drawingml/2006/main" noGrp="1"/>
          </p:cNvSpPr>
          <p:nvPr/>
        </p:nvSpPr>
        <p:spPr>
          <a:xfrm xmlns:a="http://schemas.openxmlformats.org/drawingml/2006/main">
            <a:off x="2667000" y="5238750"/>
            <a:ext cx="8096250" cy="0"/>
          </a:xfrm>
          <a:prstGeom xmlns:a="http://schemas.openxmlformats.org/drawingml/2006/main" prst="line">
            <a:avLst/>
          </a:prstGeom>
          <a:ln xmlns:a="http://schemas.openxmlformats.org/drawingml/2006/main" w="28575">
            <a:solidFill>
              <a:srgbClr val="1565A9"/>
            </a:solidFill>
          </a:ln>
        </p:spPr>
      </p:sp>
      <p:sp>
        <p:nvSpPr>
          <p:cNvPr id="19" name="">
            <a:extLst xmlns:a="http://schemas.openxmlformats.org/drawingml/2006/main">
              <a:ext uri="{FF2B5EF4-FFF2-40B4-BE49-F238E27FC236}">
                <a16:creationId xmlns:a16="http://schemas.microsoft.com/office/drawing/2014/main" id="{D8F58896-BFC8-44D4-B150-8D9401F8795B}"/>
              </a:ext>
            </a:extLst>
          </p:cNvPr>
          <p:cNvSpPr>
            <a:spLocks xmlns:a="http://schemas.openxmlformats.org/drawingml/2006/main" noGrp="1"/>
          </p:cNvSpPr>
          <p:nvPr/>
        </p:nvSpPr>
        <p:spPr>
          <a:xfrm xmlns:a="http://schemas.openxmlformats.org/drawingml/2006/main">
            <a:off x="2667000" y="3714750"/>
            <a:ext cx="1809750" cy="0"/>
          </a:xfrm>
          <a:prstGeom xmlns:a="http://schemas.openxmlformats.org/drawingml/2006/main" prst="line">
            <a:avLst/>
          </a:prstGeom>
          <a:ln xmlns:a="http://schemas.openxmlformats.org/drawingml/2006/main" w="28575">
            <a:solidFill>
              <a:srgbClr val="1565A9"/>
            </a:solidFill>
          </a:ln>
        </p:spPr>
      </p:sp>
      <p:sp>
        <p:nvSpPr>
          <p:cNvPr id="20" name="">
            <a:extLst xmlns:a="http://schemas.openxmlformats.org/drawingml/2006/main">
              <a:ext uri="{FF2B5EF4-FFF2-40B4-BE49-F238E27FC236}">
                <a16:creationId xmlns:a16="http://schemas.microsoft.com/office/drawing/2014/main" id="{794EB9E3-6018-4749-BD15-3E6B0D897DE0}"/>
              </a:ext>
            </a:extLst>
          </p:cNvPr>
          <p:cNvSpPr>
            <a:spLocks xmlns:a="http://schemas.openxmlformats.org/drawingml/2006/main" noGrp="1"/>
          </p:cNvSpPr>
          <p:nvPr/>
        </p:nvSpPr>
        <p:spPr>
          <a:xfrm xmlns:a="http://schemas.openxmlformats.org/drawingml/2006/main">
            <a:off x="4476750" y="3048000"/>
            <a:ext cx="0" cy="666750"/>
          </a:xfrm>
          <a:prstGeom xmlns:a="http://schemas.openxmlformats.org/drawingml/2006/main" prst="line">
            <a:avLst/>
          </a:prstGeom>
          <a:ln xmlns:a="http://schemas.openxmlformats.org/drawingml/2006/main" w="28575">
            <a:solidFill>
              <a:srgbClr val="1565A9"/>
            </a:solidFill>
          </a:ln>
        </p:spPr>
      </p:sp>
      <p:sp>
        <p:nvSpPr>
          <p:cNvPr id="21" name="">
            <a:extLst xmlns:a="http://schemas.openxmlformats.org/drawingml/2006/main">
              <a:ext uri="{FF2B5EF4-FFF2-40B4-BE49-F238E27FC236}">
                <a16:creationId xmlns:a16="http://schemas.microsoft.com/office/drawing/2014/main" id="{6C064EE8-5C2C-4F8B-BE2D-1D9AED5D3A52}"/>
              </a:ext>
            </a:extLst>
          </p:cNvPr>
          <p:cNvSpPr>
            <a:spLocks xmlns:a="http://schemas.openxmlformats.org/drawingml/2006/main" noGrp="1"/>
          </p:cNvSpPr>
          <p:nvPr/>
        </p:nvSpPr>
        <p:spPr>
          <a:xfrm xmlns:a="http://schemas.openxmlformats.org/drawingml/2006/main">
            <a:off x="4476750" y="3048000"/>
            <a:ext cx="1238250" cy="0"/>
          </a:xfrm>
          <a:prstGeom xmlns:a="http://schemas.openxmlformats.org/drawingml/2006/main" prst="line">
            <a:avLst/>
          </a:prstGeom>
          <a:ln xmlns:a="http://schemas.openxmlformats.org/drawingml/2006/main" w="28575">
            <a:solidFill>
              <a:srgbClr val="1565A9"/>
            </a:solidFill>
          </a:ln>
        </p:spPr>
      </p:sp>
      <p:sp>
        <p:nvSpPr>
          <p:cNvPr id="22" name="">
            <a:extLst xmlns:a="http://schemas.openxmlformats.org/drawingml/2006/main">
              <a:ext uri="{FF2B5EF4-FFF2-40B4-BE49-F238E27FC236}">
                <a16:creationId xmlns:a16="http://schemas.microsoft.com/office/drawing/2014/main" id="{38EA3730-A6E3-4B74-811E-4AF8525D6620}"/>
              </a:ext>
            </a:extLst>
          </p:cNvPr>
          <p:cNvSpPr>
            <a:spLocks xmlns:a="http://schemas.openxmlformats.org/drawingml/2006/main" noGrp="1"/>
          </p:cNvSpPr>
          <p:nvPr/>
        </p:nvSpPr>
        <p:spPr>
          <a:xfrm xmlns:a="http://schemas.openxmlformats.org/drawingml/2006/main">
            <a:off x="5715000" y="3048000"/>
            <a:ext cx="0" cy="666750"/>
          </a:xfrm>
          <a:prstGeom xmlns:a="http://schemas.openxmlformats.org/drawingml/2006/main" prst="line">
            <a:avLst/>
          </a:prstGeom>
          <a:ln xmlns:a="http://schemas.openxmlformats.org/drawingml/2006/main" w="28575">
            <a:solidFill>
              <a:srgbClr val="1565A9"/>
            </a:solidFill>
          </a:ln>
        </p:spPr>
      </p:sp>
      <p:sp>
        <p:nvSpPr>
          <p:cNvPr id="23" name="">
            <a:extLst xmlns:a="http://schemas.openxmlformats.org/drawingml/2006/main">
              <a:ext uri="{FF2B5EF4-FFF2-40B4-BE49-F238E27FC236}">
                <a16:creationId xmlns:a16="http://schemas.microsoft.com/office/drawing/2014/main" id="{FDF6265B-F951-4B12-80C7-4911CAD03AB8}"/>
              </a:ext>
            </a:extLst>
          </p:cNvPr>
          <p:cNvSpPr>
            <a:spLocks xmlns:a="http://schemas.openxmlformats.org/drawingml/2006/main" noGrp="1"/>
          </p:cNvSpPr>
          <p:nvPr/>
        </p:nvSpPr>
        <p:spPr>
          <a:xfrm xmlns:a="http://schemas.openxmlformats.org/drawingml/2006/main">
            <a:off x="5715000" y="3714750"/>
            <a:ext cx="5048250" cy="0"/>
          </a:xfrm>
          <a:prstGeom xmlns:a="http://schemas.openxmlformats.org/drawingml/2006/main" prst="line">
            <a:avLst/>
          </a:prstGeom>
          <a:ln xmlns:a="http://schemas.openxmlformats.org/drawingml/2006/main" w="28575">
            <a:solidFill>
              <a:srgbClr val="1565A9"/>
            </a:solidFill>
          </a:ln>
        </p:spPr>
      </p:sp>
      <p:sp>
        <p:nvSpPr>
          <p:cNvPr id="24" name="">
            <a:extLst xmlns:a="http://schemas.openxmlformats.org/drawingml/2006/main">
              <a:ext uri="{FF2B5EF4-FFF2-40B4-BE49-F238E27FC236}">
                <a16:creationId xmlns:a16="http://schemas.microsoft.com/office/drawing/2014/main" id="{A461E032-5293-41D0-8808-895042BBF0B8}"/>
              </a:ext>
            </a:extLst>
          </p:cNvPr>
          <p:cNvSpPr>
            <a:spLocks xmlns:a="http://schemas.openxmlformats.org/drawingml/2006/main" noGrp="1"/>
          </p:cNvSpPr>
          <p:nvPr/>
        </p:nvSpPr>
        <p:spPr>
          <a:xfrm xmlns:a="http://schemas.openxmlformats.org/drawingml/2006/main">
            <a:off x="2667000" y="5143500"/>
            <a:ext cx="1809750" cy="0"/>
          </a:xfrm>
          <a:prstGeom xmlns:a="http://schemas.openxmlformats.org/drawingml/2006/main" prst="line">
            <a:avLst/>
          </a:prstGeom>
          <a:ln xmlns:a="http://schemas.openxmlformats.org/drawingml/2006/main" w="28575">
            <a:solidFill>
              <a:srgbClr val="1565A9"/>
            </a:solidFill>
          </a:ln>
        </p:spPr>
      </p:sp>
      <p:sp>
        <p:nvSpPr>
          <p:cNvPr id="25" name="">
            <a:extLst xmlns:a="http://schemas.openxmlformats.org/drawingml/2006/main">
              <a:ext uri="{FF2B5EF4-FFF2-40B4-BE49-F238E27FC236}">
                <a16:creationId xmlns:a16="http://schemas.microsoft.com/office/drawing/2014/main" id="{9294184C-70E9-40EF-8394-D2205A8C5FA9}"/>
              </a:ext>
            </a:extLst>
          </p:cNvPr>
          <p:cNvSpPr>
            <a:spLocks xmlns:a="http://schemas.openxmlformats.org/drawingml/2006/main" noGrp="1"/>
          </p:cNvSpPr>
          <p:nvPr/>
        </p:nvSpPr>
        <p:spPr>
          <a:xfrm xmlns:a="http://schemas.openxmlformats.org/drawingml/2006/main">
            <a:off x="4476750" y="4476750"/>
            <a:ext cx="0" cy="666750"/>
          </a:xfrm>
          <a:prstGeom xmlns:a="http://schemas.openxmlformats.org/drawingml/2006/main" prst="line">
            <a:avLst/>
          </a:prstGeom>
          <a:ln xmlns:a="http://schemas.openxmlformats.org/drawingml/2006/main" w="28575">
            <a:solidFill>
              <a:srgbClr val="1565A9"/>
            </a:solidFill>
          </a:ln>
        </p:spPr>
      </p:sp>
      <p:sp>
        <p:nvSpPr>
          <p:cNvPr id="26" name="">
            <a:extLst xmlns:a="http://schemas.openxmlformats.org/drawingml/2006/main">
              <a:ext uri="{FF2B5EF4-FFF2-40B4-BE49-F238E27FC236}">
                <a16:creationId xmlns:a16="http://schemas.microsoft.com/office/drawing/2014/main" id="{7AF21E4D-488F-4F94-BD69-8DF616C30A3A}"/>
              </a:ext>
            </a:extLst>
          </p:cNvPr>
          <p:cNvSpPr>
            <a:spLocks xmlns:a="http://schemas.openxmlformats.org/drawingml/2006/main" noGrp="1"/>
          </p:cNvSpPr>
          <p:nvPr/>
        </p:nvSpPr>
        <p:spPr>
          <a:xfrm xmlns:a="http://schemas.openxmlformats.org/drawingml/2006/main">
            <a:off x="4476750" y="4476750"/>
            <a:ext cx="6286500" cy="0"/>
          </a:xfrm>
          <a:prstGeom xmlns:a="http://schemas.openxmlformats.org/drawingml/2006/main" prst="line">
            <a:avLst/>
          </a:prstGeom>
          <a:ln xmlns:a="http://schemas.openxmlformats.org/drawingml/2006/main" w="28575">
            <a:solidFill>
              <a:srgbClr val="1565A9"/>
            </a:solidFill>
          </a:ln>
        </p:spPr>
      </p:sp>
      <p:sp>
        <p:nvSpPr>
          <p:cNvPr id="27" name="">
            <a:extLst xmlns:a="http://schemas.openxmlformats.org/drawingml/2006/main">
              <a:ext uri="{FF2B5EF4-FFF2-40B4-BE49-F238E27FC236}">
                <a16:creationId xmlns:a16="http://schemas.microsoft.com/office/drawing/2014/main" id="{A86AA281-23E6-4F86-BDBA-B61F49135526}"/>
              </a:ext>
            </a:extLst>
          </p:cNvPr>
          <p:cNvSpPr>
            <a:spLocks xmlns:a="http://schemas.openxmlformats.org/drawingml/2006/main" noGrp="1"/>
          </p:cNvSpPr>
          <p:nvPr/>
        </p:nvSpPr>
        <p:spPr>
          <a:xfrm xmlns:a="http://schemas.openxmlformats.org/drawingml/2006/main">
            <a:off x="2667000" y="5619750"/>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65A9"/>
                </a:solidFill>
              </a:defRPr>
            </a:defPPr>
          </a:lstStyle>
          <a:p xmlns:a="http://schemas.openxmlformats.org/drawingml/2006/main">
            <a:pPr>
              <a:defRPr sz="2400" b="1">
                <a:solidFill>
                  <a:srgbClr val="1565A9"/>
                </a:solidFill>
              </a:defRPr>
            </a:pPr>
            <a:r>
              <a:rPr sz="2400" b="1">
                <a:solidFill>
                  <a:srgbClr val="1565A9"/>
                </a:solidFill>
              </a:rPr>
              <a:t>El pulso termina; el estado permanece</a:t>
            </a:r>
          </a:p>
        </p:txBody>
      </p:sp>
    </p:spTree>
    <p:extLst>
      <p:ext uri="{BB962C8B-B14F-4D97-AF65-F5344CB8AC3E}">
        <p14:creationId xmlns:p14="http://schemas.microsoft.com/office/powerpoint/2010/main" val="15359105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20B439-7324-4598-B6EE-899958B0E047}"/>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Por qué Voyager sigue siendo útil</a:t>
            </a:r>
          </a:p>
        </p:txBody>
      </p:sp>
      <p:sp>
        <p:nvSpPr>
          <p:cNvPr id="2" name="">
            <a:extLst xmlns:a="http://schemas.openxmlformats.org/drawingml/2006/main">
              <a:ext uri="{FF2B5EF4-FFF2-40B4-BE49-F238E27FC236}">
                <a16:creationId xmlns:a16="http://schemas.microsoft.com/office/drawing/2014/main" id="{DE07C7B8-A82F-4AB1-B1FF-53B96F12A9B9}"/>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Evidencia Voyager · S01, S09–S15</a:t>
            </a:r>
          </a:p>
        </p:txBody>
      </p:sp>
      <p:sp>
        <p:nvSpPr>
          <p:cNvPr id="3" name="">
            <a:extLst xmlns:a="http://schemas.openxmlformats.org/drawingml/2006/main">
              <a:ext uri="{FF2B5EF4-FFF2-40B4-BE49-F238E27FC236}">
                <a16:creationId xmlns:a16="http://schemas.microsoft.com/office/drawing/2014/main" id="{C80F1855-BD1A-4AEC-9383-E1992BE878DB}"/>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11</a:t>
            </a:r>
          </a:p>
        </p:txBody>
      </p:sp>
      <p:sp>
        <p:nvSpPr>
          <p:cNvPr id="4" name="">
            <a:extLst xmlns:a="http://schemas.openxmlformats.org/drawingml/2006/main">
              <a:ext uri="{FF2B5EF4-FFF2-40B4-BE49-F238E27FC236}">
                <a16:creationId xmlns:a16="http://schemas.microsoft.com/office/drawing/2014/main" id="{C35D50F5-6AB2-4E4F-A553-C631ECEA43E9}"/>
              </a:ext>
            </a:extLst>
          </p:cNvPr>
          <p:cNvSpPr>
            <a:spLocks xmlns:a="http://schemas.openxmlformats.org/drawingml/2006/main" noGrp="1"/>
          </p:cNvSpPr>
          <p:nvPr/>
        </p:nvSpPr>
        <p:spPr>
          <a:xfrm xmlns:a="http://schemas.openxmlformats.org/drawingml/2006/main">
            <a:off x="609600" y="1476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565A9"/>
                </a:solidFill>
              </a:defRPr>
            </a:defPPr>
          </a:lstStyle>
          <a:p xmlns:a="http://schemas.openxmlformats.org/drawingml/2006/main">
            <a:pPr>
              <a:defRPr sz="2700" b="0">
                <a:solidFill>
                  <a:srgbClr val="1565A9"/>
                </a:solidFill>
              </a:defRPr>
            </a:pPr>
            <a:r>
              <a:rPr sz="2700" b="0">
                <a:solidFill>
                  <a:srgbClr val="1565A9"/>
                </a:solidFill>
              </a:rPr>
              <a:t>Blindaje: reduce exposición local</a:t>
            </a:r>
          </a:p>
        </p:txBody>
      </p:sp>
      <p:sp>
        <p:nvSpPr>
          <p:cNvPr id="5" name="">
            <a:extLst xmlns:a="http://schemas.openxmlformats.org/drawingml/2006/main">
              <a:ext uri="{FF2B5EF4-FFF2-40B4-BE49-F238E27FC236}">
                <a16:creationId xmlns:a16="http://schemas.microsoft.com/office/drawing/2014/main" id="{F6D83876-BBB6-4940-B794-72915DA40C1E}"/>
              </a:ext>
            </a:extLst>
          </p:cNvPr>
          <p:cNvSpPr>
            <a:spLocks xmlns:a="http://schemas.openxmlformats.org/drawingml/2006/main" noGrp="1"/>
          </p:cNvSpPr>
          <p:nvPr/>
        </p:nvSpPr>
        <p:spPr>
          <a:xfrm xmlns:a="http://schemas.openxmlformats.org/drawingml/2006/main">
            <a:off x="609600" y="2428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565A9"/>
                </a:solidFill>
              </a:defRPr>
            </a:defPPr>
          </a:lstStyle>
          <a:p xmlns:a="http://schemas.openxmlformats.org/drawingml/2006/main">
            <a:pPr>
              <a:defRPr sz="2700" b="0">
                <a:solidFill>
                  <a:srgbClr val="1565A9"/>
                </a:solidFill>
              </a:defRPr>
            </a:pPr>
            <a:r>
              <a:rPr sz="2700" b="0">
                <a:solidFill>
                  <a:srgbClr val="1565A9"/>
                </a:solidFill>
              </a:rPr>
              <a:t>Selección y márgenes: toleran cambios</a:t>
            </a:r>
          </a:p>
        </p:txBody>
      </p:sp>
      <p:sp>
        <p:nvSpPr>
          <p:cNvPr id="6" name="">
            <a:extLst xmlns:a="http://schemas.openxmlformats.org/drawingml/2006/main">
              <a:ext uri="{FF2B5EF4-FFF2-40B4-BE49-F238E27FC236}">
                <a16:creationId xmlns:a16="http://schemas.microsoft.com/office/drawing/2014/main" id="{A9DA0D12-092B-418F-A0B6-D0753CCF26C2}"/>
              </a:ext>
            </a:extLst>
          </p:cNvPr>
          <p:cNvSpPr>
            <a:spLocks xmlns:a="http://schemas.openxmlformats.org/drawingml/2006/main" noGrp="1"/>
          </p:cNvSpPr>
          <p:nvPr/>
        </p:nvSpPr>
        <p:spPr>
          <a:xfrm xmlns:a="http://schemas.openxmlformats.org/drawingml/2006/main">
            <a:off x="609600" y="3381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565A9"/>
                </a:solidFill>
              </a:defRPr>
            </a:defPPr>
          </a:lstStyle>
          <a:p xmlns:a="http://schemas.openxmlformats.org/drawingml/2006/main">
            <a:pPr>
              <a:defRPr sz="2700" b="0">
                <a:solidFill>
                  <a:srgbClr val="1565A9"/>
                </a:solidFill>
              </a:defRPr>
            </a:pPr>
            <a:r>
              <a:rPr sz="2700" b="0">
                <a:solidFill>
                  <a:srgbClr val="1565A9"/>
                </a:solidFill>
              </a:rPr>
              <a:t>Redundancia y operación: recuperan funciones</a:t>
            </a:r>
          </a:p>
        </p:txBody>
      </p:sp>
      <p:sp>
        <p:nvSpPr>
          <p:cNvPr id="7" name="">
            <a:extLst xmlns:a="http://schemas.openxmlformats.org/drawingml/2006/main">
              <a:ext uri="{FF2B5EF4-FFF2-40B4-BE49-F238E27FC236}">
                <a16:creationId xmlns:a16="http://schemas.microsoft.com/office/drawing/2014/main" id="{C0A87518-3C09-41B2-9F44-52A424CA6733}"/>
              </a:ext>
            </a:extLst>
          </p:cNvPr>
          <p:cNvSpPr>
            <a:spLocks xmlns:a="http://schemas.openxmlformats.org/drawingml/2006/main" noGrp="1"/>
          </p:cNvSpPr>
          <p:nvPr/>
        </p:nvSpPr>
        <p:spPr>
          <a:xfrm xmlns:a="http://schemas.openxmlformats.org/drawingml/2006/main">
            <a:off x="609600" y="4333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162A3D"/>
                </a:solidFill>
              </a:defRPr>
            </a:defPPr>
          </a:lstStyle>
          <a:p xmlns:a="http://schemas.openxmlformats.org/drawingml/2006/main">
            <a:pPr>
              <a:defRPr sz="2700" b="0">
                <a:solidFill>
                  <a:srgbClr val="162A3D"/>
                </a:solidFill>
              </a:defRPr>
            </a:pPr>
            <a:r>
              <a:rPr sz="2700" b="0">
                <a:solidFill>
                  <a:srgbClr val="162A3D"/>
                </a:solidFill>
              </a:rPr>
              <a:t>Energía y temperatura también limitan</a:t>
            </a:r>
          </a:p>
        </p:txBody>
      </p:sp>
      <p:sp>
        <p:nvSpPr>
          <p:cNvPr id="8" name="">
            <a:extLst xmlns:a="http://schemas.openxmlformats.org/drawingml/2006/main">
              <a:ext uri="{FF2B5EF4-FFF2-40B4-BE49-F238E27FC236}">
                <a16:creationId xmlns:a16="http://schemas.microsoft.com/office/drawing/2014/main" id="{328D9F39-0ED0-4050-A105-F8C38CD24C1C}"/>
              </a:ext>
            </a:extLst>
          </p:cNvPr>
          <p:cNvSpPr>
            <a:spLocks xmlns:a="http://schemas.openxmlformats.org/drawingml/2006/main" noGrp="1"/>
          </p:cNvSpPr>
          <p:nvPr/>
        </p:nvSpPr>
        <p:spPr>
          <a:xfrm xmlns:a="http://schemas.openxmlformats.org/drawingml/2006/main">
            <a:off x="609600" y="5429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62A3D"/>
                </a:solidFill>
              </a:defRPr>
            </a:defPPr>
          </a:lstStyle>
          <a:p xmlns:a="http://schemas.openxmlformats.org/drawingml/2006/main">
            <a:pPr>
              <a:defRPr sz="2700" b="1">
                <a:solidFill>
                  <a:srgbClr val="162A3D"/>
                </a:solidFill>
              </a:defRPr>
            </a:pPr>
            <a:r>
              <a:rPr sz="2700" b="1">
                <a:solidFill>
                  <a:srgbClr val="162A3D"/>
                </a:solidFill>
              </a:rPr>
              <a:t>Continuidad con capacidades reducidas</a:t>
            </a:r>
          </a:p>
        </p:txBody>
      </p:sp>
    </p:spTree>
    <p:extLst>
      <p:ext uri="{BB962C8B-B14F-4D97-AF65-F5344CB8AC3E}">
        <p14:creationId xmlns:p14="http://schemas.microsoft.com/office/powerpoint/2010/main" val="20635999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33CBDE-B0D4-43F8-8721-FFA8B3E23A2D}"/>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Bibliografía principal</a:t>
            </a:r>
          </a:p>
        </p:txBody>
      </p:sp>
      <p:sp>
        <p:nvSpPr>
          <p:cNvPr id="2" name="">
            <a:extLst xmlns:a="http://schemas.openxmlformats.org/drawingml/2006/main">
              <a:ext uri="{FF2B5EF4-FFF2-40B4-BE49-F238E27FC236}">
                <a16:creationId xmlns:a16="http://schemas.microsoft.com/office/drawing/2014/main" id="{63A89774-B63E-4034-B95D-1AD92A3DD0C1}"/>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Fuentes completas en notas y dossier</a:t>
            </a:r>
          </a:p>
        </p:txBody>
      </p:sp>
      <p:sp>
        <p:nvSpPr>
          <p:cNvPr id="3" name="">
            <a:extLst xmlns:a="http://schemas.openxmlformats.org/drawingml/2006/main">
              <a:ext uri="{FF2B5EF4-FFF2-40B4-BE49-F238E27FC236}">
                <a16:creationId xmlns:a16="http://schemas.microsoft.com/office/drawing/2014/main" id="{54214B5E-E2E5-4B3C-B640-1E13418E92BB}"/>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12</a:t>
            </a:r>
          </a:p>
        </p:txBody>
      </p:sp>
      <p:sp>
        <p:nvSpPr>
          <p:cNvPr id="4" name="">
            <a:extLst xmlns:a="http://schemas.openxmlformats.org/drawingml/2006/main">
              <a:ext uri="{FF2B5EF4-FFF2-40B4-BE49-F238E27FC236}">
                <a16:creationId xmlns:a16="http://schemas.microsoft.com/office/drawing/2014/main" id="{4954708A-E7C1-4F68-A4AA-998DD03B03E7}"/>
              </a:ext>
            </a:extLst>
          </p:cNvPr>
          <p:cNvSpPr>
            <a:spLocks xmlns:a="http://schemas.openxmlformats.org/drawingml/2006/main" noGrp="1"/>
          </p:cNvSpPr>
          <p:nvPr/>
        </p:nvSpPr>
        <p:spPr>
          <a:xfrm xmlns:a="http://schemas.openxmlformats.org/drawingml/2006/main">
            <a:off x="609600" y="1476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JPL 77-41: calificación de componentes</a:t>
            </a:r>
          </a:p>
        </p:txBody>
      </p:sp>
      <p:sp>
        <p:nvSpPr>
          <p:cNvPr id="5" name="">
            <a:extLst xmlns:a="http://schemas.openxmlformats.org/drawingml/2006/main">
              <a:ext uri="{FF2B5EF4-FFF2-40B4-BE49-F238E27FC236}">
                <a16:creationId xmlns:a16="http://schemas.microsoft.com/office/drawing/2014/main" id="{9396EB50-ACE3-4646-98D7-3BD5E0FB3B55}"/>
              </a:ext>
            </a:extLst>
          </p:cNvPr>
          <p:cNvSpPr>
            <a:spLocks xmlns:a="http://schemas.openxmlformats.org/drawingml/2006/main" noGrp="1"/>
          </p:cNvSpPr>
          <p:nvPr/>
        </p:nvSpPr>
        <p:spPr>
          <a:xfrm xmlns:a="http://schemas.openxmlformats.org/drawingml/2006/main">
            <a:off x="609600" y="2333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NASA: historia técnica de las computadoras</a:t>
            </a:r>
          </a:p>
        </p:txBody>
      </p:sp>
      <p:sp>
        <p:nvSpPr>
          <p:cNvPr id="6" name="">
            <a:extLst xmlns:a="http://schemas.openxmlformats.org/drawingml/2006/main">
              <a:ext uri="{FF2B5EF4-FFF2-40B4-BE49-F238E27FC236}">
                <a16:creationId xmlns:a16="http://schemas.microsoft.com/office/drawing/2014/main" id="{5B6094DC-EDCD-49FC-A9FA-86D1A6FD99E4}"/>
              </a:ext>
            </a:extLst>
          </p:cNvPr>
          <p:cNvSpPr>
            <a:spLocks xmlns:a="http://schemas.openxmlformats.org/drawingml/2006/main" noGrp="1"/>
          </p:cNvSpPr>
          <p:nvPr/>
        </p:nvSpPr>
        <p:spPr>
          <a:xfrm xmlns:a="http://schemas.openxmlformats.org/drawingml/2006/main">
            <a:off x="609600" y="3190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NASA/NEPP: mecanismos y transitorios</a:t>
            </a:r>
          </a:p>
        </p:txBody>
      </p:sp>
      <p:sp>
        <p:nvSpPr>
          <p:cNvPr id="7" name="">
            <a:extLst xmlns:a="http://schemas.openxmlformats.org/drawingml/2006/main">
              <a:ext uri="{FF2B5EF4-FFF2-40B4-BE49-F238E27FC236}">
                <a16:creationId xmlns:a16="http://schemas.microsoft.com/office/drawing/2014/main" id="{EAB92098-0787-429C-98F4-101DE521A55B}"/>
              </a:ext>
            </a:extLst>
          </p:cNvPr>
          <p:cNvSpPr>
            <a:spLocks xmlns:a="http://schemas.openxmlformats.org/drawingml/2006/main" noGrp="1"/>
          </p:cNvSpPr>
          <p:nvPr/>
        </p:nvSpPr>
        <p:spPr>
          <a:xfrm xmlns:a="http://schemas.openxmlformats.org/drawingml/2006/main">
            <a:off x="609600" y="4048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NASA: carga electrostática y materiales</a:t>
            </a:r>
          </a:p>
        </p:txBody>
      </p:sp>
      <p:sp>
        <p:nvSpPr>
          <p:cNvPr id="8" name="">
            <a:extLst xmlns:a="http://schemas.openxmlformats.org/drawingml/2006/main">
              <a:ext uri="{FF2B5EF4-FFF2-40B4-BE49-F238E27FC236}">
                <a16:creationId xmlns:a16="http://schemas.microsoft.com/office/drawing/2014/main" id="{EBE6B13B-D94A-4F73-A61E-2DA3E2ECB3F9}"/>
              </a:ext>
            </a:extLst>
          </p:cNvPr>
          <p:cNvSpPr>
            <a:spLocks xmlns:a="http://schemas.openxmlformats.org/drawingml/2006/main" noGrp="1"/>
          </p:cNvSpPr>
          <p:nvPr/>
        </p:nvSpPr>
        <p:spPr>
          <a:xfrm xmlns:a="http://schemas.openxmlformats.org/drawingml/2006/main">
            <a:off x="609600" y="4905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NASA/PDS: instrumentos y experiencia de vuelo</a:t>
            </a:r>
          </a:p>
        </p:txBody>
      </p:sp>
    </p:spTree>
    <p:extLst>
      <p:ext uri="{BB962C8B-B14F-4D97-AF65-F5344CB8AC3E}">
        <p14:creationId xmlns:p14="http://schemas.microsoft.com/office/powerpoint/2010/main" val="1834084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E47F17-1A15-457F-8053-2E629F3748E8}"/>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Respaldo: degradación de ganancia</a:t>
            </a:r>
          </a:p>
        </p:txBody>
      </p:sp>
      <p:sp>
        <p:nvSpPr>
          <p:cNvPr id="2" name="">
            <a:extLst xmlns:a="http://schemas.openxmlformats.org/drawingml/2006/main">
              <a:ext uri="{FF2B5EF4-FFF2-40B4-BE49-F238E27FC236}">
                <a16:creationId xmlns:a16="http://schemas.microsoft.com/office/drawing/2014/main" id="{2AA42B9C-0B9A-4DF1-BE86-F158569776B9}"/>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Ensayo Voyager · S01 p. 7-3</a:t>
            </a:r>
          </a:p>
        </p:txBody>
      </p:sp>
      <p:sp>
        <p:nvSpPr>
          <p:cNvPr id="3" name="">
            <a:extLst xmlns:a="http://schemas.openxmlformats.org/drawingml/2006/main">
              <a:ext uri="{FF2B5EF4-FFF2-40B4-BE49-F238E27FC236}">
                <a16:creationId xmlns:a16="http://schemas.microsoft.com/office/drawing/2014/main" id="{4CA2A95B-E1BC-4915-ABB6-F31D0695DF37}"/>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13</a:t>
            </a:r>
          </a:p>
        </p:txBody>
      </p:sp>
      <p:pic>
        <p:nvPicPr>
          <p:cNvPr id="4" name="">
            <a:extLst xmlns:a="http://schemas.openxmlformats.org/drawingml/2006/main">
              <a:ext uri="{FF2B5EF4-FFF2-40B4-BE49-F238E27FC236}">
                <a16:creationId xmlns:a16="http://schemas.microsoft.com/office/drawing/2014/main" id="{4602EBB0-55B8-4B13-94EC-83215BC98718}"/>
              </a:ext>
            </a:extLst>
          </p:cNvPr>
          <p:cNvPicPr>
            <a:picLocks xmlns:a="http://schemas.openxmlformats.org/drawingml/2006/main" noChangeAspect="1"/>
          </p:cNvPicPr>
          <p:nvPr/>
        </p:nvPicPr>
        <p:blipFill>
          <a:blip xmlns:r="http://schemas.openxmlformats.org/officeDocument/2006/relationships" xmlns:a="http://schemas.openxmlformats.org/drawingml/2006/main" r:embed="R512436a5b40b4d0c"/>
          <a:stretch xmlns:a="http://schemas.openxmlformats.org/drawingml/2006/main"/>
        </p:blipFill>
        <p:spPr>
          <a:xfrm xmlns:a="http://schemas.openxmlformats.org/drawingml/2006/main">
            <a:off x="1877105" y="1285875"/>
            <a:ext cx="5008791"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CE8BDD-5F35-4E6D-9FB1-BF871AB8C84A}"/>
              </a:ext>
            </a:extLst>
          </p:cNvPr>
          <p:cNvSpPr>
            <a:spLocks xmlns:a="http://schemas.openxmlformats.org/drawingml/2006/main" noGrp="1"/>
          </p:cNvSpPr>
          <p:nvPr/>
        </p:nvSpPr>
        <p:spPr>
          <a:xfrm xmlns:a="http://schemas.openxmlformats.org/drawingml/2006/main">
            <a:off x="8572500" y="19050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65A9"/>
                </a:solidFill>
              </a:defRPr>
            </a:defPPr>
          </a:lstStyle>
          <a:p xmlns:a="http://schemas.openxmlformats.org/drawingml/2006/main">
            <a:pPr>
              <a:defRPr sz="2400" b="1">
                <a:solidFill>
                  <a:srgbClr val="1565A9"/>
                </a:solidFill>
              </a:defRPr>
            </a:pPr>
            <a:r>
              <a:rPr sz="2400" b="1">
                <a:solidFill>
                  <a:srgbClr val="1565A9"/>
                </a:solidFill>
              </a:rPr>
              <a:t>Mayor Δ(1/hFE)</a:t>
            </a:r>
          </a:p>
        </p:txBody>
      </p:sp>
      <p:sp>
        <p:nvSpPr>
          <p:cNvPr id="6" name="">
            <a:extLst xmlns:a="http://schemas.openxmlformats.org/drawingml/2006/main">
              <a:ext uri="{FF2B5EF4-FFF2-40B4-BE49-F238E27FC236}">
                <a16:creationId xmlns:a16="http://schemas.microsoft.com/office/drawing/2014/main" id="{187DB986-0533-41D6-9FB1-3514E48F5BAB}"/>
              </a:ext>
            </a:extLst>
          </p:cNvPr>
          <p:cNvSpPr>
            <a:spLocks xmlns:a="http://schemas.openxmlformats.org/drawingml/2006/main" noGrp="1"/>
          </p:cNvSpPr>
          <p:nvPr/>
        </p:nvSpPr>
        <p:spPr>
          <a:xfrm xmlns:a="http://schemas.openxmlformats.org/drawingml/2006/main">
            <a:off x="8572500" y="26670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Mayor degradación</a:t>
            </a:r>
          </a:p>
        </p:txBody>
      </p:sp>
      <p:sp>
        <p:nvSpPr>
          <p:cNvPr id="7" name="">
            <a:extLst xmlns:a="http://schemas.openxmlformats.org/drawingml/2006/main">
              <a:ext uri="{FF2B5EF4-FFF2-40B4-BE49-F238E27FC236}">
                <a16:creationId xmlns:a16="http://schemas.microsoft.com/office/drawing/2014/main" id="{B90854AB-096D-4232-B686-EDCD2088AF38}"/>
              </a:ext>
            </a:extLst>
          </p:cNvPr>
          <p:cNvSpPr>
            <a:spLocks xmlns:a="http://schemas.openxmlformats.org/drawingml/2006/main" noGrp="1"/>
          </p:cNvSpPr>
          <p:nvPr/>
        </p:nvSpPr>
        <p:spPr>
          <a:xfrm xmlns:a="http://schemas.openxmlformats.org/drawingml/2006/main">
            <a:off x="8572500" y="39052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Depende de corriente</a:t>
            </a:r>
          </a:p>
        </p:txBody>
      </p:sp>
    </p:spTree>
    <p:extLst>
      <p:ext uri="{BB962C8B-B14F-4D97-AF65-F5344CB8AC3E}">
        <p14:creationId xmlns:p14="http://schemas.microsoft.com/office/powerpoint/2010/main" val="4065243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8789EC-5B78-4884-8D08-3385BDF76472}"/>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Respaldo: transitorio medido</a:t>
            </a:r>
          </a:p>
        </p:txBody>
      </p:sp>
      <p:sp>
        <p:nvSpPr>
          <p:cNvPr id="2" name="">
            <a:extLst xmlns:a="http://schemas.openxmlformats.org/drawingml/2006/main">
              <a:ext uri="{FF2B5EF4-FFF2-40B4-BE49-F238E27FC236}">
                <a16:creationId xmlns:a16="http://schemas.microsoft.com/office/drawing/2014/main" id="{B091CB8C-DC38-4A61-BD65-92ED5F2E77DE}"/>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NASA/NEPP · S35 p. 4, fig. 1</a:t>
            </a:r>
          </a:p>
        </p:txBody>
      </p:sp>
      <p:sp>
        <p:nvSpPr>
          <p:cNvPr id="3" name="">
            <a:extLst xmlns:a="http://schemas.openxmlformats.org/drawingml/2006/main">
              <a:ext uri="{FF2B5EF4-FFF2-40B4-BE49-F238E27FC236}">
                <a16:creationId xmlns:a16="http://schemas.microsoft.com/office/drawing/2014/main" id="{2277899B-28E4-4E7B-BFE7-A6E988530529}"/>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14</a:t>
            </a:r>
          </a:p>
        </p:txBody>
      </p:sp>
      <p:pic>
        <p:nvPicPr>
          <p:cNvPr id="4" name="">
            <a:extLst xmlns:a="http://schemas.openxmlformats.org/drawingml/2006/main">
              <a:ext uri="{FF2B5EF4-FFF2-40B4-BE49-F238E27FC236}">
                <a16:creationId xmlns:a16="http://schemas.microsoft.com/office/drawing/2014/main" id="{93227B5C-1996-41C0-A338-EF893FA88F62}"/>
              </a:ext>
            </a:extLst>
          </p:cNvPr>
          <p:cNvPicPr>
            <a:picLocks xmlns:a="http://schemas.openxmlformats.org/drawingml/2006/main" noChangeAspect="1"/>
          </p:cNvPicPr>
          <p:nvPr/>
        </p:nvPicPr>
        <p:blipFill>
          <a:blip xmlns:r="http://schemas.openxmlformats.org/officeDocument/2006/relationships" xmlns:a="http://schemas.openxmlformats.org/drawingml/2006/main" r:embed="Rfcf00d8880e54112"/>
          <a:stretch xmlns:a="http://schemas.openxmlformats.org/drawingml/2006/main"/>
        </p:blipFill>
        <p:spPr>
          <a:xfrm xmlns:a="http://schemas.openxmlformats.org/drawingml/2006/main">
            <a:off x="3024400" y="1381125"/>
            <a:ext cx="5952699"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84A1929-CC70-41F2-A494-3977ECC2CC5C}"/>
              </a:ext>
            </a:extLst>
          </p:cNvPr>
          <p:cNvSpPr>
            <a:spLocks xmlns:a="http://schemas.openxmlformats.org/drawingml/2006/main" noGrp="1"/>
          </p:cNvSpPr>
          <p:nvPr/>
        </p:nvSpPr>
        <p:spPr>
          <a:xfrm xmlns:a="http://schemas.openxmlformats.org/drawingml/2006/main">
            <a:off x="609600" y="55721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565A9"/>
                </a:solidFill>
              </a:defRPr>
            </a:defPPr>
          </a:lstStyle>
          <a:p xmlns:a="http://schemas.openxmlformats.org/drawingml/2006/main">
            <a:pPr>
              <a:defRPr sz="2400" b="1">
                <a:solidFill>
                  <a:srgbClr val="1565A9"/>
                </a:solidFill>
              </a:defRPr>
            </a:pPr>
            <a:r>
              <a:rPr sz="2400" b="1">
                <a:solidFill>
                  <a:srgbClr val="1565A9"/>
                </a:solidFill>
              </a:rPr>
              <a:t>La salida se recupera tras el pulso</a:t>
            </a:r>
          </a:p>
        </p:txBody>
      </p:sp>
    </p:spTree>
    <p:extLst>
      <p:ext uri="{BB962C8B-B14F-4D97-AF65-F5344CB8AC3E}">
        <p14:creationId xmlns:p14="http://schemas.microsoft.com/office/powerpoint/2010/main" val="20184137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816780-A719-426E-8D58-2BBBCF20B1F7}"/>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Respaldo: arquitectura y tecnologías</a:t>
            </a:r>
          </a:p>
        </p:txBody>
      </p:sp>
      <p:sp>
        <p:nvSpPr>
          <p:cNvPr id="2" name="">
            <a:extLst xmlns:a="http://schemas.openxmlformats.org/drawingml/2006/main">
              <a:ext uri="{FF2B5EF4-FFF2-40B4-BE49-F238E27FC236}">
                <a16:creationId xmlns:a16="http://schemas.microsoft.com/office/drawing/2014/main" id="{DC074244-78AA-4E84-A616-B8F4E947F18D}"/>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Historia técnica NASA · S03–S05</a:t>
            </a:r>
          </a:p>
        </p:txBody>
      </p:sp>
      <p:sp>
        <p:nvSpPr>
          <p:cNvPr id="3" name="">
            <a:extLst xmlns:a="http://schemas.openxmlformats.org/drawingml/2006/main">
              <a:ext uri="{FF2B5EF4-FFF2-40B4-BE49-F238E27FC236}">
                <a16:creationId xmlns:a16="http://schemas.microsoft.com/office/drawing/2014/main" id="{CAA56C50-8C51-4943-8750-06E2DA264FE0}"/>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15</a:t>
            </a:r>
          </a:p>
        </p:txBody>
      </p:sp>
      <p:sp>
        <p:nvSpPr>
          <p:cNvPr id="4" name="">
            <a:extLst xmlns:a="http://schemas.openxmlformats.org/drawingml/2006/main">
              <a:ext uri="{FF2B5EF4-FFF2-40B4-BE49-F238E27FC236}">
                <a16:creationId xmlns:a16="http://schemas.microsoft.com/office/drawing/2014/main" id="{4C357899-5A8D-4367-A4AC-6F4ECFD78970}"/>
              </a:ext>
            </a:extLst>
          </p:cNvPr>
          <p:cNvSpPr>
            <a:spLocks xmlns:a="http://schemas.openxmlformats.org/drawingml/2006/main" noGrp="1"/>
          </p:cNvSpPr>
          <p:nvPr/>
        </p:nvSpPr>
        <p:spPr>
          <a:xfrm xmlns:a="http://schemas.openxmlformats.org/drawingml/2006/main">
            <a:off x="609600" y="1476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CCS: comandos y secuencias</a:t>
            </a:r>
          </a:p>
        </p:txBody>
      </p:sp>
      <p:sp>
        <p:nvSpPr>
          <p:cNvPr id="5" name="">
            <a:extLst xmlns:a="http://schemas.openxmlformats.org/drawingml/2006/main">
              <a:ext uri="{FF2B5EF4-FFF2-40B4-BE49-F238E27FC236}">
                <a16:creationId xmlns:a16="http://schemas.microsoft.com/office/drawing/2014/main" id="{3ECB8D38-B4DA-4151-BF39-E774B3812130}"/>
              </a:ext>
            </a:extLst>
          </p:cNvPr>
          <p:cNvSpPr>
            <a:spLocks xmlns:a="http://schemas.openxmlformats.org/drawingml/2006/main" noGrp="1"/>
          </p:cNvSpPr>
          <p:nvPr/>
        </p:nvSpPr>
        <p:spPr>
          <a:xfrm xmlns:a="http://schemas.openxmlformats.org/drawingml/2006/main">
            <a:off x="609600" y="2333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AACS: actitud y articulación</a:t>
            </a:r>
          </a:p>
        </p:txBody>
      </p:sp>
      <p:sp>
        <p:nvSpPr>
          <p:cNvPr id="6" name="">
            <a:extLst xmlns:a="http://schemas.openxmlformats.org/drawingml/2006/main">
              <a:ext uri="{FF2B5EF4-FFF2-40B4-BE49-F238E27FC236}">
                <a16:creationId xmlns:a16="http://schemas.microsoft.com/office/drawing/2014/main" id="{2F56ABE5-6461-4136-AD26-6A2C5B6A179B}"/>
              </a:ext>
            </a:extLst>
          </p:cNvPr>
          <p:cNvSpPr>
            <a:spLocks xmlns:a="http://schemas.openxmlformats.org/drawingml/2006/main" noGrp="1"/>
          </p:cNvSpPr>
          <p:nvPr/>
        </p:nvSpPr>
        <p:spPr>
          <a:xfrm xmlns:a="http://schemas.openxmlformats.org/drawingml/2006/main">
            <a:off x="609600" y="3190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FDS: datos, procesador y memoria CMOS</a:t>
            </a:r>
          </a:p>
        </p:txBody>
      </p:sp>
      <p:sp>
        <p:nvSpPr>
          <p:cNvPr id="7" name="">
            <a:extLst xmlns:a="http://schemas.openxmlformats.org/drawingml/2006/main">
              <a:ext uri="{FF2B5EF4-FFF2-40B4-BE49-F238E27FC236}">
                <a16:creationId xmlns:a16="http://schemas.microsoft.com/office/drawing/2014/main" id="{5BAB2FC1-1DAF-47CE-B5AD-1A67391E435D}"/>
              </a:ext>
            </a:extLst>
          </p:cNvPr>
          <p:cNvSpPr>
            <a:spLocks xmlns:a="http://schemas.openxmlformats.org/drawingml/2006/main" noGrp="1"/>
          </p:cNvSpPr>
          <p:nvPr/>
        </p:nvSpPr>
        <p:spPr>
          <a:xfrm xmlns:a="http://schemas.openxmlformats.org/drawingml/2006/main">
            <a:off x="609600" y="4048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Dos computadoras por cada subsistema</a:t>
            </a:r>
          </a:p>
        </p:txBody>
      </p:sp>
      <p:sp>
        <p:nvSpPr>
          <p:cNvPr id="8" name="">
            <a:extLst xmlns:a="http://schemas.openxmlformats.org/drawingml/2006/main">
              <a:ext uri="{FF2B5EF4-FFF2-40B4-BE49-F238E27FC236}">
                <a16:creationId xmlns:a16="http://schemas.microsoft.com/office/drawing/2014/main" id="{8DAFC95E-2D20-45E1-9CA8-22555D777F0F}"/>
              </a:ext>
            </a:extLst>
          </p:cNvPr>
          <p:cNvSpPr>
            <a:spLocks xmlns:a="http://schemas.openxmlformats.org/drawingml/2006/main" noGrp="1"/>
          </p:cNvSpPr>
          <p:nvPr/>
        </p:nvSpPr>
        <p:spPr>
          <a:xfrm xmlns:a="http://schemas.openxmlformats.org/drawingml/2006/main">
            <a:off x="609600" y="4905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Prototipo TTL ≠ tecnología universal de vuelo</a:t>
            </a:r>
          </a:p>
        </p:txBody>
      </p:sp>
    </p:spTree>
    <p:extLst>
      <p:ext uri="{BB962C8B-B14F-4D97-AF65-F5344CB8AC3E}">
        <p14:creationId xmlns:p14="http://schemas.microsoft.com/office/powerpoint/2010/main" val="13226394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02A70B-8358-4623-8119-30D57F5B197A}"/>
              </a:ext>
            </a:extLst>
          </p:cNvPr>
          <p:cNvSpPr>
            <a:spLocks xmlns:a="http://schemas.openxmlformats.org/drawingml/2006/main" noGrp="1"/>
          </p:cNvSpPr>
          <p:nvPr/>
        </p:nvSpPr>
        <p:spPr>
          <a:xfrm xmlns:a="http://schemas.openxmlformats.org/drawingml/2006/main">
            <a:off x="533400" y="342900"/>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62A3D"/>
                </a:solidFill>
              </a:defRPr>
            </a:defPPr>
          </a:lstStyle>
          <a:p xmlns:a="http://schemas.openxmlformats.org/drawingml/2006/main">
            <a:pPr>
              <a:defRPr sz="3300" b="1">
                <a:solidFill>
                  <a:srgbClr val="162A3D"/>
                </a:solidFill>
              </a:defRPr>
            </a:pPr>
            <a:r>
              <a:rPr sz="3300" b="1">
                <a:solidFill>
                  <a:srgbClr val="162A3D"/>
                </a:solidFill>
              </a:rPr>
              <a:t>Respaldo: alcance de los ensayos</a:t>
            </a:r>
          </a:p>
        </p:txBody>
      </p:sp>
      <p:sp>
        <p:nvSpPr>
          <p:cNvPr id="2" name="">
            <a:extLst xmlns:a="http://schemas.openxmlformats.org/drawingml/2006/main">
              <a:ext uri="{FF2B5EF4-FFF2-40B4-BE49-F238E27FC236}">
                <a16:creationId xmlns:a16="http://schemas.microsoft.com/office/drawing/2014/main" id="{FE3871D8-A7CF-4B58-BFF8-2EE3BE5F00F9}"/>
              </a:ext>
            </a:extLst>
          </p:cNvPr>
          <p:cNvSpPr>
            <a:spLocks xmlns:a="http://schemas.openxmlformats.org/drawingml/2006/main" noGrp="1"/>
          </p:cNvSpPr>
          <p:nvPr/>
        </p:nvSpPr>
        <p:spPr>
          <a:xfrm xmlns:a="http://schemas.openxmlformats.org/drawingml/2006/main">
            <a:off x="533400" y="6286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JPL 77-41 · S01 p. 7-53</a:t>
            </a:r>
          </a:p>
        </p:txBody>
      </p:sp>
      <p:sp>
        <p:nvSpPr>
          <p:cNvPr id="3" name="">
            <a:extLst xmlns:a="http://schemas.openxmlformats.org/drawingml/2006/main">
              <a:ext uri="{FF2B5EF4-FFF2-40B4-BE49-F238E27FC236}">
                <a16:creationId xmlns:a16="http://schemas.microsoft.com/office/drawing/2014/main" id="{7418518E-89EB-4BD6-9B4F-E603FA3E8EE5}"/>
              </a:ext>
            </a:extLst>
          </p:cNvPr>
          <p:cNvSpPr>
            <a:spLocks xmlns:a="http://schemas.openxmlformats.org/drawingml/2006/main" noGrp="1"/>
          </p:cNvSpPr>
          <p:nvPr/>
        </p:nvSpPr>
        <p:spPr>
          <a:xfrm xmlns:a="http://schemas.openxmlformats.org/drawingml/2006/main">
            <a:off x="11125200" y="6286500"/>
            <a:ext cx="61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565A9"/>
                </a:solidFill>
              </a:defRPr>
            </a:defPPr>
          </a:lstStyle>
          <a:p xmlns:a="http://schemas.openxmlformats.org/drawingml/2006/main">
            <a:pPr>
              <a:defRPr sz="2400" b="0">
                <a:solidFill>
                  <a:srgbClr val="1565A9"/>
                </a:solidFill>
              </a:defRPr>
            </a:pPr>
            <a:r>
              <a:rPr sz="2400" b="0">
                <a:solidFill>
                  <a:srgbClr val="1565A9"/>
                </a:solidFill>
              </a:rPr>
              <a:t>16</a:t>
            </a:r>
          </a:p>
        </p:txBody>
      </p:sp>
      <p:sp>
        <p:nvSpPr>
          <p:cNvPr id="4" name="">
            <a:extLst xmlns:a="http://schemas.openxmlformats.org/drawingml/2006/main">
              <a:ext uri="{FF2B5EF4-FFF2-40B4-BE49-F238E27FC236}">
                <a16:creationId xmlns:a16="http://schemas.microsoft.com/office/drawing/2014/main" id="{A4989DF0-DCC5-4D0B-A949-53DA69A9187E}"/>
              </a:ext>
            </a:extLst>
          </p:cNvPr>
          <p:cNvSpPr>
            <a:spLocks xmlns:a="http://schemas.openxmlformats.org/drawingml/2006/main" noGrp="1"/>
          </p:cNvSpPr>
          <p:nvPr/>
        </p:nvSpPr>
        <p:spPr>
          <a:xfrm xmlns:a="http://schemas.openxmlformats.org/drawingml/2006/main">
            <a:off x="609600" y="1476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Resistencias: modelos de película metálica</a:t>
            </a:r>
          </a:p>
        </p:txBody>
      </p:sp>
      <p:sp>
        <p:nvSpPr>
          <p:cNvPr id="5" name="">
            <a:extLst xmlns:a="http://schemas.openxmlformats.org/drawingml/2006/main">
              <a:ext uri="{FF2B5EF4-FFF2-40B4-BE49-F238E27FC236}">
                <a16:creationId xmlns:a16="http://schemas.microsoft.com/office/drawing/2014/main" id="{7B6BF351-65EC-43F0-9C76-E5F1FD292BE1}"/>
              </a:ext>
            </a:extLst>
          </p:cNvPr>
          <p:cNvSpPr>
            <a:spLocks xmlns:a="http://schemas.openxmlformats.org/drawingml/2006/main" noGrp="1"/>
          </p:cNvSpPr>
          <p:nvPr/>
        </p:nvSpPr>
        <p:spPr>
          <a:xfrm xmlns:a="http://schemas.openxmlformats.org/drawingml/2006/main">
            <a:off x="609600" y="2333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Capacitores: muestras B11B de teflón</a:t>
            </a:r>
          </a:p>
        </p:txBody>
      </p:sp>
      <p:sp>
        <p:nvSpPr>
          <p:cNvPr id="6" name="">
            <a:extLst xmlns:a="http://schemas.openxmlformats.org/drawingml/2006/main">
              <a:ext uri="{FF2B5EF4-FFF2-40B4-BE49-F238E27FC236}">
                <a16:creationId xmlns:a16="http://schemas.microsoft.com/office/drawing/2014/main" id="{76559C26-ED26-4D27-AD9D-AFCD80DBA126}"/>
              </a:ext>
            </a:extLst>
          </p:cNvPr>
          <p:cNvSpPr>
            <a:spLocks xmlns:a="http://schemas.openxmlformats.org/drawingml/2006/main" noGrp="1"/>
          </p:cNvSpPr>
          <p:nvPr/>
        </p:nvSpPr>
        <p:spPr>
          <a:xfrm xmlns:a="http://schemas.openxmlformats.org/drawingml/2006/main">
            <a:off x="609600" y="31908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Parámetro, dosis y polarización importan</a:t>
            </a:r>
          </a:p>
        </p:txBody>
      </p:sp>
      <p:sp>
        <p:nvSpPr>
          <p:cNvPr id="7" name="">
            <a:extLst xmlns:a="http://schemas.openxmlformats.org/drawingml/2006/main">
              <a:ext uri="{FF2B5EF4-FFF2-40B4-BE49-F238E27FC236}">
                <a16:creationId xmlns:a16="http://schemas.microsoft.com/office/drawing/2014/main" id="{CBB8BD72-B26B-47C4-ACF4-EF2FF2BEB65E}"/>
              </a:ext>
            </a:extLst>
          </p:cNvPr>
          <p:cNvSpPr>
            <a:spLocks xmlns:a="http://schemas.openxmlformats.org/drawingml/2006/main" noGrp="1"/>
          </p:cNvSpPr>
          <p:nvPr/>
        </p:nvSpPr>
        <p:spPr>
          <a:xfrm xmlns:a="http://schemas.openxmlformats.org/drawingml/2006/main">
            <a:off x="609600" y="40481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Calificación ≠ dosis acumulada en vuelo</a:t>
            </a:r>
          </a:p>
        </p:txBody>
      </p:sp>
      <p:sp>
        <p:nvSpPr>
          <p:cNvPr id="8" name="">
            <a:extLst xmlns:a="http://schemas.openxmlformats.org/drawingml/2006/main">
              <a:ext uri="{FF2B5EF4-FFF2-40B4-BE49-F238E27FC236}">
                <a16:creationId xmlns:a16="http://schemas.microsoft.com/office/drawing/2014/main" id="{93FFF36E-E1B3-4AFC-B06E-6662E1FE6D89}"/>
              </a:ext>
            </a:extLst>
          </p:cNvPr>
          <p:cNvSpPr>
            <a:spLocks xmlns:a="http://schemas.openxmlformats.org/drawingml/2006/main" noGrp="1"/>
          </p:cNvSpPr>
          <p:nvPr/>
        </p:nvSpPr>
        <p:spPr>
          <a:xfrm xmlns:a="http://schemas.openxmlformats.org/drawingml/2006/main">
            <a:off x="609600" y="490537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62A3D"/>
                </a:solidFill>
              </a:defRPr>
            </a:defPPr>
          </a:lstStyle>
          <a:p xmlns:a="http://schemas.openxmlformats.org/drawingml/2006/main">
            <a:pPr>
              <a:defRPr sz="2400" b="0">
                <a:solidFill>
                  <a:srgbClr val="162A3D"/>
                </a:solidFill>
              </a:defRPr>
            </a:pPr>
            <a:r>
              <a:rPr sz="2400" b="0">
                <a:solidFill>
                  <a:srgbClr val="162A3D"/>
                </a:solidFill>
              </a:rPr>
              <a:t>Ensayado ≠ instalado en una placa concreta</a:t>
            </a:r>
          </a:p>
        </p:txBody>
      </p:sp>
    </p:spTree>
    <p:extLst>
      <p:ext uri="{BB962C8B-B14F-4D97-AF65-F5344CB8AC3E}">
        <p14:creationId xmlns:p14="http://schemas.microsoft.com/office/powerpoint/2010/main" val="1738346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2026-10-14T18:01:56.9610000Z</dcterms:created>
  <dcterms:modified xsi:type="dcterms:W3CDTF">2026-10-14T18:01:56.9610000Z</dcterms:modified>
</coreProperties>
</file>