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2f85c389a74a80" /><Relationship Type="http://schemas.openxmlformats.org/officeDocument/2006/relationships/extended-properties" Target="/docProps/app.xml" Id="Rcc55965d835e43dc" /><Relationship Type="http://schemas.openxmlformats.org/officeDocument/2006/relationships/officeDocument" Target="/ppt/presentation.xml" Id="Rbdbb01167b014b61" /></Relationships>
</file>

<file path=ppt/presentation.xml><?xml version="1.0" encoding="utf-8"?>
<p:presentation xmlns:p="http://schemas.openxmlformats.org/presentationml/2006/main">
  <p:sldMasterIdLst>
    <p:sldMasterId xmlns:r="http://schemas.openxmlformats.org/officeDocument/2006/relationships" id="2147483648" r:id="R07d6311656914547"/>
  </p:sldMasterIdLst>
  <p:notesMasterIdLst>
    <p:notesMasterId xmlns:r="http://schemas.openxmlformats.org/officeDocument/2006/relationships" r:id="R674fdc8abe014a3e"/>
  </p:notesMasterIdLst>
  <p:sldIdLst>
    <p:sldId xmlns:r="http://schemas.openxmlformats.org/officeDocument/2006/relationships" id="256" r:id="R04a3cb3d6b2c48ed"/>
    <p:sldId xmlns:r="http://schemas.openxmlformats.org/officeDocument/2006/relationships" id="257" r:id="R3fa6489d91a34d70"/>
    <p:sldId xmlns:r="http://schemas.openxmlformats.org/officeDocument/2006/relationships" id="258" r:id="R11b3379c1c604464"/>
    <p:sldId xmlns:r="http://schemas.openxmlformats.org/officeDocument/2006/relationships" id="259" r:id="R2d7a205481c24129"/>
    <p:sldId xmlns:r="http://schemas.openxmlformats.org/officeDocument/2006/relationships" id="260" r:id="R225807a3907e493b"/>
    <p:sldId xmlns:r="http://schemas.openxmlformats.org/officeDocument/2006/relationships" id="261" r:id="Rdecab43972b74aea"/>
    <p:sldId xmlns:r="http://schemas.openxmlformats.org/officeDocument/2006/relationships" id="262" r:id="R70db1fcfb1404ae6"/>
    <p:sldId xmlns:r="http://schemas.openxmlformats.org/officeDocument/2006/relationships" id="263" r:id="R6074e4deac564ae9"/>
    <p:sldId xmlns:r="http://schemas.openxmlformats.org/officeDocument/2006/relationships" id="264" r:id="Reee35b273f1445f6"/>
    <p:sldId xmlns:r="http://schemas.openxmlformats.org/officeDocument/2006/relationships" id="265" r:id="R9ce6f26147d44375"/>
    <p:sldId xmlns:r="http://schemas.openxmlformats.org/officeDocument/2006/relationships" id="266" r:id="Rf19b55a8fea64790"/>
    <p:sldId xmlns:r="http://schemas.openxmlformats.org/officeDocument/2006/relationships" id="267" r:id="R93de130db108477e"/>
    <p:sldId xmlns:r="http://schemas.openxmlformats.org/officeDocument/2006/relationships" id="268" r:id="R3c7508d3776e4d81"/>
    <p:sldId xmlns:r="http://schemas.openxmlformats.org/officeDocument/2006/relationships" id="269" r:id="Ra91fb907d4d949a9"/>
    <p:sldId xmlns:r="http://schemas.openxmlformats.org/officeDocument/2006/relationships" id="270" r:id="R95cb7d412f874249"/>
    <p:sldId xmlns:r="http://schemas.openxmlformats.org/officeDocument/2006/relationships" id="271" r:id="R2d797e7a9ca5460b"/>
    <p:sldId xmlns:r="http://schemas.openxmlformats.org/officeDocument/2006/relationships" id="272" r:id="Ra014b0539a524de6"/>
    <p:sldId xmlns:r="http://schemas.openxmlformats.org/officeDocument/2006/relationships" id="273" r:id="R3265f88fb3db4c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30f63ce5ec4170" /><Relationship Type="http://schemas.openxmlformats.org/officeDocument/2006/relationships/slideMaster" Target="/ppt/slideMasters/slideMaster1.xml" Id="R07d6311656914547" /><Relationship Type="http://schemas.openxmlformats.org/officeDocument/2006/relationships/notesMaster" Target="/ppt/notesMasters/notesMaster1.xml" Id="R674fdc8abe014a3e" /><Relationship Type="http://schemas.openxmlformats.org/officeDocument/2006/relationships/presProps" Target="/ppt/presProps.xml" Id="R2f893d46c6ba4eb8" /><Relationship Type="http://schemas.openxmlformats.org/officeDocument/2006/relationships/tableStyles" Target="/ppt/tableStyles.xml" Id="Rb240a63bc50c416a" /><Relationship Type="http://schemas.openxmlformats.org/officeDocument/2006/relationships/slide" Target="/ppt/slides/slide1.xml" Id="R04a3cb3d6b2c48ed" /><Relationship Type="http://schemas.openxmlformats.org/officeDocument/2006/relationships/slide" Target="/ppt/slides/slide2.xml" Id="R3fa6489d91a34d70" /><Relationship Type="http://schemas.openxmlformats.org/officeDocument/2006/relationships/slide" Target="/ppt/slides/slide3.xml" Id="R11b3379c1c604464" /><Relationship Type="http://schemas.openxmlformats.org/officeDocument/2006/relationships/slide" Target="/ppt/slides/slide4.xml" Id="R2d7a205481c24129" /><Relationship Type="http://schemas.openxmlformats.org/officeDocument/2006/relationships/slide" Target="/ppt/slides/slide5.xml" Id="R225807a3907e493b" /><Relationship Type="http://schemas.openxmlformats.org/officeDocument/2006/relationships/slide" Target="/ppt/slides/slide6.xml" Id="Rdecab43972b74aea" /><Relationship Type="http://schemas.openxmlformats.org/officeDocument/2006/relationships/slide" Target="/ppt/slides/slide7.xml" Id="R70db1fcfb1404ae6" /><Relationship Type="http://schemas.openxmlformats.org/officeDocument/2006/relationships/slide" Target="/ppt/slides/slide8.xml" Id="R6074e4deac564ae9" /><Relationship Type="http://schemas.openxmlformats.org/officeDocument/2006/relationships/slide" Target="/ppt/slides/slide9.xml" Id="Reee35b273f1445f6" /><Relationship Type="http://schemas.openxmlformats.org/officeDocument/2006/relationships/slide" Target="/ppt/slides/slide10.xml" Id="R9ce6f26147d44375" /><Relationship Type="http://schemas.openxmlformats.org/officeDocument/2006/relationships/slide" Target="/ppt/slides/slide11.xml" Id="Rf19b55a8fea64790" /><Relationship Type="http://schemas.openxmlformats.org/officeDocument/2006/relationships/slide" Target="/ppt/slides/slide12.xml" Id="R93de130db108477e" /><Relationship Type="http://schemas.openxmlformats.org/officeDocument/2006/relationships/slide" Target="/ppt/slides/slide13.xml" Id="R3c7508d3776e4d81" /><Relationship Type="http://schemas.openxmlformats.org/officeDocument/2006/relationships/slide" Target="/ppt/slides/slide14.xml" Id="Ra91fb907d4d949a9" /><Relationship Type="http://schemas.openxmlformats.org/officeDocument/2006/relationships/slide" Target="/ppt/slides/slide15.xml" Id="R95cb7d412f874249" /><Relationship Type="http://schemas.openxmlformats.org/officeDocument/2006/relationships/slide" Target="/ppt/slides/slide16.xml" Id="R2d797e7a9ca5460b" /><Relationship Type="http://schemas.openxmlformats.org/officeDocument/2006/relationships/slide" Target="/ppt/slides/slide17.xml" Id="Ra014b0539a524de6" /><Relationship Type="http://schemas.openxmlformats.org/officeDocument/2006/relationships/slide" Target="/ppt/slides/slide18.xml" Id="R3265f88fb3db4c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973406e7af47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463787841642c9" /><Relationship Type="http://schemas.openxmlformats.org/officeDocument/2006/relationships/notesMaster" Target="/ppt/notesMasters/notesMaster1.xml" Id="R4e0cdc57084447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cc8cff5b07348d0" /><Relationship Type="http://schemas.openxmlformats.org/officeDocument/2006/relationships/notesMaster" Target="/ppt/notesMasters/notesMaster1.xml" Id="R86964bfdb19d47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8fb43c6c6949ac" /><Relationship Type="http://schemas.openxmlformats.org/officeDocument/2006/relationships/notesMaster" Target="/ppt/notesMasters/notesMaster1.xml" Id="R76e5c11f99a6414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59f410e5bf499a" /><Relationship Type="http://schemas.openxmlformats.org/officeDocument/2006/relationships/notesMaster" Target="/ppt/notesMasters/notesMaster1.xml" Id="Rabdabcb991a94d05" /></Relationships>
</file>

<file path=ppt/notesSlides/_rels/notesSlide5.xml.rels>&#65279;<?xml version="1.0" encoding="utf-8"?><Relationships xmlns="http://schemas.openxmlformats.org/package/2006/relationships"><Relationship Type="http://schemas.openxmlformats.org/officeDocument/2006/relationships/slide" Target="/ppt/slides/slide5.xml" Id="Rc51bee53089341c0" /><Relationship Type="http://schemas.openxmlformats.org/officeDocument/2006/relationships/notesMaster" Target="/ppt/notesMasters/notesMaster1.xml" Id="Rafec9a76c09d4c9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968d9239474925" /><Relationship Type="http://schemas.openxmlformats.org/officeDocument/2006/relationships/notesMaster" Target="/ppt/notesMasters/notesMaster1.xml" Id="R93cfdb33443f4a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5c9bac13a2438c" /><Relationship Type="http://schemas.openxmlformats.org/officeDocument/2006/relationships/notesMaster" Target="/ppt/notesMasters/notesMaster1.xml" Id="Rda7d9bac52e340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7a4443e7e984f22" /><Relationship Type="http://schemas.openxmlformats.org/officeDocument/2006/relationships/notesMaster" Target="/ppt/notesMasters/notesMaster1.xml" Id="R89e5bf2da6174d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f2417438b04f66" /><Relationship Type="http://schemas.openxmlformats.org/officeDocument/2006/relationships/notesMaster" Target="/ppt/notesMasters/notesMaster1.xml" Id="R09cb45b030eb4d0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fcc7aded16402b" /><Relationship Type="http://schemas.openxmlformats.org/officeDocument/2006/relationships/notesMaster" Target="/ppt/notesMasters/notesMaster1.xml" Id="Reef5ce37c4ee435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fd95a4a1db4cd4" /><Relationship Type="http://schemas.openxmlformats.org/officeDocument/2006/relationships/notesMaster" Target="/ppt/notesMasters/notesMaster1.xml" Id="R117750a719c4445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cd7ae4cc0b48d3" /><Relationship Type="http://schemas.openxmlformats.org/officeDocument/2006/relationships/notesMaster" Target="/ppt/notesMasters/notesMaster1.xml" Id="Rc41b3e719af742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d3274d5521d4a4a" /><Relationship Type="http://schemas.openxmlformats.org/officeDocument/2006/relationships/notesMaster" Target="/ppt/notesMasters/notesMaster1.xml" Id="Rd7964acb927842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302b6499be4634" /><Relationship Type="http://schemas.openxmlformats.org/officeDocument/2006/relationships/notesMaster" Target="/ppt/notesMasters/notesMaster1.xml" Id="Rf55a62813fb0417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4bebf34cd15489c" /><Relationship Type="http://schemas.openxmlformats.org/officeDocument/2006/relationships/notesMaster" Target="/ppt/notesMasters/notesMaster1.xml" Id="Rba6c6b7e01ae464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a99dd668cd4a7d" /><Relationship Type="http://schemas.openxmlformats.org/officeDocument/2006/relationships/notesMaster" Target="/ppt/notesMasters/notesMaster1.xml" Id="Rf91c2b375a4045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473cf63f06f4caa" /><Relationship Type="http://schemas.openxmlformats.org/officeDocument/2006/relationships/notesMaster" Target="/ppt/notesMasters/notesMaster1.xml" Id="R9ccd0ca221bd4d7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7a20b185e5f4365" /><Relationship Type="http://schemas.openxmlformats.org/officeDocument/2006/relationships/notesMaster" Target="/ppt/notesMasters/notesMaster1.xml" Id="R28710498338440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0:25</a:t>
            </a:r>
          </a:p>
          <a:p xmlns:a="http://schemas.openxmlformats.org/drawingml/2006/main">
            <a:r>
              <a:t/>
            </a:r>
          </a:p>
          <a:p xmlns:a="http://schemas.openxmlformats.org/drawingml/2006/main">
            <a:r>
              <a:t>APOYO ORAL</a:t>
            </a:r>
          </a:p>
          <a:p xmlns:a="http://schemas.openxmlformats.org/drawingml/2006/main">
            <a:r>
              <a:t>Voyager 1 y Voyager 2 se lanzaron en 1977. Durante estos minutos vamos a seguir su recorrido, identificar la radiación que encontraron y ver cómo afecta a los componentes. La pregunta es qué decisiones de diseño permitieron seguir trabajando pese a la degradación y los problemas que aparecieron.</a:t>
            </a:r>
          </a:p>
          <a:p xmlns:a="http://schemas.openxmlformats.org/drawingml/2006/main">
            <a:r>
              <a:t/>
            </a:r>
          </a:p>
          <a:p xmlns:a="http://schemas.openxmlformats.org/drawingml/2006/main">
            <a:r>
              <a:t>FIGURA Y ALCANCE</a:t>
            </a:r>
          </a:p>
          <a:p xmlns:a="http://schemas.openxmlformats.org/drawingml/2006/main">
            <a:r>
              <a:t>Identificar la antena y el cuerpo central. La imagen presenta la nave; no muestra sus circuitos internos.</a:t>
            </a:r>
          </a:p>
          <a:p xmlns:a="http://schemas.openxmlformats.org/drawingml/2006/main">
            <a:r>
              <a:t>Voyager · NASA/JPL</a:t>
            </a:r>
          </a:p>
          <a:p xmlns:a="http://schemas.openxmlformats.org/drawingml/2006/main">
            <a:r>
              <a:t>NASA/JPL, spacecraft-profile-3</a:t>
            </a:r>
          </a:p>
          <a:p xmlns:a="http://schemas.openxmlformats.org/drawingml/2006/main">
            <a:r>
              <a:t>https://science.nasa.gov/image-detail/spacecraft-profile-3/</a:t>
            </a:r>
          </a:p>
          <a:p xmlns:a="http://schemas.openxmlformats.org/drawingml/2006/main">
            <a:r>
              <a:t/>
            </a:r>
          </a:p>
          <a:p xmlns:a="http://schemas.openxmlformats.org/drawingml/2006/main">
            <a:r>
              <a:t>FUENTES Y LOCALIZADORES</a:t>
            </a:r>
          </a:p>
          <a:p xmlns:a="http://schemas.openxmlformats.org/drawingml/2006/main">
            <a:r>
              <a:t>S01, §I y §III; S22-S23, física general.</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S07: Where Are Voyager 1 and 2 Now</a:t>
            </a:r>
          </a:p>
          <a:p xmlns:a="http://schemas.openxmlformats.org/drawingml/2006/main">
            <a:r>
              <a:t>https://science.nasa.gov/mission/voyager/where-are-voyager-1-and-voyager-2-now/</a:t>
            </a:r>
          </a:p>
          <a:p xmlns:a="http://schemas.openxmlformats.org/drawingml/2006/main">
            <a:r>
              <a:t/>
            </a:r>
          </a:p>
          <a:p xmlns:a="http://schemas.openxmlformats.org/drawingml/2006/main">
            <a:r>
              <a:t>S09: Voyager CRS Instrument Problems</a:t>
            </a:r>
          </a:p>
          <a:p xmlns:a="http://schemas.openxmlformats.org/drawingml/2006/main">
            <a:r>
              <a:t>https://voyager.gsfc.nasa.gov/instrument_problems.html</a:t>
            </a:r>
          </a:p>
          <a:p xmlns:a="http://schemas.openxmlformats.org/drawingml/2006/main">
            <a:r>
              <a:t/>
            </a:r>
          </a:p>
          <a:p xmlns:a="http://schemas.openxmlformats.org/drawingml/2006/main">
            <a:r>
              <a:t>S22: JPL ASIC Guide Design for Radiation Tolerance</a:t>
            </a:r>
          </a:p>
          <a:p xmlns:a="http://schemas.openxmlformats.org/drawingml/2006/main">
            <a:r>
              <a:t>https://parts.jpl.nasa.gov/asic/Sect.3.4.html</a:t>
            </a:r>
          </a:p>
          <a:p xmlns:a="http://schemas.openxmlformats.org/drawingml/2006/main">
            <a:r>
              <a:t/>
            </a:r>
          </a:p>
          <a:p xmlns:a="http://schemas.openxmlformats.org/drawingml/2006/main">
            <a:r>
              <a:t>S23: JPL ASIC Guide Appendix Three</a:t>
            </a:r>
          </a:p>
          <a:p xmlns:a="http://schemas.openxmlformats.org/drawingml/2006/main">
            <a:r>
              <a:t>https://parts.jpl.nasa.gov/asic/Appendix.3.html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1:10</a:t>
            </a:r>
          </a:p>
          <a:p xmlns:a="http://schemas.openxmlformats.org/drawingml/2006/main">
            <a:r>
              <a:t/>
            </a:r>
          </a:p>
          <a:p xmlns:a="http://schemas.openxmlformats.org/drawingml/2006/main">
            <a:r>
              <a:t>APOYO ORAL</a:t>
            </a:r>
          </a:p>
          <a:p xmlns:a="http://schemas.openxmlformats.org/drawingml/2006/main">
            <a:r>
              <a:t>El proyecto aprobado en 1972 llegó a los lanzamientos unos cinco años después, aunque había estudios anteriores. Voyager 2 salió primero, pero Voyager 1 llegó antes a Júpiter. El diseño inicial se centró en Júpiter y Saturno, con posibilidad de extender el viaje. Las distancias de referencia publicadas por NASA en marzo de 2025 superaban 25.000 millones de kilómetros para V1 y 21.000 millones para V2. Son distancias a la Tierra de esa fecha, no kilómetros recorridos ni posiciones exactas de hoy. Al 16 de octubre de 2026 faltan 308 días para los 50 años de V2 y 324 para los de V1.</a:t>
            </a:r>
          </a:p>
          <a:p xmlns:a="http://schemas.openxmlformats.org/drawingml/2006/main">
            <a:r>
              <a:t/>
            </a:r>
          </a:p>
          <a:p xmlns:a="http://schemas.openxmlformats.org/drawingml/2006/main">
            <a:r>
              <a:t>FIGURA Y ALCANCE</a:t>
            </a:r>
          </a:p>
          <a:p xmlns:a="http://schemas.openxmlformats.org/drawingml/2006/main">
            <a:r>
              <a:t>Seguir V1 hasta Saturno y V2 hasta Neptuno. El dibujo no representa distancias actuales.</a:t>
            </a:r>
          </a:p>
          <a:p xmlns:a="http://schemas.openxmlformats.org/drawingml/2006/main">
            <a:r>
              <a:t>Trayectorias históricas · NASA</a:t>
            </a:r>
          </a:p>
          <a:p xmlns:a="http://schemas.openxmlformats.org/drawingml/2006/main">
            <a:r>
              <a:t>NASA, historia de Voyager 1 (S37)</a:t>
            </a:r>
          </a:p>
          <a:p xmlns:a="http://schemas.openxmlformats.org/drawingml/2006/main">
            <a:r>
              <a:t>https://www.nasa.gov/wp-content/uploads/2022/09/voyager_1_6_trajectories_lightened.png</a:t>
            </a:r>
          </a:p>
          <a:p xmlns:a="http://schemas.openxmlformats.org/drawingml/2006/main">
            <a:r>
              <a:t/>
            </a:r>
          </a:p>
          <a:p xmlns:a="http://schemas.openxmlformats.org/drawingml/2006/main">
            <a:r>
              <a:t>FUENTES Y LOCALIZADORES</a:t>
            </a:r>
          </a:p>
          <a:p xmlns:a="http://schemas.openxmlformats.org/drawingml/2006/main">
            <a:r>
              <a:t>S06, tabla de encuentros; S16, comunicado del 05/03/2025; S37, historia e imagen de trayectorias.</a:t>
            </a:r>
          </a:p>
          <a:p xmlns:a="http://schemas.openxmlformats.org/drawingml/2006/main">
            <a:r>
              <a:t/>
            </a:r>
          </a:p>
          <a:p xmlns:a="http://schemas.openxmlformats.org/drawingml/2006/main">
            <a:r>
              <a:t>S06: Voyager Fact Sheet</a:t>
            </a:r>
          </a:p>
          <a:p xmlns:a="http://schemas.openxmlformats.org/drawingml/2006/main">
            <a:r>
              <a:t>https://science.nasa.gov/mission/voyager/fact-sheet/</a:t>
            </a:r>
          </a:p>
          <a:p xmlns:a="http://schemas.openxmlformats.org/drawingml/2006/main">
            <a:r>
              <a:t/>
            </a:r>
          </a:p>
          <a:p xmlns:a="http://schemas.openxmlformats.org/drawingml/2006/main">
            <a:r>
              <a:t>S16: NASA Turns Off 2 Voyager Science Instruments</a:t>
            </a:r>
          </a:p>
          <a:p xmlns:a="http://schemas.openxmlformats.org/drawingml/2006/main">
            <a:r>
              <a:t>https://science.nasa.gov/blogs/voyager/2025/03/05/nasa-turns-off-2-voyager-science-instruments-to-extend-mission/</a:t>
            </a:r>
          </a:p>
          <a:p xmlns:a="http://schemas.openxmlformats.org/drawingml/2006/main">
            <a:r>
              <a:t/>
            </a:r>
          </a:p>
          <a:p xmlns:a="http://schemas.openxmlformats.org/drawingml/2006/main">
            <a:r>
              <a:t>S29: The Voyage to Interstellar Space</a:t>
            </a:r>
          </a:p>
          <a:p xmlns:a="http://schemas.openxmlformats.org/drawingml/2006/main">
            <a:r>
              <a:t>https://www.nasa.gov/solar-system/the-voyage-to-interstellar-space/</a:t>
            </a:r>
          </a:p>
          <a:p xmlns:a="http://schemas.openxmlformats.org/drawingml/2006/main">
            <a:r>
              <a:t/>
            </a:r>
          </a:p>
          <a:p xmlns:a="http://schemas.openxmlformats.org/drawingml/2006/main">
            <a:r>
              <a:t>S37: 45 Years Ago: Voyager 1 Begins its Epic Journey to the Outer Planets and Beyond</a:t>
            </a:r>
          </a:p>
          <a:p xmlns:a="http://schemas.openxmlformats.org/drawingml/2006/main">
            <a:r>
              <a:t>https://www.nasa.gov/history/45-years-ago-voyager-1-begins-its-epic-journey-to-the-outer-planets-and-beyond/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0:45</a:t>
            </a:r>
          </a:p>
          <a:p xmlns:a="http://schemas.openxmlformats.org/drawingml/2006/main">
            <a:r>
              <a:t/>
            </a:r>
          </a:p>
          <a:p xmlns:a="http://schemas.openxmlformats.org/drawingml/2006/main">
            <a:r>
              <a:t>APOYO ORAL</a:t>
            </a:r>
          </a:p>
          <a:p xmlns:a="http://schemas.openxmlformats.org/drawingml/2006/main">
            <a:r>
              <a:t>Vamos a distinguir tres situaciones: viajar entre planetas, atravesar una magnetósfera y explorar más allá de la heliopausa. No son compartimentos sin mezcla. En Júpiter se agregan poblaciones atrapadas muy intensas. Después de la heliopausa cambia el balance entre partículas solares y galácticas. También existen impactos, problemas térmicos y limitaciones de energía, pero el alcance de esta charla es electrónico.</a:t>
            </a:r>
          </a:p>
          <a:p xmlns:a="http://schemas.openxmlformats.org/drawingml/2006/main">
            <a:r>
              <a:t/>
            </a:r>
          </a:p>
          <a:p xmlns:a="http://schemas.openxmlformats.org/drawingml/2006/main">
            <a:r>
              <a:t>FIGURA Y ALCANCE</a:t>
            </a:r>
          </a:p>
          <a:p xmlns:a="http://schemas.openxmlformats.org/drawingml/2006/main">
            <a:r>
              <a:t>La frontera señalada corresponde al plasma y los campos heliosféricos, no al límite de la gravedad solar.</a:t>
            </a:r>
          </a:p>
          <a:p xmlns:a="http://schemas.openxmlformats.org/drawingml/2006/main">
            <a:r>
              <a:t>Heliosfera y medio interestelar · NASA</a:t>
            </a:r>
          </a:p>
          <a:p xmlns:a="http://schemas.openxmlformats.org/drawingml/2006/main">
            <a:r>
              <a:t>NASA, historia de Voyager 1 (S37)</a:t>
            </a:r>
          </a:p>
          <a:p xmlns:a="http://schemas.openxmlformats.org/drawingml/2006/main">
            <a:r>
              <a:t>https://www.nasa.gov/wp-content/uploads/2022/09/voyager_1_14_interstellar_mission.jpg</a:t>
            </a:r>
          </a:p>
          <a:p xmlns:a="http://schemas.openxmlformats.org/drawingml/2006/main">
            <a:r>
              <a:t/>
            </a:r>
          </a:p>
          <a:p xmlns:a="http://schemas.openxmlformats.org/drawingml/2006/main">
            <a:r>
              <a:t>FUENTES Y LOCALIZADORES</a:t>
            </a:r>
          </a:p>
          <a:p xmlns:a="http://schemas.openxmlformats.org/drawingml/2006/main">
            <a:r>
              <a:t>S01, §II; S25, §4; S29, transición a espacio interestelar.</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S25: NASA HDBK 4002B Mitigating In Space Charging Effects</a:t>
            </a:r>
          </a:p>
          <a:p xmlns:a="http://schemas.openxmlformats.org/drawingml/2006/main">
            <a:r>
              <a:t>https://standards.nasa.gov/sites/default/files/standards/NASA/B/0/2022-06-07-NASA-HDBK-4002B-Approved.pdf</a:t>
            </a:r>
          </a:p>
          <a:p xmlns:a="http://schemas.openxmlformats.org/drawingml/2006/main">
            <a:r>
              <a:t/>
            </a:r>
          </a:p>
          <a:p xmlns:a="http://schemas.openxmlformats.org/drawingml/2006/main">
            <a:r>
              <a:t>S29: The Voyage to Interstellar Space</a:t>
            </a:r>
          </a:p>
          <a:p xmlns:a="http://schemas.openxmlformats.org/drawingml/2006/main">
            <a:r>
              <a:t>https://www.nasa.gov/solar-system/the-voyage-to-interstellar-space/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0:55</a:t>
            </a:r>
          </a:p>
          <a:p xmlns:a="http://schemas.openxmlformats.org/drawingml/2006/main">
            <a:r>
              <a:t/>
            </a:r>
          </a:p>
          <a:p xmlns:a="http://schemas.openxmlformats.org/drawingml/2006/main">
            <a:r>
              <a:t>APOYO ORAL</a:t>
            </a:r>
          </a:p>
          <a:p xmlns:a="http://schemas.openxmlformats.org/drawingml/2006/main">
            <a:r>
              <a:t>La fuente nos dice de dónde viene la radiación, pero todavía no qué partícula llega al circuito. Las cuatro fuentes se superponen. En Júpiter son decisivos los electrones atrapados; lejos de la heliosfera aumenta la importancia de la población galáctica. Los RTG agregan neutrones y fotones considerados en el diseño, aunque su combustible libera principalmente partículas alfa que quedan detenidas localmente.</a:t>
            </a:r>
          </a:p>
          <a:p xmlns:a="http://schemas.openxmlformats.org/drawingml/2006/main">
            <a:r>
              <a:t/>
            </a:r>
          </a:p>
          <a:p xmlns:a="http://schemas.openxmlformats.org/drawingml/2006/main">
            <a:r>
              <a:t>FIGURA Y ALCANCE</a:t>
            </a:r>
          </a:p>
          <a:p xmlns:a="http://schemas.openxmlformats.org/drawingml/2006/main">
            <a:r>
              <a:t>Imagen de contexto de los cinturones jovianos. Las cuatro fuentes se explican en el texto y la tabla del dossier.</a:t>
            </a:r>
          </a:p>
          <a:p xmlns:a="http://schemas.openxmlformats.org/drawingml/2006/main">
            <a:r>
              <a:t>Cinturones de Júpiter · NASA/JPL</a:t>
            </a:r>
          </a:p>
          <a:p xmlns:a="http://schemas.openxmlformats.org/drawingml/2006/main">
            <a:r>
              <a:t>Recorte ya existente de imagen NASA/JPL/Cassini</a:t>
            </a:r>
          </a:p>
          <a:p xmlns:a="http://schemas.openxmlformats.org/drawingml/2006/main">
            <a:r>
              <a:t>https://science.nasa.gov/photojournal/inner-radiation-belts-of-jupiter/</a:t>
            </a:r>
          </a:p>
          <a:p xmlns:a="http://schemas.openxmlformats.org/drawingml/2006/main">
            <a:r>
              <a:t/>
            </a:r>
          </a:p>
          <a:p xmlns:a="http://schemas.openxmlformats.org/drawingml/2006/main">
            <a:r>
              <a:t>FUENTES Y LOCALIZADORES</a:t>
            </a:r>
          </a:p>
          <a:p xmlns:a="http://schemas.openxmlformats.org/drawingml/2006/main">
            <a:r>
              <a:t>S01, §II y tabla 2-1; S17, composición galáctica; S38, RTG; S39, partículas solares.</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S17: Cosmic Rays Introduction NASA GSFC</a:t>
            </a:r>
          </a:p>
          <a:p xmlns:a="http://schemas.openxmlformats.org/drawingml/2006/main">
            <a:r>
              <a:t>https://imagine.gsfc.nasa.gov/science/toolbox/cosmic_rays1_orig.html</a:t>
            </a:r>
          </a:p>
          <a:p xmlns:a="http://schemas.openxmlformats.org/drawingml/2006/main">
            <a:r>
              <a:t/>
            </a:r>
          </a:p>
          <a:p xmlns:a="http://schemas.openxmlformats.org/drawingml/2006/main">
            <a:r>
              <a:t>S29: The Voyage to Interstellar Space</a:t>
            </a:r>
          </a:p>
          <a:p xmlns:a="http://schemas.openxmlformats.org/drawingml/2006/main">
            <a:r>
              <a:t>https://www.nasa.gov/solar-system/the-voyage-to-interstellar-space/</a:t>
            </a:r>
          </a:p>
          <a:p xmlns:a="http://schemas.openxmlformats.org/drawingml/2006/main">
            <a:r>
              <a:t/>
            </a:r>
          </a:p>
          <a:p xmlns:a="http://schemas.openxmlformats.org/drawingml/2006/main">
            <a:r>
              <a:t>S38: NASA Voyager Spacecraft: RTG and subsystems</a:t>
            </a:r>
          </a:p>
          <a:p xmlns:a="http://schemas.openxmlformats.org/drawingml/2006/main">
            <a:r>
              <a:t>https://science.nasa.gov/mission/voyager/spacecraft/</a:t>
            </a:r>
          </a:p>
          <a:p xmlns:a="http://schemas.openxmlformats.org/drawingml/2006/main">
            <a:r>
              <a:t/>
            </a:r>
          </a:p>
          <a:p xmlns:a="http://schemas.openxmlformats.org/drawingml/2006/main">
            <a:r>
              <a:t>S39: NASA Space Radiation: What is space radiation?</a:t>
            </a:r>
          </a:p>
          <a:p xmlns:a="http://schemas.openxmlformats.org/drawingml/2006/main">
            <a:r>
              <a:t>https://srag.jsc.nasa.gov/SpaceRadiation/What/What.cfm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1:10</a:t>
            </a:r>
          </a:p>
          <a:p xmlns:a="http://schemas.openxmlformats.org/drawingml/2006/main">
            <a:r>
              <a:t/>
            </a:r>
          </a:p>
          <a:p xmlns:a="http://schemas.openxmlformats.org/drawingml/2006/main">
            <a:r>
              <a:t>APOYO ORAL</a:t>
            </a:r>
          </a:p>
          <a:p xmlns:a="http://schemas.openxmlformats.org/drawingml/2006/main">
            <a:r>
              <a:t>Un protón es un núcleo de hidrógeno y una alfa es un núcleo de helio. Beta designa electrones o positrones emitidos en ciertos decaimientos; no vamos a llamar beta a cualquier electrón espacial. Gamma y rayos X son fotones, sin carga eléctrica. Los neutrones tampoco tienen carga, pero pueden transferir energía a núcleos y producir secundarios. Lo que altera el circuito es cómo se deposita esa energía y qué portadores o defectos quedan.</a:t>
            </a:r>
          </a:p>
          <a:p xmlns:a="http://schemas.openxmlformats.org/drawingml/2006/main">
            <a:r>
              <a:t/>
            </a:r>
          </a:p>
          <a:p xmlns:a="http://schemas.openxmlformats.org/drawingml/2006/main">
            <a:r>
              <a:t>FIGURA Y ALCANCE</a:t>
            </a:r>
          </a:p>
          <a:p xmlns:a="http://schemas.openxmlformats.org/drawingml/2006/main">
            <a:r>
              <a:t>Tabla editable de especies, carga y forma de interacción; no hace falta una imagen decorativa.</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S21, pp. 9 y 15-17; S23, física de interacción; S28, energía por par; S40, interacción de partículas y fotones.</a:t>
            </a:r>
          </a:p>
          <a:p xmlns:a="http://schemas.openxmlformats.org/drawingml/2006/main">
            <a:r>
              <a:t/>
            </a:r>
          </a:p>
          <a:p xmlns:a="http://schemas.openxmlformats.org/drawingml/2006/main">
            <a:r>
              <a:t>S17: Cosmic Rays Introduction NASA GSFC</a:t>
            </a:r>
          </a:p>
          <a:p xmlns:a="http://schemas.openxmlformats.org/drawingml/2006/main">
            <a:r>
              <a:t>https://imagine.gsfc.nasa.gov/science/toolbox/cosmic_rays1_orig.html</a:t>
            </a:r>
          </a:p>
          <a:p xmlns:a="http://schemas.openxmlformats.org/drawingml/2006/main">
            <a:r>
              <a:t/>
            </a:r>
          </a:p>
          <a:p xmlns:a="http://schemas.openxmlformats.org/drawingml/2006/main">
            <a:r>
              <a:t>S21: Radiation Effects on Electronics 101 Kenneth LaBel</a:t>
            </a:r>
          </a:p>
          <a:p xmlns:a="http://schemas.openxmlformats.org/drawingml/2006/main">
            <a:r>
              <a:t>https://nepp.nasa.gov/DocUploads/392333B0-7A48-4A04-A3A72B0B1DD73343/Rad_Effects_101_WebEx.pdf</a:t>
            </a:r>
          </a:p>
          <a:p xmlns:a="http://schemas.openxmlformats.org/drawingml/2006/main">
            <a:r>
              <a:t/>
            </a:r>
          </a:p>
          <a:p xmlns:a="http://schemas.openxmlformats.org/drawingml/2006/main">
            <a:r>
              <a:t>S23: JPL ASIC Guide Appendix Three</a:t>
            </a:r>
          </a:p>
          <a:p xmlns:a="http://schemas.openxmlformats.org/drawingml/2006/main">
            <a:r>
              <a:t>https://parts.jpl.nasa.gov/asic/Appendix.3.html</a:t>
            </a:r>
          </a:p>
          <a:p xmlns:a="http://schemas.openxmlformats.org/drawingml/2006/main">
            <a:r>
              <a:t/>
            </a:r>
          </a:p>
          <a:p xmlns:a="http://schemas.openxmlformats.org/drawingml/2006/main">
            <a:r>
              <a:t>S28: CREME MC Sensitive Volumes Vanderbilt</a:t>
            </a:r>
          </a:p>
          <a:p xmlns:a="http://schemas.openxmlformats.org/drawingml/2006/main">
            <a:r>
              <a:t>https://creme.isde.vanderbilt.edu/CREME-MC/help/sensitive-volumes</a:t>
            </a:r>
          </a:p>
          <a:p xmlns:a="http://schemas.openxmlformats.org/drawingml/2006/main">
            <a:r>
              <a:t/>
            </a:r>
          </a:p>
          <a:p xmlns:a="http://schemas.openxmlformats.org/drawingml/2006/main">
            <a:r>
              <a:t>S40: NASA THREE: Interactions of Radiation with Matter</a:t>
            </a:r>
          </a:p>
          <a:p xmlns:a="http://schemas.openxmlformats.org/drawingml/2006/main">
            <a:r>
              <a:t>https://three.jsc.nasa.gov/Encyclopedia/Article/4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1:15</a:t>
            </a:r>
          </a:p>
          <a:p xmlns:a="http://schemas.openxmlformats.org/drawingml/2006/main">
            <a:r>
              <a:t/>
            </a:r>
          </a:p>
          <a:p xmlns:a="http://schemas.openxmlformats.org/drawingml/2006/main">
            <a:r>
              <a:t>APOYO ORAL</a:t>
            </a:r>
          </a:p>
          <a:p xmlns:a="http://schemas.openxmlformats.org/drawingml/2006/main">
            <a:r>
              <a:t>Nos quedamos con cuatro características: tipo, energía, flujo y dosis. El flujo se expresa por área y tiempo. Si lo acumulamos obtenemos fluencia, que todavía no es dosis: falta saber cuánto se deposita y en qué masa. Una partícula muy energética puede atravesar el equipo y dejar solo parte de su energía. El blindaje cambia el espectro y también puede generar radiación secundaria. Para comparar dosis hay que indicar el material, por ejemplo silicio.</a:t>
            </a:r>
          </a:p>
          <a:p xmlns:a="http://schemas.openxmlformats.org/drawingml/2006/main">
            <a:r>
              <a:t/>
            </a:r>
          </a:p>
          <a:p xmlns:a="http://schemas.openxmlformats.org/drawingml/2006/main">
            <a:r>
              <a:t>FIGURA Y ALCANCE</a:t>
            </a:r>
          </a:p>
          <a:p xmlns:a="http://schemas.openxmlformats.org/drawingml/2006/main">
            <a:r>
              <a:t>Tabla editable: tipo / energía / flujo / dosis; una aclaración breve distingue fluencia.</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S21, pp. 9, 15-17 y 59-60; S28, pares en silicio; S40, transporte de radiación.</a:t>
            </a:r>
          </a:p>
          <a:p xmlns:a="http://schemas.openxmlformats.org/drawingml/2006/main">
            <a:r>
              <a:t/>
            </a:r>
          </a:p>
          <a:p xmlns:a="http://schemas.openxmlformats.org/drawingml/2006/main">
            <a:r>
              <a:t>S21: Radiation Effects on Electronics 101 Kenneth LaBel</a:t>
            </a:r>
          </a:p>
          <a:p xmlns:a="http://schemas.openxmlformats.org/drawingml/2006/main">
            <a:r>
              <a:t>https://nepp.nasa.gov/DocUploads/392333B0-7A48-4A04-A3A72B0B1DD73343/Rad_Effects_101_WebEx.pdf</a:t>
            </a:r>
          </a:p>
          <a:p xmlns:a="http://schemas.openxmlformats.org/drawingml/2006/main">
            <a:r>
              <a:t/>
            </a:r>
          </a:p>
          <a:p xmlns:a="http://schemas.openxmlformats.org/drawingml/2006/main">
            <a:r>
              <a:t>S28: CREME MC Sensitive Volumes Vanderbilt</a:t>
            </a:r>
          </a:p>
          <a:p xmlns:a="http://schemas.openxmlformats.org/drawingml/2006/main">
            <a:r>
              <a:t>https://creme.isde.vanderbilt.edu/CREME-MC/help/sensitive-volumes</a:t>
            </a:r>
          </a:p>
          <a:p xmlns:a="http://schemas.openxmlformats.org/drawingml/2006/main">
            <a:r>
              <a:t/>
            </a:r>
          </a:p>
          <a:p xmlns:a="http://schemas.openxmlformats.org/drawingml/2006/main">
            <a:r>
              <a:t>S32: JPL Horizons API Documentation</a:t>
            </a:r>
          </a:p>
          <a:p xmlns:a="http://schemas.openxmlformats.org/drawingml/2006/main">
            <a:r>
              <a:t>https://ssd-api.jpl.nasa.gov/doc/horizons.html</a:t>
            </a:r>
          </a:p>
          <a:p xmlns:a="http://schemas.openxmlformats.org/drawingml/2006/main">
            <a:r>
              <a:t/>
            </a:r>
          </a:p>
          <a:p xmlns:a="http://schemas.openxmlformats.org/drawingml/2006/main">
            <a:r>
              <a:t>S40: NASA THREE: Interactions of Radiation with Matter</a:t>
            </a:r>
          </a:p>
          <a:p xmlns:a="http://schemas.openxmlformats.org/drawingml/2006/main">
            <a:r>
              <a:t>https://three.jsc.nasa.gov/Encyclopedia/Article/4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0:35</a:t>
            </a:r>
          </a:p>
          <a:p xmlns:a="http://schemas.openxmlformats.org/drawingml/2006/main">
            <a:r>
              <a:t/>
            </a:r>
          </a:p>
          <a:p xmlns:a="http://schemas.openxmlformats.org/drawingml/2006/main">
            <a:r>
              <a:t>APOYO ORAL</a:t>
            </a:r>
          </a:p>
          <a:p xmlns:a="http://schemas.openxmlformats.org/drawingml/2006/main">
            <a:r>
              <a:t>El RTG convierte calor en electricidad. La estructura sostiene el equipo y también forma parte del material que la radiación atraviesa. Hay metales, aislantes, cables e instrumentos. Vamos a concentrarnos en electrónica, pero incluir sus dieléctricos e interconexiones: un problema puede empezar en un aislante y terminar alterando una entrada.</a:t>
            </a:r>
          </a:p>
          <a:p xmlns:a="http://schemas.openxmlformats.org/drawingml/2006/main">
            <a:r>
              <a:t/>
            </a:r>
          </a:p>
          <a:p xmlns:a="http://schemas.openxmlformats.org/drawingml/2006/main">
            <a:r>
              <a:t>FIGURA Y ALCANCE</a:t>
            </a:r>
          </a:p>
          <a:p xmlns:a="http://schemas.openxmlformats.org/drawingml/2006/main">
            <a:r>
              <a:t>Localizar RTG, antena, cuerpo central e instrumentos. No confundir instrumento con computadora.</a:t>
            </a:r>
          </a:p>
          <a:p xmlns:a="http://schemas.openxmlformats.org/drawingml/2006/main">
            <a:r>
              <a:t>Componentes e instrumentos · NASA</a:t>
            </a:r>
          </a:p>
          <a:p xmlns:a="http://schemas.openxmlformats.org/drawingml/2006/main">
            <a:r>
              <a:t>NASA, historia de Voyager 1 (S37)</a:t>
            </a:r>
          </a:p>
          <a:p xmlns:a="http://schemas.openxmlformats.org/drawingml/2006/main">
            <a:r>
              <a:t>https://www.nasa.gov/wp-content/uploads/2022/09/voyager_1_5_instruments.jpg</a:t>
            </a:r>
          </a:p>
          <a:p xmlns:a="http://schemas.openxmlformats.org/drawingml/2006/main">
            <a:r>
              <a:t/>
            </a:r>
          </a:p>
          <a:p xmlns:a="http://schemas.openxmlformats.org/drawingml/2006/main">
            <a:r>
              <a:t>FUENTES Y LOCALIZADORES</a:t>
            </a:r>
          </a:p>
          <a:p xmlns:a="http://schemas.openxmlformats.org/drawingml/2006/main">
            <a:r>
              <a:t>S03, pp. 15-20; S08, §5.C; S25, §4; S38, descripción RTG.</a:t>
            </a:r>
          </a:p>
          <a:p xmlns:a="http://schemas.openxmlformats.org/drawingml/2006/main">
            <a:r>
              <a:t/>
            </a:r>
          </a:p>
          <a:p xmlns:a="http://schemas.openxmlformats.org/drawingml/2006/main">
            <a:r>
              <a:t>S03: Voyager Backgrounder</a:t>
            </a:r>
          </a:p>
          <a:p xmlns:a="http://schemas.openxmlformats.org/drawingml/2006/main">
            <a:r>
              <a:t>https://ntrs.nasa.gov/api/citations/19810023559/downloads/19810023559.pdf</a:t>
            </a:r>
          </a:p>
          <a:p xmlns:a="http://schemas.openxmlformats.org/drawingml/2006/main">
            <a:r>
              <a:t/>
            </a:r>
          </a:p>
          <a:p xmlns:a="http://schemas.openxmlformats.org/drawingml/2006/main">
            <a:r>
              <a:t>S08: A Plasma Wave Investigation for the Voyager Mission</a:t>
            </a:r>
          </a:p>
          <a:p xmlns:a="http://schemas.openxmlformats.org/drawingml/2006/main">
            <a:r>
              <a:t>https://pds.nasa.gov/data/vg1-j-spice-6-spk-v2.0/vg_1501/document/pws/pwsinst.htm</a:t>
            </a:r>
          </a:p>
          <a:p xmlns:a="http://schemas.openxmlformats.org/drawingml/2006/main">
            <a:r>
              <a:t/>
            </a:r>
          </a:p>
          <a:p xmlns:a="http://schemas.openxmlformats.org/drawingml/2006/main">
            <a:r>
              <a:t>S25: NASA HDBK 4002B Mitigating In Space Charging Effects</a:t>
            </a:r>
          </a:p>
          <a:p xmlns:a="http://schemas.openxmlformats.org/drawingml/2006/main">
            <a:r>
              <a:t>https://standards.nasa.gov/sites/default/files/standards/NASA/B/0/2022-06-07-NASA-HDBK-4002B-Approved.pdf</a:t>
            </a:r>
          </a:p>
          <a:p xmlns:a="http://schemas.openxmlformats.org/drawingml/2006/main">
            <a:r>
              <a:t/>
            </a:r>
          </a:p>
          <a:p xmlns:a="http://schemas.openxmlformats.org/drawingml/2006/main">
            <a:r>
              <a:t>S38: NASA Voyager Spacecraft: RTG and subsystems</a:t>
            </a:r>
          </a:p>
          <a:p xmlns:a="http://schemas.openxmlformats.org/drawingml/2006/main">
            <a:r>
              <a:t>https://science.nasa.gov/mission/voyager/spacecraft/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0:55</a:t>
            </a:r>
          </a:p>
          <a:p xmlns:a="http://schemas.openxmlformats.org/drawingml/2006/main">
            <a:r>
              <a:t/>
            </a:r>
          </a:p>
          <a:p xmlns:a="http://schemas.openxmlformats.org/drawingml/2006/main">
            <a:r>
              <a:t>APOYO ORAL</a:t>
            </a:r>
          </a:p>
          <a:p xmlns:a="http://schemas.openxmlformats.org/drawingml/2006/main">
            <a:r>
              <a:t>CCS maneja comandos; AACS, orientación y articulación; FDS organiza datos. En la arquitectura original hay pares de procesadores, pero su redundancia no funciona igual en todos los casos. CCS y AACS usan memoria plated-wire y el FDS adoptó procesador y memoria CMOS. El prototipo FDS usó TTL: no hay que trasladar ese dato a todas las computadoras de vuelo. La cinta sirve para almacenar datos, no reemplaza todas las memorias.</a:t>
            </a:r>
          </a:p>
          <a:p xmlns:a="http://schemas.openxmlformats.org/drawingml/2006/main">
            <a:r>
              <a:t/>
            </a:r>
          </a:p>
          <a:p xmlns:a="http://schemas.openxmlformats.org/drawingml/2006/main">
            <a:r>
              <a:t>FIGURA Y ALCANCE</a:t>
            </a:r>
          </a:p>
          <a:p xmlns:a="http://schemas.openxmlformats.org/drawingml/2006/main">
            <a:r>
              <a:t>Fotografía de S04, figura 6-2. No identifica la instalación de ese número de serie en V1 o V2.</a:t>
            </a:r>
          </a:p>
          <a:p xmlns:a="http://schemas.openxmlformats.org/drawingml/2006/main">
            <a:r>
              <a:t>Hardware FDS · JPL, foto 360-751AC</a:t>
            </a:r>
          </a:p>
          <a:p xmlns:a="http://schemas.openxmlformats.org/drawingml/2006/main">
            <a:r>
              <a:t>S04, fig. 6-2 p. 181; JPL foto 360-751AC</a:t>
            </a:r>
          </a:p>
          <a:p xmlns:a="http://schemas.openxmlformats.org/drawingml/2006/main">
            <a:r>
              <a:t>https://ntrs.nasa.gov/api/citations/19880069935/downloads/19880069935_Optimized.pdf</a:t>
            </a:r>
          </a:p>
          <a:p xmlns:a="http://schemas.openxmlformats.org/drawingml/2006/main">
            <a:r>
              <a:t/>
            </a:r>
          </a:p>
          <a:p xmlns:a="http://schemas.openxmlformats.org/drawingml/2006/main">
            <a:r>
              <a:t>FUENTES Y LOCALIZADORES</a:t>
            </a:r>
          </a:p>
          <a:p xmlns:a="http://schemas.openxmlformats.org/drawingml/2006/main">
            <a:r>
              <a:t>S04, fig. 6-2 p. 181 y pp. 182-184; S03, pp. 16-20; S01, §VI.B; S41, grabador.</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S03: Voyager Backgrounder</a:t>
            </a:r>
          </a:p>
          <a:p xmlns:a="http://schemas.openxmlformats.org/drawingml/2006/main">
            <a:r>
              <a:t>https://ntrs.nasa.gov/api/citations/19810023559/downloads/19810023559.pdf</a:t>
            </a:r>
          </a:p>
          <a:p xmlns:a="http://schemas.openxmlformats.org/drawingml/2006/main">
            <a:r>
              <a:t/>
            </a:r>
          </a:p>
          <a:p xmlns:a="http://schemas.openxmlformats.org/drawingml/2006/main">
            <a:r>
              <a:t>S04: Computers in Spaceflight The NASA Experience</a:t>
            </a:r>
          </a:p>
          <a:p xmlns:a="http://schemas.openxmlformats.org/drawingml/2006/main">
            <a:r>
              <a:t>https://ntrs.nasa.gov/api/citations/19880069935/downloads/19880069935_Optimized.pdf</a:t>
            </a:r>
          </a:p>
          <a:p xmlns:a="http://schemas.openxmlformats.org/drawingml/2006/main">
            <a:r>
              <a:t/>
            </a:r>
          </a:p>
          <a:p xmlns:a="http://schemas.openxmlformats.org/drawingml/2006/main">
            <a:r>
              <a:t>S05: Voyager Frequently Asked Questions</a:t>
            </a:r>
          </a:p>
          <a:p xmlns:a="http://schemas.openxmlformats.org/drawingml/2006/main">
            <a:r>
              <a:t>https://science.nasa.gov/mission/voyager/frequently-asked-questions/</a:t>
            </a:r>
          </a:p>
          <a:p xmlns:a="http://schemas.openxmlformats.org/drawingml/2006/main">
            <a:r>
              <a:t/>
            </a:r>
          </a:p>
          <a:p xmlns:a="http://schemas.openxmlformats.org/drawingml/2006/main">
            <a:r>
              <a:t>S41: NASA Images of Voyager: digital tape recorder</a:t>
            </a:r>
          </a:p>
          <a:p xmlns:a="http://schemas.openxmlformats.org/drawingml/2006/main">
            <a:r>
              <a:t>https://science.nasa.gov/gallery/images-of-voyager/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0:45</a:t>
            </a:r>
          </a:p>
          <a:p xmlns:a="http://schemas.openxmlformats.org/drawingml/2006/main">
            <a:r>
              <a:t/>
            </a:r>
          </a:p>
          <a:p xmlns:a="http://schemas.openxmlformats.org/drawingml/2006/main">
            <a:r>
              <a:t>APOYO ORAL</a:t>
            </a:r>
          </a:p>
          <a:p xmlns:a="http://schemas.openxmlformats.org/drawingml/2006/main">
            <a:r>
              <a:t>El programa ensayó redes Dale de película metálica y no detectó cambios de resistencia dentro del error informado. Eso no vuelve inmune a todo el circuito: el soporte o los aislantes pueden conducir más y la resistencia convierte esa corriente en tensión. Un ejemplo real es la entrada de antena del PWS, donde una resistencia a masa limita el potencial de carga.</a:t>
            </a:r>
          </a:p>
          <a:p xmlns:a="http://schemas.openxmlformats.org/drawingml/2006/main">
            <a:r>
              <a:t/>
            </a:r>
          </a:p>
          <a:p xmlns:a="http://schemas.openxmlformats.org/drawingml/2006/main">
            <a:r>
              <a:t>FIGURA Y ALCANCE</a:t>
            </a:r>
          </a:p>
          <a:p xmlns:a="http://schemas.openxmlformats.org/drawingml/2006/main">
            <a:r>
              <a:t>Ejemplo editable: 4 µA × 20 MΩ = 80 V. La copia del ensayo de pasivos está en imagen 09 para consulta.</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S01, §VII.H.2 p. 7-53 / PDF 151; S08, §5.G; S25, §4.1.</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S08: A Plasma Wave Investigation for the Voyager Mission</a:t>
            </a:r>
          </a:p>
          <a:p xmlns:a="http://schemas.openxmlformats.org/drawingml/2006/main">
            <a:r>
              <a:t>https://pds.nasa.gov/data/vg1-j-spice-6-spk-v2.0/vg_1501/document/pws/pwsinst.htm</a:t>
            </a:r>
          </a:p>
          <a:p xmlns:a="http://schemas.openxmlformats.org/drawingml/2006/main">
            <a:r>
              <a:t/>
            </a:r>
          </a:p>
          <a:p xmlns:a="http://schemas.openxmlformats.org/drawingml/2006/main">
            <a:r>
              <a:t>S24: Radiation Effects and Analysis Lessons Wyrwas Wilcox</a:t>
            </a:r>
          </a:p>
          <a:p xmlns:a="http://schemas.openxmlformats.org/drawingml/2006/main">
            <a:r>
              <a:t>https://nepp.nasa.gov/docs/etw/2022/16-JUN-THU/1600-Wyrwas-20220002512.pdf</a:t>
            </a:r>
          </a:p>
          <a:p xmlns:a="http://schemas.openxmlformats.org/drawingml/2006/main">
            <a:r>
              <a:t/>
            </a:r>
          </a:p>
          <a:p xmlns:a="http://schemas.openxmlformats.org/drawingml/2006/main">
            <a:r>
              <a:t>S25: NASA HDBK 4002B Mitigating In Space Charging Effects</a:t>
            </a:r>
          </a:p>
          <a:p xmlns:a="http://schemas.openxmlformats.org/drawingml/2006/main">
            <a:r>
              <a:t>https://standards.nasa.gov/sites/default/files/standards/NASA/B/0/2022-06-07-NASA-HDBK-4002B-Approved.pdf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0:55</a:t>
            </a:r>
          </a:p>
          <a:p xmlns:a="http://schemas.openxmlformats.org/drawingml/2006/main">
            <a:r>
              <a:t/>
            </a:r>
          </a:p>
          <a:p xmlns:a="http://schemas.openxmlformats.org/drawingml/2006/main">
            <a:r>
              <a:t>APOYO ORAL</a:t>
            </a:r>
          </a:p>
          <a:p xmlns:a="http://schemas.openxmlformats.org/drawingml/2006/main">
            <a:r>
              <a:t>Un capacitor real se puede pensar como una capacitancia con un camino de fuga en paralelo. La radiación puede modificar ese camino sin cambiar mucho C. Voyager ensayó capacitores B11B de teflón con variaciones pequeñas de capacitancia. El resultado es específico: no prueba que todos sus capacitores fueran de teflón ni que la fuga fuera siempre despreciable.</a:t>
            </a:r>
          </a:p>
          <a:p xmlns:a="http://schemas.openxmlformats.org/drawingml/2006/main">
            <a:r>
              <a:t/>
            </a:r>
          </a:p>
          <a:p xmlns:a="http://schemas.openxmlformats.org/drawingml/2006/main">
            <a:r>
              <a:t>FIGURA Y ALCANCE</a:t>
            </a:r>
          </a:p>
          <a:p xmlns:a="http://schemas.openxmlformats.org/drawingml/2006/main">
            <a:r>
              <a:t>Modelo editable de C y fuga; ejemplo de constantes de tiempo. Imagen 09 conserva el ensayo original.</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S01, §VII.H.1 p. 7-53 / PDF 151; S08, §5.G; S24, PDF 49.</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S03: Voyager Backgrounder</a:t>
            </a:r>
          </a:p>
          <a:p xmlns:a="http://schemas.openxmlformats.org/drawingml/2006/main">
            <a:r>
              <a:t>https://ntrs.nasa.gov/api/citations/19810023559/downloads/19810023559.pdf</a:t>
            </a:r>
          </a:p>
          <a:p xmlns:a="http://schemas.openxmlformats.org/drawingml/2006/main">
            <a:r>
              <a:t/>
            </a:r>
          </a:p>
          <a:p xmlns:a="http://schemas.openxmlformats.org/drawingml/2006/main">
            <a:r>
              <a:t>S08: A Plasma Wave Investigation for the Voyager Mission</a:t>
            </a:r>
          </a:p>
          <a:p xmlns:a="http://schemas.openxmlformats.org/drawingml/2006/main">
            <a:r>
              <a:t>https://pds.nasa.gov/data/vg1-j-spice-6-spk-v2.0/vg_1501/document/pws/pwsinst.htm</a:t>
            </a:r>
          </a:p>
          <a:p xmlns:a="http://schemas.openxmlformats.org/drawingml/2006/main">
            <a:r>
              <a:t/>
            </a:r>
          </a:p>
          <a:p xmlns:a="http://schemas.openxmlformats.org/drawingml/2006/main">
            <a:r>
              <a:t>S24: Radiation Effects and Analysis Lessons Wyrwas Wilcox</a:t>
            </a:r>
          </a:p>
          <a:p xmlns:a="http://schemas.openxmlformats.org/drawingml/2006/main">
            <a:r>
              <a:t>https://nepp.nasa.gov/docs/etw/2022/16-JUN-THU/1600-Wyrwas-20220002512.pdf</a:t>
            </a:r>
          </a:p>
          <a:p xmlns:a="http://schemas.openxmlformats.org/drawingml/2006/main">
            <a:r>
              <a:t/>
            </a:r>
          </a:p>
          <a:p xmlns:a="http://schemas.openxmlformats.org/drawingml/2006/main">
            <a:r>
              <a:t>S25: NASA HDBK 4002B Mitigating In Space Charging Effects</a:t>
            </a:r>
          </a:p>
          <a:p xmlns:a="http://schemas.openxmlformats.org/drawingml/2006/main">
            <a:r>
              <a:t>https://standards.nasa.gov/sites/default/files/standards/NASA/B/0/2022-06-07-NASA-HDBK-4002B-Approved.pdf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0:50</a:t>
            </a:r>
          </a:p>
          <a:p xmlns:a="http://schemas.openxmlformats.org/drawingml/2006/main">
            <a:r>
              <a:t/>
            </a:r>
          </a:p>
          <a:p xmlns:a="http://schemas.openxmlformats.org/drawingml/2006/main">
            <a:r>
              <a:t>APOYO ORAL</a:t>
            </a:r>
          </a:p>
          <a:p xmlns:a="http://schemas.openxmlformats.org/drawingml/2006/main">
            <a:r>
              <a:t>En un inductor distinguimos cobre, aislante y núcleo; no hay que atribuirles el mismo mecanismo. Para Voyager no identificamos el barniz o el núcleo de cada magnético. Sí hay distribución de potencia con relés. Si la radiación altera un registro de mando, un relé sano puede obedecerlo. Las pistas, conectores y encapsulados también participan: una descarga puede viajar por ellos sin que el cobre se haya degradado.</a:t>
            </a:r>
          </a:p>
          <a:p xmlns:a="http://schemas.openxmlformats.org/drawingml/2006/main">
            <a:r>
              <a:t/>
            </a:r>
          </a:p>
          <a:p xmlns:a="http://schemas.openxmlformats.org/drawingml/2006/main">
            <a:r>
              <a:t>FIGURA Y ALCANCE</a:t>
            </a:r>
          </a:p>
          <a:p xmlns:a="http://schemas.openxmlformats.org/drawingml/2006/main">
            <a:r>
              <a:t>Diagrama funcional editable: mando → bobina → contactos → carga. No representa un plano de vuelo.</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S03, pp. 16-17; S08, §§5.C y 5.G; S25, §4.1; S26, §10.2.6.5.</a:t>
            </a:r>
          </a:p>
          <a:p xmlns:a="http://schemas.openxmlformats.org/drawingml/2006/main">
            <a:r>
              <a:t/>
            </a:r>
          </a:p>
          <a:p xmlns:a="http://schemas.openxmlformats.org/drawingml/2006/main">
            <a:r>
              <a:t>S03: Voyager Backgrounder</a:t>
            </a:r>
          </a:p>
          <a:p xmlns:a="http://schemas.openxmlformats.org/drawingml/2006/main">
            <a:r>
              <a:t>https://ntrs.nasa.gov/api/citations/19810023559/downloads/19810023559.pdf</a:t>
            </a:r>
          </a:p>
          <a:p xmlns:a="http://schemas.openxmlformats.org/drawingml/2006/main">
            <a:r>
              <a:t/>
            </a:r>
          </a:p>
          <a:p xmlns:a="http://schemas.openxmlformats.org/drawingml/2006/main">
            <a:r>
              <a:t>S08: A Plasma Wave Investigation for the Voyager Mission</a:t>
            </a:r>
          </a:p>
          <a:p xmlns:a="http://schemas.openxmlformats.org/drawingml/2006/main">
            <a:r>
              <a:t>https://pds.nasa.gov/data/vg1-j-spice-6-spk-v2.0/vg_1501/document/pws/pwsinst.htm</a:t>
            </a:r>
          </a:p>
          <a:p xmlns:a="http://schemas.openxmlformats.org/drawingml/2006/main">
            <a:r>
              <a:t/>
            </a:r>
          </a:p>
          <a:p xmlns:a="http://schemas.openxmlformats.org/drawingml/2006/main">
            <a:r>
              <a:t>S25: NASA HDBK 4002B Mitigating In Space Charging Effects</a:t>
            </a:r>
          </a:p>
          <a:p xmlns:a="http://schemas.openxmlformats.org/drawingml/2006/main">
            <a:r>
              <a:t>https://standards.nasa.gov/sites/default/files/standards/NASA/B/0/2022-06-07-NASA-HDBK-4002B-Approved.pdf</a:t>
            </a:r>
          </a:p>
          <a:p xmlns:a="http://schemas.openxmlformats.org/drawingml/2006/main">
            <a:r>
              <a:t/>
            </a:r>
          </a:p>
          <a:p xmlns:a="http://schemas.openxmlformats.org/drawingml/2006/main">
            <a:r>
              <a:t>S26: MIL HDBK 978B NASA Parts Application Handbook Volume 4</a:t>
            </a:r>
          </a:p>
          <a:p xmlns:a="http://schemas.openxmlformats.org/drawingml/2006/main">
            <a:r>
              <a:t>https://nepp.nasa.gov/files/21544/MIL-HDBK-978B_vol4.pdf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0:55</a:t>
            </a:r>
          </a:p>
          <a:p xmlns:a="http://schemas.openxmlformats.org/drawingml/2006/main">
            <a:r>
              <a:t/>
            </a:r>
          </a:p>
          <a:p xmlns:a="http://schemas.openxmlformats.org/drawingml/2006/main">
            <a:r>
              <a:t>APOYO ORAL</a:t>
            </a:r>
          </a:p>
          <a:p xmlns:a="http://schemas.openxmlformats.org/drawingml/2006/main">
            <a:r>
              <a:t>La región de agotamiento de una unión tiene un campo que separa portadores. Si la radiación genera pares allí o cerca, parte de esa carga llega a los terminales. Puede haber un pulso sin daño permanente; con defectos acumulados, puede aumentar la fuga. En un LED, mayor recombinación no radiativa puede reducir luz. En una pareja emisor-receptor interesa la respuesta de toda la cadena.</a:t>
            </a:r>
          </a:p>
          <a:p xmlns:a="http://schemas.openxmlformats.org/drawingml/2006/main">
            <a:r>
              <a:t/>
            </a:r>
          </a:p>
          <a:p xmlns:a="http://schemas.openxmlformats.org/drawingml/2006/main">
            <a:r>
              <a:t>FIGURA Y ALCANCE</a:t>
            </a:r>
          </a:p>
          <a:p xmlns:a="http://schemas.openxmlformats.org/drawingml/2006/main">
            <a:r>
              <a:t>Figura de principio, ajena al hardware Voyager. Identificar región de agotamiento y colección de portadores.</a:t>
            </a:r>
          </a:p>
          <a:p xmlns:a="http://schemas.openxmlformats.org/drawingml/2006/main">
            <a:r>
              <a:t>Sección de fotodiodo · Hamamatsu</a:t>
            </a:r>
          </a:p>
          <a:p xmlns:a="http://schemas.openxmlformats.org/drawingml/2006/main">
            <a:r>
              <a:t>Hamamatsu, Silicon photodiodes, figura de estructura</a:t>
            </a:r>
          </a:p>
          <a:p xmlns:a="http://schemas.openxmlformats.org/drawingml/2006/main">
            <a:r>
              <a:t>https://www.hamamatsu.com/content/dam/hamamatsu-photonics/sites/documents/99_SALES_LIBRARY/ssd/si_pd_kspd9001e.pdf</a:t>
            </a:r>
          </a:p>
          <a:p xmlns:a="http://schemas.openxmlformats.org/drawingml/2006/main">
            <a:r>
              <a:t/>
            </a:r>
          </a:p>
          <a:p xmlns:a="http://schemas.openxmlformats.org/drawingml/2006/main">
            <a:r>
              <a:t>FUENTES Y LOCALIZADORES</a:t>
            </a:r>
          </a:p>
          <a:p xmlns:a="http://schemas.openxmlformats.org/drawingml/2006/main">
            <a:r>
              <a:t>S01, §§VII.G.3 y VII.I, PDF 151-152; S09, daño en Júpiter; S35, §2.</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S09: Voyager CRS Instrument Problems</a:t>
            </a:r>
          </a:p>
          <a:p xmlns:a="http://schemas.openxmlformats.org/drawingml/2006/main">
            <a:r>
              <a:t>https://voyager.gsfc.nasa.gov/instrument_problems.html</a:t>
            </a:r>
          </a:p>
          <a:p xmlns:a="http://schemas.openxmlformats.org/drawingml/2006/main">
            <a:r>
              <a:t/>
            </a:r>
          </a:p>
          <a:p xmlns:a="http://schemas.openxmlformats.org/drawingml/2006/main">
            <a:r>
              <a:t>S21: Radiation Effects on Electronics 101 Kenneth LaBel</a:t>
            </a:r>
          </a:p>
          <a:p xmlns:a="http://schemas.openxmlformats.org/drawingml/2006/main">
            <a:r>
              <a:t>https://nepp.nasa.gov/DocUploads/392333B0-7A48-4A04-A3A72B0B1DD73343/Rad_Effects_101_WebEx.pdf</a:t>
            </a:r>
          </a:p>
          <a:p xmlns:a="http://schemas.openxmlformats.org/drawingml/2006/main">
            <a:r>
              <a:t/>
            </a:r>
          </a:p>
          <a:p xmlns:a="http://schemas.openxmlformats.org/drawingml/2006/main">
            <a:r>
              <a:t>S23: JPL ASIC Guide Appendix Three</a:t>
            </a:r>
          </a:p>
          <a:p xmlns:a="http://schemas.openxmlformats.org/drawingml/2006/main">
            <a:r>
              <a:t>https://parts.jpl.nasa.gov/asic/Appendix.3.html</a:t>
            </a:r>
          </a:p>
          <a:p xmlns:a="http://schemas.openxmlformats.org/drawingml/2006/main">
            <a:r>
              <a:t/>
            </a:r>
          </a:p>
          <a:p xmlns:a="http://schemas.openxmlformats.org/drawingml/2006/main">
            <a:r>
              <a:t>S35: Testing and Hardness Assurance Guidelines for Single Event Transients in Linear Devices</a:t>
            </a:r>
          </a:p>
          <a:p xmlns:a="http://schemas.openxmlformats.org/drawingml/2006/main">
            <a:r>
              <a:t>https://nepp.nasa.gov/docuploads/FE7A50F8-E974-462D-8642C727C445125F/SET_Linear05.pdf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1:40</a:t>
            </a:r>
          </a:p>
          <a:p xmlns:a="http://schemas.openxmlformats.org/drawingml/2006/main">
            <a:r>
              <a:t/>
            </a:r>
          </a:p>
          <a:p xmlns:a="http://schemas.openxmlformats.org/drawingml/2006/main">
            <a:r>
              <a:t>APOYO ORAL</a:t>
            </a:r>
          </a:p>
          <a:p xmlns:a="http://schemas.openxmlformats.org/drawingml/2006/main">
            <a:r>
              <a:t>En un NPN, el emisor inyecta electrones en una base delgada. Muchos llegan al colector y una parte se recombina. Si aparecen centros de recombinación, puede aumentar la corriente de base necesaria para sostener la corriente de colector. Por ejemplo, 10 mA con beta 100 necesitan 0,1 mA de base; con beta 50 necesitan 0,2 mA en el modelo activo. Eso no significa que cualquier corriente se reduzca siempre: hay que decir qué se mantiene fijo. El programa ensayó familias y fabricantes y diseñó con límites degradados. Además, una partícula puede provocar un pulso en una unión aunque no deje una pérdida permanente de ganancia.</a:t>
            </a:r>
          </a:p>
          <a:p xmlns:a="http://schemas.openxmlformats.org/drawingml/2006/main">
            <a:r>
              <a:t/>
            </a:r>
          </a:p>
          <a:p xmlns:a="http://schemas.openxmlformats.org/drawingml/2006/main">
            <a:r>
              <a:t>FIGURA Y ALCANCE</a:t>
            </a:r>
          </a:p>
          <a:p xmlns:a="http://schemas.openxmlformats.org/drawingml/2006/main">
            <a:r>
              <a:t>Sección general, no geometría de una pieza de vuelo. Explicar inyección, difusión, colección y recombinación.</a:t>
            </a:r>
          </a:p>
          <a:p xmlns:a="http://schemas.openxmlformats.org/drawingml/2006/main">
            <a:r>
              <a:t>Sección de TBJ · JPL</a:t>
            </a:r>
          </a:p>
          <a:p xmlns:a="http://schemas.openxmlformats.org/drawingml/2006/main">
            <a:r>
              <a:t>JPL Adell, S36, estructura bipolar</a:t>
            </a:r>
          </a:p>
          <a:p xmlns:a="http://schemas.openxmlformats.org/drawingml/2006/main">
            <a:r>
              <a:t>https://nepp.nasa.gov/files/25742/12_162_JPL_Adell_Hydrogen%20Contamination%20rec%201%207%2014.pdf</a:t>
            </a:r>
          </a:p>
          <a:p xmlns:a="http://schemas.openxmlformats.org/drawingml/2006/main">
            <a:r>
              <a:t/>
            </a:r>
          </a:p>
          <a:p xmlns:a="http://schemas.openxmlformats.org/drawingml/2006/main">
            <a:r>
              <a:t>FUENTES Y LOCALIZADORES</a:t>
            </a:r>
          </a:p>
          <a:p xmlns:a="http://schemas.openxmlformats.org/drawingml/2006/main">
            <a:r>
              <a:t>S01, §VII.B, figura 7-1 y §III; S36, §3.2 PDF 24-26; S35, §§2 y 4.</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S02: Voyager Electronic Parts Radiation Program Volume II</a:t>
            </a:r>
          </a:p>
          <a:p xmlns:a="http://schemas.openxmlformats.org/drawingml/2006/main">
            <a:r>
              <a:t>https://ntrs.nasa.gov/api/citations/19790006102/downloads/19790006102.pdf</a:t>
            </a:r>
          </a:p>
          <a:p xmlns:a="http://schemas.openxmlformats.org/drawingml/2006/main">
            <a:r>
              <a:t/>
            </a:r>
          </a:p>
          <a:p xmlns:a="http://schemas.openxmlformats.org/drawingml/2006/main">
            <a:r>
              <a:t>S23: JPL ASIC Guide Appendix Three</a:t>
            </a:r>
          </a:p>
          <a:p xmlns:a="http://schemas.openxmlformats.org/drawingml/2006/main">
            <a:r>
              <a:t>https://parts.jpl.nasa.gov/asic/Appendix.3.html</a:t>
            </a:r>
          </a:p>
          <a:p xmlns:a="http://schemas.openxmlformats.org/drawingml/2006/main">
            <a:r>
              <a:t/>
            </a:r>
          </a:p>
          <a:p xmlns:a="http://schemas.openxmlformats.org/drawingml/2006/main">
            <a:r>
              <a:t>S35: Testing and Hardness Assurance Guidelines for Single Event Transients in Linear Devices</a:t>
            </a:r>
          </a:p>
          <a:p xmlns:a="http://schemas.openxmlformats.org/drawingml/2006/main">
            <a:r>
              <a:t>https://nepp.nasa.gov/docuploads/FE7A50F8-E974-462D-8642C727C445125F/SET_Linear05.pdf</a:t>
            </a:r>
          </a:p>
          <a:p xmlns:a="http://schemas.openxmlformats.org/drawingml/2006/main">
            <a:r>
              <a:t/>
            </a:r>
          </a:p>
          <a:p xmlns:a="http://schemas.openxmlformats.org/drawingml/2006/main">
            <a:r>
              <a:t>S36: Hydrogen Contamination and Its Correlation with Enhanced Low-Dose-Rate Sensitivity</a:t>
            </a:r>
          </a:p>
          <a:p xmlns:a="http://schemas.openxmlformats.org/drawingml/2006/main">
            <a:r>
              <a:t>https://nepp.nasa.gov/files/25742/12_162_JPL_Adell_Hydrogen%20Contamination%20rec%201%207%2014.pdf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1:50</a:t>
            </a:r>
          </a:p>
          <a:p xmlns:a="http://schemas.openxmlformats.org/drawingml/2006/main">
            <a:r>
              <a:t/>
            </a:r>
          </a:p>
          <a:p xmlns:a="http://schemas.openxmlformats.org/drawingml/2006/main">
            <a:r>
              <a:t>APOYO ORAL</a:t>
            </a:r>
          </a:p>
          <a:p xmlns:a="http://schemas.openxmlformats.org/drawingml/2006/main">
            <a:r>
              <a:t>El JFET controla un canal mediante una juntura; el MOSFET lo hace a través de un aislante. En el óxido, la ionización genera pares: una parte se recombina y otra deja carga atrapada o estados de interfaz. Eso cambia el campo y la tensión necesaria para lograr una condición de canal. No todos los efectos tienen el mismo signo ni siempre reducen la corriente. CMOS combina transistores n y p, de modo que sus cambios afectan márgenes y consumo. En Voyager hay una decisión de fabricación muy concreta: modificar el recocido del óxido de 1100 a 950 °C en la familia CMOS RCA. Son temperaturas de fabricación, no de operación de la sonda.</a:t>
            </a:r>
          </a:p>
          <a:p xmlns:a="http://schemas.openxmlformats.org/drawingml/2006/main">
            <a:r>
              <a:t/>
            </a:r>
          </a:p>
          <a:p xmlns:a="http://schemas.openxmlformats.org/drawingml/2006/main">
            <a:r>
              <a:t>FIGURA Y ALCANCE</a:t>
            </a:r>
          </a:p>
          <a:p xmlns:a="http://schemas.openxmlformats.org/drawingml/2006/main">
            <a:r>
              <a:t>Identificar compuerta, óxido, canal y uniones. El dibujo ilustra conducción con V_G = 0 por carga positiva: es un caso posible, no una respuesta universal. No corresponde a una geometría Voyager.</a:t>
            </a:r>
          </a:p>
          <a:p xmlns:a="http://schemas.openxmlformats.org/drawingml/2006/main">
            <a:r>
              <a:t>Sección MOS · JPL</a:t>
            </a:r>
          </a:p>
          <a:p xmlns:a="http://schemas.openxmlformats.org/drawingml/2006/main">
            <a:r>
              <a:t>JPL ASIC Guide, S23</a:t>
            </a:r>
          </a:p>
          <a:p xmlns:a="http://schemas.openxmlformats.org/drawingml/2006/main">
            <a:r>
              <a:t>https://parts.jpl.nasa.gov/asic/Appendix.3.html</a:t>
            </a:r>
          </a:p>
          <a:p xmlns:a="http://schemas.openxmlformats.org/drawingml/2006/main">
            <a:r>
              <a:t/>
            </a:r>
          </a:p>
          <a:p xmlns:a="http://schemas.openxmlformats.org/drawingml/2006/main">
            <a:r>
              <a:t>FUENTES Y LOCALIZADORES</a:t>
            </a:r>
          </a:p>
          <a:p xmlns:a="http://schemas.openxmlformats.org/drawingml/2006/main">
            <a:r>
              <a:t>S01, §VI.B PDF 81-83 y §VII.C; S22, TID e Interface Traps; S23, estructuras y física.</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S02: Voyager Electronic Parts Radiation Program Volume II</a:t>
            </a:r>
          </a:p>
          <a:p xmlns:a="http://schemas.openxmlformats.org/drawingml/2006/main">
            <a:r>
              <a:t>https://ntrs.nasa.gov/api/citations/19790006102/downloads/19790006102.pdf</a:t>
            </a:r>
          </a:p>
          <a:p xmlns:a="http://schemas.openxmlformats.org/drawingml/2006/main">
            <a:r>
              <a:t/>
            </a:r>
          </a:p>
          <a:p xmlns:a="http://schemas.openxmlformats.org/drawingml/2006/main">
            <a:r>
              <a:t>S22: JPL ASIC Guide Design for Radiation Tolerance</a:t>
            </a:r>
          </a:p>
          <a:p xmlns:a="http://schemas.openxmlformats.org/drawingml/2006/main">
            <a:r>
              <a:t>https://parts.jpl.nasa.gov/asic/Sect.3.4.html</a:t>
            </a:r>
          </a:p>
          <a:p xmlns:a="http://schemas.openxmlformats.org/drawingml/2006/main">
            <a:r>
              <a:t/>
            </a:r>
          </a:p>
          <a:p xmlns:a="http://schemas.openxmlformats.org/drawingml/2006/main">
            <a:r>
              <a:t>S23: JPL ASIC Guide Appendix Three</a:t>
            </a:r>
          </a:p>
          <a:p xmlns:a="http://schemas.openxmlformats.org/drawingml/2006/main">
            <a:r>
              <a:t>https://parts.jpl.nasa.gov/asic/Appendix.3.html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1:20</a:t>
            </a:r>
          </a:p>
          <a:p xmlns:a="http://schemas.openxmlformats.org/drawingml/2006/main">
            <a:r>
              <a:t/>
            </a:r>
          </a:p>
          <a:p xmlns:a="http://schemas.openxmlformats.org/drawingml/2006/main">
            <a:r>
              <a:t>APOYO ORAL</a:t>
            </a:r>
          </a:p>
          <a:p xmlns:a="http://schemas.openxmlformats.org/drawingml/2006/main">
            <a:r>
              <a:t>En una celda CMOS, la realimentación sostiene uno de dos estados. La carga de una partícula puede llevarla al otro, o un registro puede capturar un pulso que viene de otra etapa. El pulso termina, pero el bit equivocado queda. Reescribir puede corregirlo si no hubo daño; reiniciar no recupera automáticamente toda la información. Voyager tiene redundancia y alimentación de retención documentadas, pero esas medidas resuelven problemas diferentes. En 2010 se corrigió un bit de Voyager 2; la nota no prueba que lo causara un rayo cósmico.</a:t>
            </a:r>
          </a:p>
          <a:p xmlns:a="http://schemas.openxmlformats.org/drawingml/2006/main">
            <a:r>
              <a:t/>
            </a:r>
          </a:p>
          <a:p xmlns:a="http://schemas.openxmlformats.org/drawingml/2006/main">
            <a:r>
              <a:t>FIGURA Y ALCANCE</a:t>
            </a:r>
          </a:p>
          <a:p xmlns:a="http://schemas.openxmlformats.org/drawingml/2006/main">
            <a:r>
              <a:t>Secuencia editable: carga recogida → pulso → captura → estado persistente. Ejemplo general, no simulación de una celda Voyager.</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S04, pp. 182-184; S22, SEU/SET; S34, actualización 17/05/2010; S11, diagnóstico 04/04/2024.</a:t>
            </a:r>
          </a:p>
          <a:p xmlns:a="http://schemas.openxmlformats.org/drawingml/2006/main">
            <a:r>
              <a:t/>
            </a:r>
          </a:p>
          <a:p xmlns:a="http://schemas.openxmlformats.org/drawingml/2006/main">
            <a:r>
              <a:t>S04: Computers in Spaceflight The NASA Experience</a:t>
            </a:r>
          </a:p>
          <a:p xmlns:a="http://schemas.openxmlformats.org/drawingml/2006/main">
            <a:r>
              <a:t>https://ntrs.nasa.gov/api/citations/19880069935/downloads/19880069935_Optimized.pdf</a:t>
            </a:r>
          </a:p>
          <a:p xmlns:a="http://schemas.openxmlformats.org/drawingml/2006/main">
            <a:r>
              <a:t/>
            </a:r>
          </a:p>
          <a:p xmlns:a="http://schemas.openxmlformats.org/drawingml/2006/main">
            <a:r>
              <a:t>S10: Voyager 2 FDS reset May 2010</a:t>
            </a:r>
          </a:p>
          <a:p xmlns:a="http://schemas.openxmlformats.org/drawingml/2006/main">
            <a:r>
              <a:t>https://voyager.gsfc.nasa.gov/Library/V2_FDS_reset.pdf</a:t>
            </a:r>
          </a:p>
          <a:p xmlns:a="http://schemas.openxmlformats.org/drawingml/2006/main">
            <a:r>
              <a:t/>
            </a:r>
          </a:p>
          <a:p xmlns:a="http://schemas.openxmlformats.org/drawingml/2006/main">
            <a:r>
              <a:t>S11: Engineers Pinpoint Cause of Voyager 1 Issue</a:t>
            </a:r>
          </a:p>
          <a:p xmlns:a="http://schemas.openxmlformats.org/drawingml/2006/main">
            <a:r>
              <a:t>https://science.nasa.gov/blogs/voyager/2024/04/04/engineers-pinpoint-cause-of-voyager-1-issue-are-working-on-solution/</a:t>
            </a:r>
          </a:p>
          <a:p xmlns:a="http://schemas.openxmlformats.org/drawingml/2006/main">
            <a:r>
              <a:t/>
            </a:r>
          </a:p>
          <a:p xmlns:a="http://schemas.openxmlformats.org/drawingml/2006/main">
            <a:r>
              <a:t>S22: JPL ASIC Guide Design for Radiation Tolerance</a:t>
            </a:r>
          </a:p>
          <a:p xmlns:a="http://schemas.openxmlformats.org/drawingml/2006/main">
            <a:r>
              <a:t>https://parts.jpl.nasa.gov/asic/Sect.3.4.html</a:t>
            </a:r>
          </a:p>
          <a:p xmlns:a="http://schemas.openxmlformats.org/drawingml/2006/main">
            <a:r>
              <a:t/>
            </a:r>
          </a:p>
          <a:p xmlns:a="http://schemas.openxmlformats.org/drawingml/2006/main">
            <a:r>
              <a:t>S34: Engineers Diagnosing Voyager 2 Data System Update</a:t>
            </a:r>
          </a:p>
          <a:p xmlns:a="http://schemas.openxmlformats.org/drawingml/2006/main">
            <a:r>
              <a:t>https://www.jpl.nasa.gov/news/engineers-diagnosing-voyager-2-data-system-update/</a:t>
            </a:r>
          </a:p>
          <a:p xmlns:a="http://schemas.openxmlformats.org/drawingml/2006/main">
            <a:r>
              <a:t/>
            </a:r>
          </a:p>
          <a:p xmlns:a="http://schemas.openxmlformats.org/drawingml/2006/main">
            <a:r>
              <a:t>S35: Testing and Hardness Assurance Guidelines for Single Event Transients in Linear Devices</a:t>
            </a:r>
          </a:p>
          <a:p xmlns:a="http://schemas.openxmlformats.org/drawingml/2006/main">
            <a:r>
              <a:t>https://nepp.nasa.gov/docuploads/FE7A50F8-E974-462D-8642C727C445125F/SET_Linear05.pdf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0:55</a:t>
            </a:r>
          </a:p>
          <a:p xmlns:a="http://schemas.openxmlformats.org/drawingml/2006/main">
            <a:r>
              <a:t/>
            </a:r>
          </a:p>
          <a:p xmlns:a="http://schemas.openxmlformats.org/drawingml/2006/main">
            <a:r>
              <a:t>APOYO ORAL</a:t>
            </a:r>
          </a:p>
          <a:p xmlns:a="http://schemas.openxmlformats.org/drawingml/2006/main">
            <a:r>
              <a:t>Un amplificador puede transformar una corriente inducida en un pulso de salida y hasta saturarse brevemente. La dosis acumulada también puede cambiar offset, ganancia o consumo. En el cuarzo interesa la frecuencia y las pérdidas, pero el reloj además tiene electrónica susceptible a pulsos. Voyager seleccionó barras de cuarzo a partir de ensayos: es una medida concreta de aceptación de materiales.</a:t>
            </a:r>
          </a:p>
          <a:p xmlns:a="http://schemas.openxmlformats.org/drawingml/2006/main">
            <a:r>
              <a:t/>
            </a:r>
          </a:p>
          <a:p xmlns:a="http://schemas.openxmlformats.org/drawingml/2006/main">
            <a:r>
              <a:t>FIGURA Y ALCANCE</a:t>
            </a:r>
          </a:p>
          <a:p xmlns:a="http://schemas.openxmlformats.org/drawingml/2006/main">
            <a:r>
              <a:t>Comparación editable entre precisión de amplitud y estabilidad temporal. La imagen 16 contiene transitorios generales NASA para estudio.</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S01, §III y §VIII.F PDF 202; S26, §8.6.8; S35, PDF 4 y §§2.4/4.</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S26: MIL HDBK 978B NASA Parts Application Handbook Volume 4</a:t>
            </a:r>
          </a:p>
          <a:p xmlns:a="http://schemas.openxmlformats.org/drawingml/2006/main">
            <a:r>
              <a:t>https://nepp.nasa.gov/files/21544/MIL-HDBK-978B_vol4.pdf</a:t>
            </a:r>
          </a:p>
          <a:p xmlns:a="http://schemas.openxmlformats.org/drawingml/2006/main">
            <a:r>
              <a:t/>
            </a:r>
          </a:p>
          <a:p xmlns:a="http://schemas.openxmlformats.org/drawingml/2006/main">
            <a:r>
              <a:t>S35: Testing and Hardness Assurance Guidelines for Single Event Transients in Linear Devices</a:t>
            </a:r>
          </a:p>
          <a:p xmlns:a="http://schemas.openxmlformats.org/drawingml/2006/main">
            <a:r>
              <a:t>https://nepp.nasa.gov/docuploads/FE7A50F8-E974-462D-8642C727C445125F/SET_Linear05.pdf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0:55</a:t>
            </a:r>
          </a:p>
          <a:p xmlns:a="http://schemas.openxmlformats.org/drawingml/2006/main">
            <a:r>
              <a:t/>
            </a:r>
          </a:p>
          <a:p xmlns:a="http://schemas.openxmlformats.org/drawingml/2006/main">
            <a:r>
              <a:t>APOYO ORAL</a:t>
            </a:r>
          </a:p>
          <a:p xmlns:a="http://schemas.openxmlformats.org/drawingml/2006/main">
            <a:r>
              <a:t>Un ejemplo del programa usa una exposición local de referencia de 30 krad en silicio y una capacidad de 60: el margen es dos. No son dosis medidas hoy en todas las placas. Los componentes más sensibles tuvieron condiciones particulares; la memoria CMOS requería atención específica. Además, el blindaje puede generar secundarios. Se decide junto con selección, fabricación y diseño, no como una pared que resuelve todo.</a:t>
            </a:r>
          </a:p>
          <a:p xmlns:a="http://schemas.openxmlformats.org/drawingml/2006/main">
            <a:r>
              <a:t/>
            </a:r>
          </a:p>
          <a:p xmlns:a="http://schemas.openxmlformats.org/drawingml/2006/main">
            <a:r>
              <a:t>FIGURA Y ALCANCE</a:t>
            </a:r>
          </a:p>
          <a:p xmlns:a="http://schemas.openxmlformats.org/drawingml/2006/main">
            <a:r>
              <a:t>Comparación editable: 30 krad(Si) previstos / 60 krad(Si) de capacidad de referencia = margen 2.</a:t>
            </a:r>
          </a:p>
          <a:p xmlns:a="http://schemas.openxmlformats.org/drawingml/2006/main">
            <a:r>
              <a:t/>
            </a:r>
          </a:p>
          <a:p xmlns:a="http://schemas.openxmlformats.org/drawingml/2006/main">
            <a:r>
              <a:t/>
            </a:r>
          </a:p>
          <a:p xmlns:a="http://schemas.openxmlformats.org/drawingml/2006/main">
            <a:r>
              <a:t/>
            </a:r>
          </a:p>
          <a:p xmlns:a="http://schemas.openxmlformats.org/drawingml/2006/main">
            <a:r>
              <a:t>FUENTES Y LOCALIZADORES</a:t>
            </a:r>
          </a:p>
          <a:p xmlns:a="http://schemas.openxmlformats.org/drawingml/2006/main">
            <a:r>
              <a:t>S01, tablas 2-1/2-2/3-1, §III.C y §VI.B; S02, apéndice A.</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S02: Voyager Electronic Parts Radiation Program Volume II</a:t>
            </a:r>
          </a:p>
          <a:p xmlns:a="http://schemas.openxmlformats.org/drawingml/2006/main">
            <a:r>
              <a:t>https://ntrs.nasa.gov/api/citations/19790006102/downloads/19790006102.pdf</a:t>
            </a:r>
          </a:p>
          <a:p xmlns:a="http://schemas.openxmlformats.org/drawingml/2006/main">
            <a:r>
              <a:t/>
            </a:r>
          </a:p>
          <a:p xmlns:a="http://schemas.openxmlformats.org/drawingml/2006/main">
            <a:r>
              <a:t>S18: Voyager CRS Data</a:t>
            </a:r>
          </a:p>
          <a:p xmlns:a="http://schemas.openxmlformats.org/drawingml/2006/main">
            <a:r>
              <a:t>https://voyager.gsfc.nasa.gov/data.html</a:t>
            </a:r>
          </a:p>
          <a:p xmlns:a="http://schemas.openxmlformats.org/drawingml/2006/main">
            <a:r>
              <a:t/>
            </a:r>
          </a:p>
          <a:p xmlns:a="http://schemas.openxmlformats.org/drawingml/2006/main">
            <a:r>
              <a:t>S19: Voyager CRS Flux Time History</a:t>
            </a:r>
          </a:p>
          <a:p xmlns:a="http://schemas.openxmlformats.org/drawingml/2006/main">
            <a:r>
              <a:t>https://voyager.gsfc.nasa.gov/flux.html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PREVISTO: 0:45</a:t>
            </a:r>
          </a:p>
          <a:p xmlns:a="http://schemas.openxmlformats.org/drawingml/2006/main">
            <a:r>
              <a:t/>
            </a:r>
          </a:p>
          <a:p xmlns:a="http://schemas.openxmlformats.org/drawingml/2006/main">
            <a:r>
              <a:t>APOYO ORAL</a:t>
            </a:r>
          </a:p>
          <a:p xmlns:a="http://schemas.openxmlformats.org/drawingml/2006/main">
            <a:r>
              <a:t>Podemos volver a la pregunta inicial con ejemplos concretos: comprobar los pasivos, seleccionar cristales, modificar el proceso CMOS y calcular márgenes en el circuito. A eso se sumaron blindaje, redundancia y operaciones desde Tierra. Voyager también sufrió degradación y perdió capacidades. Lo valioso es haber conservado funciones útiles durante décadas. Entender qué puede cambiar en un componente permite diseñar para que ese cambio no termine inmediatamente con la misión.</a:t>
            </a:r>
          </a:p>
          <a:p xmlns:a="http://schemas.openxmlformats.org/drawingml/2006/main">
            <a:r>
              <a:t/>
            </a:r>
          </a:p>
          <a:p xmlns:a="http://schemas.openxmlformats.org/drawingml/2006/main">
            <a:r>
              <a:t>FIGURA Y ALCANCE</a:t>
            </a:r>
          </a:p>
          <a:p xmlns:a="http://schemas.openxmlformats.org/drawingml/2006/main">
            <a:r>
              <a:t>Fotografía de pruebas de 1977. Volver a decisiones tomadas antes del lanzamiento, sin atribuir inmunidad total.</a:t>
            </a:r>
          </a:p>
          <a:p xmlns:a="http://schemas.openxmlformats.org/drawingml/2006/main">
            <a:r>
              <a:t>Integración de Voyager 2 · NASA/JPL</a:t>
            </a:r>
          </a:p>
          <a:p xmlns:a="http://schemas.openxmlformats.org/drawingml/2006/main">
            <a:r>
              <a:t>NASA/JPL, integración Voyager 2, marzo de 1977</a:t>
            </a:r>
          </a:p>
          <a:p xmlns:a="http://schemas.openxmlformats.org/drawingml/2006/main">
            <a:r>
              <a:t>https://science.nasa.gov/image-detail/pia21736/</a:t>
            </a:r>
          </a:p>
          <a:p xmlns:a="http://schemas.openxmlformats.org/drawingml/2006/main">
            <a:r>
              <a:t/>
            </a:r>
          </a:p>
          <a:p xmlns:a="http://schemas.openxmlformats.org/drawingml/2006/main">
            <a:r>
              <a:t>FUENTES Y LOCALIZADORES</a:t>
            </a:r>
          </a:p>
          <a:p xmlns:a="http://schemas.openxmlformats.org/drawingml/2006/main">
            <a:r>
              <a:t>Síntesis de S01-S02; S08, §5.G; S04, pp. 182-184; S09, degradación; S16, operación.</a:t>
            </a:r>
          </a:p>
          <a:p xmlns:a="http://schemas.openxmlformats.org/drawingml/2006/main">
            <a:r>
              <a:t/>
            </a:r>
          </a:p>
          <a:p xmlns:a="http://schemas.openxmlformats.org/drawingml/2006/main">
            <a:r>
              <a:t>S01: Voyager Electronic Parts Radiation Program Volume I</a:t>
            </a:r>
          </a:p>
          <a:p xmlns:a="http://schemas.openxmlformats.org/drawingml/2006/main">
            <a:r>
              <a:t>https://ntrs.nasa.gov/api/citations/19780007219/downloads/19780007219.pdf</a:t>
            </a:r>
          </a:p>
          <a:p xmlns:a="http://schemas.openxmlformats.org/drawingml/2006/main">
            <a:r>
              <a:t/>
            </a:r>
          </a:p>
          <a:p xmlns:a="http://schemas.openxmlformats.org/drawingml/2006/main">
            <a:r>
              <a:t>S02: Voyager Electronic Parts Radiation Program Volume II</a:t>
            </a:r>
          </a:p>
          <a:p xmlns:a="http://schemas.openxmlformats.org/drawingml/2006/main">
            <a:r>
              <a:t>https://ntrs.nasa.gov/api/citations/19790006102/downloads/19790006102.pdf</a:t>
            </a:r>
          </a:p>
          <a:p xmlns:a="http://schemas.openxmlformats.org/drawingml/2006/main">
            <a:r>
              <a:t/>
            </a:r>
          </a:p>
          <a:p xmlns:a="http://schemas.openxmlformats.org/drawingml/2006/main">
            <a:r>
              <a:t>S04: Computers in Spaceflight The NASA Experience</a:t>
            </a:r>
          </a:p>
          <a:p xmlns:a="http://schemas.openxmlformats.org/drawingml/2006/main">
            <a:r>
              <a:t>https://ntrs.nasa.gov/api/citations/19880069935/downloads/19880069935_Optimized.pdf</a:t>
            </a:r>
          </a:p>
          <a:p xmlns:a="http://schemas.openxmlformats.org/drawingml/2006/main">
            <a:r>
              <a:t/>
            </a:r>
          </a:p>
          <a:p xmlns:a="http://schemas.openxmlformats.org/drawingml/2006/main">
            <a:r>
              <a:t>S08: A Plasma Wave Investigation for the Voyager Mission</a:t>
            </a:r>
          </a:p>
          <a:p xmlns:a="http://schemas.openxmlformats.org/drawingml/2006/main">
            <a:r>
              <a:t>https://pds.nasa.gov/data/vg1-j-spice-6-spk-v2.0/vg_1501/document/pws/pwsinst.htm</a:t>
            </a:r>
          </a:p>
          <a:p xmlns:a="http://schemas.openxmlformats.org/drawingml/2006/main">
            <a:r>
              <a:t/>
            </a:r>
          </a:p>
          <a:p xmlns:a="http://schemas.openxmlformats.org/drawingml/2006/main">
            <a:r>
              <a:t>S09: Voyager CRS Instrument Problems</a:t>
            </a:r>
          </a:p>
          <a:p xmlns:a="http://schemas.openxmlformats.org/drawingml/2006/main">
            <a:r>
              <a:t>https://voyager.gsfc.nasa.gov/instrument_problems.html</a:t>
            </a:r>
          </a:p>
          <a:p xmlns:a="http://schemas.openxmlformats.org/drawingml/2006/main">
            <a:r>
              <a:t/>
            </a:r>
          </a:p>
          <a:p xmlns:a="http://schemas.openxmlformats.org/drawingml/2006/main">
            <a:r>
              <a:t>S16: NASA Turns Off 2 Voyager Science Instruments</a:t>
            </a:r>
          </a:p>
          <a:p xmlns:a="http://schemas.openxmlformats.org/drawingml/2006/main">
            <a:r>
              <a:t>https://science.nasa.gov/blogs/voyager/2025/03/05/nasa-turns-off-2-voyager-science-instruments-to-extend-mission/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0c0758fdd947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c678b701d924f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6a1c49af90d446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35f2b88e7e148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25a2103a0fe41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8d60f5ce6144ae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1A92E-07F4-4B9C-81EF-2F9AE973033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2CC4590-630A-461A-B834-2985533E9C0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8F0E0B-A22F-480B-82D5-5D23969796F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977B1C-3895-4A02-A414-B9AF41240BC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2F4C059-D7E1-4689-B7E7-3E146DD1B88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4939497-119B-4B94-B3CB-E2ED82C9F1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CF50432-2419-463F-B78B-1061BD469F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389A50-87B4-4F2D-83DB-07C93E74420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73D6C5-0CB5-41E0-BA8A-20C260E36E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B95426-DED0-472A-B05B-C3B1AD514C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4837ece1304e3f" /><Relationship Type="http://schemas.openxmlformats.org/officeDocument/2006/relationships/slideLayout" Target="/ppt/slideLayouts/slideLayout1.xml" Id="R2bbd6bc8785f4292" /><Relationship Type="http://schemas.openxmlformats.org/officeDocument/2006/relationships/slideLayout" Target="/ppt/slideLayouts/slideLayout2.xml" Id="R880fc4d2b3484b61" /><Relationship Type="http://schemas.openxmlformats.org/officeDocument/2006/relationships/slideLayout" Target="/ppt/slideLayouts/slideLayout3.xml" Id="R29293323b54f47bc" /><Relationship Type="http://schemas.openxmlformats.org/officeDocument/2006/relationships/slideLayout" Target="/ppt/slideLayouts/slideLayout4.xml" Id="R1e301a14b42a4329" /><Relationship Type="http://schemas.openxmlformats.org/officeDocument/2006/relationships/slideLayout" Target="/ppt/slideLayouts/slideLayout5.xml" Id="Rc875ddd18ae24484" /><Relationship Type="http://schemas.openxmlformats.org/officeDocument/2006/relationships/slideLayout" Target="/ppt/slideLayouts/slideLayout6.xml" Id="R4054a1c8a51e4c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bd6bc8785f4292"/>
    <p:sldLayoutId xmlns:r="http://schemas.openxmlformats.org/officeDocument/2006/relationships" id="2147483650" r:id="R880fc4d2b3484b61"/>
    <p:sldLayoutId xmlns:r="http://schemas.openxmlformats.org/officeDocument/2006/relationships" id="2147483651" r:id="R29293323b54f47bc"/>
    <p:sldLayoutId xmlns:r="http://schemas.openxmlformats.org/officeDocument/2006/relationships" id="2147483652" r:id="R1e301a14b42a4329"/>
    <p:sldLayoutId xmlns:r="http://schemas.openxmlformats.org/officeDocument/2006/relationships" id="2147483653" r:id="Rc875ddd18ae24484"/>
    <p:sldLayoutId xmlns:r="http://schemas.openxmlformats.org/officeDocument/2006/relationships" id="2147483654" r:id="R4054a1c8a51e4c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6cd087909dc4bcc" /><Relationship Type="http://schemas.openxmlformats.org/officeDocument/2006/relationships/image" Target="/ppt/media/image.jpeg" Id="Raadeac99d9274666" /><Relationship Type="http://schemas.openxmlformats.org/officeDocument/2006/relationships/notesSlide" Target="/ppt/notesSlides/notesSlide1.xml" Id="R28b5b4043bc1417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64541a983384351" /><Relationship Type="http://schemas.openxmlformats.org/officeDocument/2006/relationships/image" Target="/ppt/media/image.png" Id="R5f8cf880b6a64e24" /><Relationship Type="http://schemas.openxmlformats.org/officeDocument/2006/relationships/notesSlide" Target="/ppt/notesSlides/notesSlide2.xml" Id="R4dcf1f72597741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b3db34cc2b84021" /><Relationship Type="http://schemas.openxmlformats.org/officeDocument/2006/relationships/image" Target="/ppt/media/image2.jpeg" Id="R8b92bf4ba75143a3" /><Relationship Type="http://schemas.openxmlformats.org/officeDocument/2006/relationships/notesSlide" Target="/ppt/notesSlides/notesSlide3.xml" Id="R9e7597eeea2b464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4ef21c7d1d466a" /><Relationship Type="http://schemas.openxmlformats.org/officeDocument/2006/relationships/notesSlide" Target="/ppt/notesSlides/notesSlide4.xml" Id="R3ef2a12ffad8425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4e67d8b0ae345e2" /><Relationship Type="http://schemas.openxmlformats.org/officeDocument/2006/relationships/notesSlide" Target="/ppt/notesSlides/notesSlide5.xml" Id="Rb032fcb2898648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a93b10a9b5432b" /><Relationship Type="http://schemas.openxmlformats.org/officeDocument/2006/relationships/notesSlide" Target="/ppt/notesSlides/notesSlide6.xml" Id="R711dbc3027cd46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41eafc528a74cb5" /><Relationship Type="http://schemas.openxmlformats.org/officeDocument/2006/relationships/image" Target="/ppt/media/image3.jpeg" Id="Rf28d876c891b495b" /><Relationship Type="http://schemas.openxmlformats.org/officeDocument/2006/relationships/notesSlide" Target="/ppt/notesSlides/notesSlide7.xml" Id="Re725f9134f464e1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2b664b9b4c4f6d" /><Relationship Type="http://schemas.openxmlformats.org/officeDocument/2006/relationships/image" Target="/ppt/media/image2.png" Id="Raf50858c3fae4c45" /><Relationship Type="http://schemas.openxmlformats.org/officeDocument/2006/relationships/notesSlide" Target="/ppt/notesSlides/notesSlide8.xml" Id="R90810f4e061f4f5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b9ff29a7d44a05" /><Relationship Type="http://schemas.openxmlformats.org/officeDocument/2006/relationships/notesSlide" Target="/ppt/notesSlides/notesSlide9.xml" Id="R45e4b77afa374b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6d7b7a8c26c42c4" /><Relationship Type="http://schemas.openxmlformats.org/officeDocument/2006/relationships/notesSlide" Target="/ppt/notesSlides/notesSlide10.xml" Id="Rd4a52f0be5b0406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19c1a01647a4c1e" /><Relationship Type="http://schemas.openxmlformats.org/officeDocument/2006/relationships/notesSlide" Target="/ppt/notesSlides/notesSlide11.xml" Id="Rd2437c6aac944d8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b6b2943a8be4f45" /><Relationship Type="http://schemas.openxmlformats.org/officeDocument/2006/relationships/image" Target="/ppt/media/image3.png" Id="R7694db88c5c54d17" /><Relationship Type="http://schemas.openxmlformats.org/officeDocument/2006/relationships/notesSlide" Target="/ppt/notesSlides/notesSlide12.xml" Id="R9a1fdd91c8f74a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94a2d0663694d26" /><Relationship Type="http://schemas.openxmlformats.org/officeDocument/2006/relationships/image" Target="/ppt/media/image4.png" Id="R8ea746fcf4fc4a85" /><Relationship Type="http://schemas.openxmlformats.org/officeDocument/2006/relationships/notesSlide" Target="/ppt/notesSlides/notesSlide13.xml" Id="R979bd727d1aa44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3f5015c0fa54d0d" /><Relationship Type="http://schemas.openxmlformats.org/officeDocument/2006/relationships/image" Target="/ppt/media/image5.png" Id="Re9d8423819f64b4a" /><Relationship Type="http://schemas.openxmlformats.org/officeDocument/2006/relationships/notesSlide" Target="/ppt/notesSlides/notesSlide14.xml" Id="R8eaec67ef71b4ae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6d1874bdfa64022" /><Relationship Type="http://schemas.openxmlformats.org/officeDocument/2006/relationships/notesSlide" Target="/ppt/notesSlides/notesSlide15.xml" Id="R2872d2a46b284a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7228aec38c8476c" /><Relationship Type="http://schemas.openxmlformats.org/officeDocument/2006/relationships/notesSlide" Target="/ppt/notesSlides/notesSlide16.xml" Id="R32ce28edfd614d0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cce5e6086e8473e" /><Relationship Type="http://schemas.openxmlformats.org/officeDocument/2006/relationships/notesSlide" Target="/ppt/notesSlides/notesSlide17.xml" Id="R4d952de6840c49f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c83a727acd74b88" /><Relationship Type="http://schemas.openxmlformats.org/officeDocument/2006/relationships/image" Target="/ppt/media/image4.jpeg" Id="R451f6bb3810549ad" /><Relationship Type="http://schemas.openxmlformats.org/officeDocument/2006/relationships/notesSlide" Target="/ppt/notesSlides/notesSlide18.xml" Id="R993a07b2cd5f491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B1C3CF7-EED6-4CCC-93D9-F9F1468678A0}"/>
              </a:ext>
            </a:extLst>
          </p:cNvPr>
          <p:cNvSpPr>
            <a:spLocks xmlns:a="http://schemas.openxmlformats.org/drawingml/2006/main" noGrp="1"/>
          </p:cNvSpPr>
          <p:nvPr/>
        </p:nvSpPr>
        <p:spPr>
          <a:xfrm xmlns:a="http://schemas.openxmlformats.org/drawingml/2006/main">
            <a:off x="609600" y="552450"/>
            <a:ext cx="10668000" cy="70789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200" b="1">
                <a:solidFill>
                  <a:srgbClr val="172B3A"/>
                </a:solidFill>
                <a:latin typeface="Arial"/>
                <a:ea typeface="Arial"/>
                <a:cs typeface="Arial"/>
              </a:defRPr>
            </a:defPPr>
          </a:lstStyle>
          <a:p xmlns:a="http://schemas.openxmlformats.org/drawingml/2006/main">
            <a:pPr>
              <a:defRPr sz="4200" b="1">
                <a:solidFill>
                  <a:srgbClr val="172B3A"/>
                </a:solidFill>
                <a:latin typeface="Arial"/>
                <a:ea typeface="Arial"/>
                <a:cs typeface="Arial"/>
              </a:defRPr>
            </a:pPr>
            <a:r>
              <a:rPr sz="4200" b="1">
                <a:solidFill>
                  <a:srgbClr val="172B3A"/>
                </a:solidFill>
                <a:latin typeface="Arial"/>
                <a:ea typeface="Arial"/>
                <a:cs typeface="Arial"/>
              </a:rPr>
              <a:t>Casi 50 años de electrónica en el espacio</a:t>
            </a:r>
          </a:p>
        </p:txBody>
      </p:sp>
      <p:sp>
        <p:nvSpPr>
          <p:cNvPr id="2" name="">
            <a:extLst xmlns:a="http://schemas.openxmlformats.org/drawingml/2006/main">
              <a:ext uri="{FF2B5EF4-FFF2-40B4-BE49-F238E27FC236}">
                <a16:creationId xmlns:a16="http://schemas.microsoft.com/office/drawing/2014/main" id="{8BA8BC67-E52F-43B9-AF26-B19A46B24CEF}"/>
              </a:ext>
            </a:extLst>
          </p:cNvPr>
          <p:cNvSpPr>
            <a:spLocks xmlns:a="http://schemas.openxmlformats.org/drawingml/2006/main" noGrp="1"/>
          </p:cNvSpPr>
          <p:nvPr/>
        </p:nvSpPr>
        <p:spPr>
          <a:xfrm xmlns:a="http://schemas.openxmlformats.org/drawingml/2006/main">
            <a:off x="609600" y="2238375"/>
            <a:ext cx="5905500" cy="4522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26F87"/>
                </a:solidFill>
                <a:latin typeface="Arial"/>
                <a:ea typeface="Arial"/>
                <a:cs typeface="Arial"/>
              </a:defRPr>
            </a:defPPr>
          </a:lstStyle>
          <a:p xmlns:a="http://schemas.openxmlformats.org/drawingml/2006/main">
            <a:pPr>
              <a:defRPr sz="2550" b="0">
                <a:solidFill>
                  <a:srgbClr val="126F87"/>
                </a:solidFill>
                <a:latin typeface="Arial"/>
                <a:ea typeface="Arial"/>
                <a:cs typeface="Arial"/>
              </a:defRPr>
            </a:pPr>
            <a:r>
              <a:rPr sz="2550" b="0">
                <a:solidFill>
                  <a:srgbClr val="126F87"/>
                </a:solidFill>
                <a:latin typeface="Arial"/>
                <a:ea typeface="Arial"/>
                <a:cs typeface="Arial"/>
              </a:rPr>
              <a:t>Ignacio Cavicchioli</a:t>
            </a:r>
          </a:p>
        </p:txBody>
      </p:sp>
      <p:sp>
        <p:nvSpPr>
          <p:cNvPr id="3" name="">
            <a:extLst xmlns:a="http://schemas.openxmlformats.org/drawingml/2006/main">
              <a:ext uri="{FF2B5EF4-FFF2-40B4-BE49-F238E27FC236}">
                <a16:creationId xmlns:a16="http://schemas.microsoft.com/office/drawing/2014/main" id="{3158CA85-FCA3-43B2-A20B-A08C1E6E2145}"/>
              </a:ext>
            </a:extLst>
          </p:cNvPr>
          <p:cNvSpPr>
            <a:spLocks xmlns:a="http://schemas.openxmlformats.org/drawingml/2006/main" noGrp="1"/>
          </p:cNvSpPr>
          <p:nvPr/>
        </p:nvSpPr>
        <p:spPr>
          <a:xfrm xmlns:a="http://schemas.openxmlformats.org/drawingml/2006/main">
            <a:off x="609600" y="3143250"/>
            <a:ext cx="5572125" cy="1637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Voyager lleva casi cinco décadas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funcionando lejos de la Tierra. Vamos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a recorrer las decisiones electrónicas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que ayudaron a sostener esa misión.</a:t>
            </a:r>
          </a:p>
        </p:txBody>
      </p:sp>
      <p:pic>
        <p:nvPicPr>
          <p:cNvPr id="4" name="">
            <a:extLst xmlns:a="http://schemas.openxmlformats.org/drawingml/2006/main">
              <a:ext uri="{FF2B5EF4-FFF2-40B4-BE49-F238E27FC236}">
                <a16:creationId xmlns:a16="http://schemas.microsoft.com/office/drawing/2014/main" id="{1C73D43C-66C7-43C0-95EF-5F93FD4B8F42}"/>
              </a:ext>
            </a:extLst>
          </p:cNvPr>
          <p:cNvPicPr>
            <a:picLocks xmlns:a="http://schemas.openxmlformats.org/drawingml/2006/main" noChangeAspect="1"/>
          </p:cNvPicPr>
          <p:nvPr/>
        </p:nvPicPr>
        <p:blipFill>
          <a:blip xmlns:r="http://schemas.openxmlformats.org/officeDocument/2006/relationships" xmlns:a="http://schemas.openxmlformats.org/drawingml/2006/main" r:embed="Raadeac99d9274666"/>
          <a:stretch xmlns:a="http://schemas.openxmlformats.org/drawingml/2006/main"/>
        </p:blipFill>
        <p:spPr>
          <a:xfrm xmlns:a="http://schemas.openxmlformats.org/drawingml/2006/main">
            <a:off x="6858000" y="2664440"/>
            <a:ext cx="4619625" cy="252924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5A58F2E-FC2B-44C7-8DAE-22E57C958530}"/>
              </a:ext>
            </a:extLst>
          </p:cNvPr>
          <p:cNvSpPr>
            <a:spLocks xmlns:a="http://schemas.openxmlformats.org/drawingml/2006/main" noGrp="1"/>
          </p:cNvSpPr>
          <p:nvPr/>
        </p:nvSpPr>
        <p:spPr>
          <a:xfrm xmlns:a="http://schemas.openxmlformats.org/drawingml/2006/main">
            <a:off x="609600" y="5514975"/>
            <a:ext cx="4762500" cy="4290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26F87"/>
                </a:solidFill>
                <a:latin typeface="Arial"/>
                <a:ea typeface="Arial"/>
                <a:cs typeface="Arial"/>
              </a:defRPr>
            </a:defPPr>
          </a:lstStyle>
          <a:p xmlns:a="http://schemas.openxmlformats.org/drawingml/2006/main">
            <a:pPr>
              <a:defRPr sz="2400" b="0">
                <a:solidFill>
                  <a:srgbClr val="126F87"/>
                </a:solidFill>
                <a:latin typeface="Arial"/>
                <a:ea typeface="Arial"/>
                <a:cs typeface="Arial"/>
              </a:defRPr>
            </a:pPr>
            <a:r>
              <a:rPr sz="2400" b="0">
                <a:solidFill>
                  <a:srgbClr val="126F87"/>
                </a:solidFill>
                <a:latin typeface="Arial"/>
                <a:ea typeface="Arial"/>
                <a:cs typeface="Arial"/>
              </a:rPr>
              <a:t>1977–2026</a:t>
            </a:r>
          </a:p>
        </p:txBody>
      </p:sp>
      <p:sp>
        <p:nvSpPr>
          <p:cNvPr id="6" name="">
            <a:extLst xmlns:a="http://schemas.openxmlformats.org/drawingml/2006/main">
              <a:ext uri="{FF2B5EF4-FFF2-40B4-BE49-F238E27FC236}">
                <a16:creationId xmlns:a16="http://schemas.microsoft.com/office/drawing/2014/main" id="{66B8C9D4-DBCE-42AF-A1BB-4E3F64B4B971}"/>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01</a:t>
            </a:r>
          </a:p>
        </p:txBody>
      </p:sp>
    </p:spTree>
    <p:extLst>
      <p:ext uri="{BB962C8B-B14F-4D97-AF65-F5344CB8AC3E}">
        <p14:creationId xmlns:p14="http://schemas.microsoft.com/office/powerpoint/2010/main" val="7061381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CA8CC4-9520-4E60-A464-154806FEFE5E}"/>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Dos sondas, dos recorridos</a:t>
            </a:r>
          </a:p>
        </p:txBody>
      </p:sp>
      <p:sp>
        <p:nvSpPr>
          <p:cNvPr id="2" name="">
            <a:extLst xmlns:a="http://schemas.openxmlformats.org/drawingml/2006/main">
              <a:ext uri="{FF2B5EF4-FFF2-40B4-BE49-F238E27FC236}">
                <a16:creationId xmlns:a16="http://schemas.microsoft.com/office/drawing/2014/main" id="{CA3BA024-F822-4443-A7E9-F6FD487ECA4D}"/>
              </a:ext>
            </a:extLst>
          </p:cNvPr>
          <p:cNvSpPr>
            <a:spLocks xmlns:a="http://schemas.openxmlformats.org/drawingml/2006/main" noGrp="1"/>
          </p:cNvSpPr>
          <p:nvPr/>
        </p:nvSpPr>
        <p:spPr>
          <a:xfrm xmlns:a="http://schemas.openxmlformats.org/drawingml/2006/main">
            <a:off x="609600" y="1571625"/>
            <a:ext cx="5905500" cy="15445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00" b="0">
                <a:solidFill>
                  <a:srgbClr val="172B3A"/>
                </a:solidFill>
                <a:latin typeface="Arial"/>
                <a:ea typeface="Arial"/>
                <a:cs typeface="Arial"/>
              </a:defRPr>
            </a:defPPr>
          </a:lstStyle>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Voyager 2 partió el 20 de agosto de 1977 y</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Voyager 1, el 5 de septiembre. Ambas</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visitaron Júpiter y Saturno; Voyager 2</a:t>
            </a:r>
          </a:p>
          <a:p xmlns:a="http://schemas.openxmlformats.org/drawingml/2006/main">
            <a:pPr>
              <a:defRPr sz="2400" b="0">
                <a:solidFill>
                  <a:srgbClr val="172B3A"/>
                </a:solidFill>
                <a:latin typeface="Arial"/>
                <a:ea typeface="Arial"/>
                <a:cs typeface="Arial"/>
              </a:defRPr>
            </a:pPr>
            <a:r>
              <a:rPr sz="2400" b="0">
                <a:solidFill>
                  <a:srgbClr val="172B3A"/>
                </a:solidFill>
                <a:latin typeface="Arial"/>
                <a:ea typeface="Arial"/>
                <a:cs typeface="Arial"/>
              </a:rPr>
              <a:t>continuó hacia Urano y Neptuno.</a:t>
            </a:r>
          </a:p>
        </p:txBody>
      </p:sp>
      <p:sp>
        <p:nvSpPr>
          <p:cNvPr id="3" name="">
            <a:extLst xmlns:a="http://schemas.openxmlformats.org/drawingml/2006/main">
              <a:ext uri="{FF2B5EF4-FFF2-40B4-BE49-F238E27FC236}">
                <a16:creationId xmlns:a16="http://schemas.microsoft.com/office/drawing/2014/main" id="{6431B869-DF93-417C-9E90-65D0B698E3FA}"/>
              </a:ext>
            </a:extLst>
          </p:cNvPr>
          <p:cNvSpPr>
            <a:spLocks xmlns:a="http://schemas.openxmlformats.org/drawingml/2006/main" noGrp="1"/>
          </p:cNvSpPr>
          <p:nvPr/>
        </p:nvSpPr>
        <p:spPr>
          <a:xfrm xmlns:a="http://schemas.openxmlformats.org/drawingml/2006/main">
            <a:off x="609600" y="3714750"/>
            <a:ext cx="6000750" cy="77762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1">
                <a:solidFill>
                  <a:srgbClr val="126F87"/>
                </a:solidFill>
                <a:latin typeface="Arial"/>
                <a:ea typeface="Arial"/>
                <a:cs typeface="Arial"/>
              </a:defRPr>
            </a:defPPr>
          </a:lstStyle>
          <a:p xmlns:a="http://schemas.openxmlformats.org/drawingml/2006/main">
            <a:pPr>
              <a:defRPr sz="2325" b="1">
                <a:solidFill>
                  <a:srgbClr val="126F87"/>
                </a:solidFill>
                <a:latin typeface="Arial"/>
                <a:ea typeface="Arial"/>
                <a:cs typeface="Arial"/>
              </a:defRPr>
            </a:pPr>
            <a:r>
              <a:rPr sz="2325" b="1">
                <a:solidFill>
                  <a:srgbClr val="126F87"/>
                </a:solidFill>
                <a:latin typeface="Arial"/>
                <a:ea typeface="Arial"/>
                <a:cs typeface="Arial"/>
              </a:rPr>
              <a:t>Más de 25.000 millones de km: V1.</a:t>
            </a:r>
          </a:p>
          <a:p xmlns:a="http://schemas.openxmlformats.org/drawingml/2006/main">
            <a:pPr>
              <a:defRPr sz="2325" b="1">
                <a:solidFill>
                  <a:srgbClr val="126F87"/>
                </a:solidFill>
                <a:latin typeface="Arial"/>
                <a:ea typeface="Arial"/>
                <a:cs typeface="Arial"/>
              </a:defRPr>
            </a:pPr>
            <a:r>
              <a:rPr sz="2325" b="1">
                <a:solidFill>
                  <a:srgbClr val="126F87"/>
                </a:solidFill>
                <a:latin typeface="Arial"/>
                <a:ea typeface="Arial"/>
                <a:cs typeface="Arial"/>
              </a:rPr>
              <a:t>Más de 21.000 millones de km: V2.</a:t>
            </a:r>
          </a:p>
        </p:txBody>
      </p:sp>
      <p:sp>
        <p:nvSpPr>
          <p:cNvPr id="4" name="">
            <a:extLst xmlns:a="http://schemas.openxmlformats.org/drawingml/2006/main">
              <a:ext uri="{FF2B5EF4-FFF2-40B4-BE49-F238E27FC236}">
                <a16:creationId xmlns:a16="http://schemas.microsoft.com/office/drawing/2014/main" id="{B2881340-821A-4A86-B2E5-8E5BC05C2E40}"/>
              </a:ext>
            </a:extLst>
          </p:cNvPr>
          <p:cNvSpPr>
            <a:spLocks xmlns:a="http://schemas.openxmlformats.org/drawingml/2006/main" noGrp="1"/>
          </p:cNvSpPr>
          <p:nvPr/>
        </p:nvSpPr>
        <p:spPr>
          <a:xfrm xmlns:a="http://schemas.openxmlformats.org/drawingml/2006/main">
            <a:off x="609600" y="4743450"/>
            <a:ext cx="6000750" cy="3709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025" b="0">
                <a:solidFill>
                  <a:srgbClr val="49616E"/>
                </a:solidFill>
                <a:latin typeface="Arial"/>
                <a:ea typeface="Arial"/>
                <a:cs typeface="Arial"/>
              </a:defRPr>
            </a:defPPr>
          </a:lstStyle>
          <a:p xmlns:a="http://schemas.openxmlformats.org/drawingml/2006/main">
            <a:pPr>
              <a:defRPr sz="2025" b="0">
                <a:solidFill>
                  <a:srgbClr val="49616E"/>
                </a:solidFill>
                <a:latin typeface="Arial"/>
                <a:ea typeface="Arial"/>
                <a:cs typeface="Arial"/>
              </a:defRPr>
            </a:pPr>
            <a:r>
              <a:rPr sz="2025" b="0">
                <a:solidFill>
                  <a:srgbClr val="49616E"/>
                </a:solidFill>
                <a:latin typeface="Arial"/>
                <a:ea typeface="Arial"/>
                <a:cs typeface="Arial"/>
              </a:rPr>
              <a:t>Distancias a la Tierra · NASA, 05/03/2025</a:t>
            </a:r>
          </a:p>
        </p:txBody>
      </p:sp>
      <p:sp>
        <p:nvSpPr>
          <p:cNvPr id="5" name="">
            <a:extLst xmlns:a="http://schemas.openxmlformats.org/drawingml/2006/main">
              <a:ext uri="{FF2B5EF4-FFF2-40B4-BE49-F238E27FC236}">
                <a16:creationId xmlns:a16="http://schemas.microsoft.com/office/drawing/2014/main" id="{FC128225-BE6B-4C17-B084-6C54B819EA8A}"/>
              </a:ext>
            </a:extLst>
          </p:cNvPr>
          <p:cNvSpPr>
            <a:spLocks xmlns:a="http://schemas.openxmlformats.org/drawingml/2006/main" noGrp="1"/>
          </p:cNvSpPr>
          <p:nvPr/>
        </p:nvSpPr>
        <p:spPr>
          <a:xfrm xmlns:a="http://schemas.openxmlformats.org/drawingml/2006/main">
            <a:off x="609600" y="5381625"/>
            <a:ext cx="10763250" cy="417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72B3A"/>
                </a:solidFill>
                <a:latin typeface="Arial"/>
                <a:ea typeface="Arial"/>
                <a:cs typeface="Arial"/>
              </a:defRPr>
            </a:defPPr>
          </a:lstStyle>
          <a:p xmlns:a="http://schemas.openxmlformats.org/drawingml/2006/main">
            <a:pPr>
              <a:defRPr sz="2325" b="0">
                <a:solidFill>
                  <a:srgbClr val="172B3A"/>
                </a:solidFill>
                <a:latin typeface="Arial"/>
                <a:ea typeface="Arial"/>
                <a:cs typeface="Arial"/>
              </a:defRPr>
            </a:pPr>
            <a:r>
              <a:rPr sz="2325" b="0">
                <a:solidFill>
                  <a:srgbClr val="172B3A"/>
                </a:solidFill>
                <a:latin typeface="Arial"/>
                <a:ea typeface="Arial"/>
                <a:cs typeface="Arial"/>
              </a:rPr>
              <a:t>Proyecto aprobado en 1972; lanzamientos en 1977.</a:t>
            </a:r>
          </a:p>
        </p:txBody>
      </p:sp>
      <p:pic>
        <p:nvPicPr>
          <p:cNvPr id="6" name="">
            <a:extLst xmlns:a="http://schemas.openxmlformats.org/drawingml/2006/main">
              <a:ext uri="{FF2B5EF4-FFF2-40B4-BE49-F238E27FC236}">
                <a16:creationId xmlns:a16="http://schemas.microsoft.com/office/drawing/2014/main" id="{BC5417D4-D7E8-4730-B0BD-D8069F38C0B3}"/>
              </a:ext>
            </a:extLst>
          </p:cNvPr>
          <p:cNvPicPr>
            <a:picLocks xmlns:a="http://schemas.openxmlformats.org/drawingml/2006/main" noChangeAspect="1"/>
          </p:cNvPicPr>
          <p:nvPr/>
        </p:nvPicPr>
        <p:blipFill>
          <a:blip xmlns:r="http://schemas.openxmlformats.org/officeDocument/2006/relationships" xmlns:a="http://schemas.openxmlformats.org/drawingml/2006/main" r:embed="R5f8cf880b6a64e24"/>
          <a:stretch xmlns:a="http://schemas.openxmlformats.org/drawingml/2006/main"/>
        </p:blipFill>
        <p:spPr>
          <a:xfrm xmlns:a="http://schemas.openxmlformats.org/drawingml/2006/main">
            <a:off x="7025023" y="1543050"/>
            <a:ext cx="4333204" cy="3619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B09440E-1F1F-4926-B43A-0BAD5C3913D1}"/>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02</a:t>
            </a:r>
          </a:p>
        </p:txBody>
      </p:sp>
    </p:spTree>
    <p:extLst>
      <p:ext uri="{BB962C8B-B14F-4D97-AF65-F5344CB8AC3E}">
        <p14:creationId xmlns:p14="http://schemas.microsoft.com/office/powerpoint/2010/main" val="16131397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4455C1-7068-40AA-BC66-0DB5E7A0C15C}"/>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El recorrido define el ambiente</a:t>
            </a:r>
          </a:p>
        </p:txBody>
      </p:sp>
      <p:sp>
        <p:nvSpPr>
          <p:cNvPr id="2" name="">
            <a:extLst xmlns:a="http://schemas.openxmlformats.org/drawingml/2006/main">
              <a:ext uri="{FF2B5EF4-FFF2-40B4-BE49-F238E27FC236}">
                <a16:creationId xmlns:a16="http://schemas.microsoft.com/office/drawing/2014/main" id="{5295C3E9-AD03-48D5-94BF-2D3200D0E2E4}"/>
              </a:ext>
            </a:extLst>
          </p:cNvPr>
          <p:cNvSpPr>
            <a:spLocks xmlns:a="http://schemas.openxmlformats.org/drawingml/2006/main" noGrp="1"/>
          </p:cNvSpPr>
          <p:nvPr/>
        </p:nvSpPr>
        <p:spPr>
          <a:xfrm xmlns:a="http://schemas.openxmlformats.org/drawingml/2006/main">
            <a:off x="609600" y="1676400"/>
            <a:ext cx="5476875" cy="24277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Durante el crucero, los encuentros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planetarios y la etapa interestelar</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cambian las condiciones de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exposición. El diseño debe responder</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a esos ambientes y a lo que cada</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componente puede tolerar.</a:t>
            </a:r>
          </a:p>
        </p:txBody>
      </p:sp>
      <p:pic>
        <p:nvPicPr>
          <p:cNvPr id="3" name="">
            <a:extLst xmlns:a="http://schemas.openxmlformats.org/drawingml/2006/main">
              <a:ext uri="{FF2B5EF4-FFF2-40B4-BE49-F238E27FC236}">
                <a16:creationId xmlns:a16="http://schemas.microsoft.com/office/drawing/2014/main" id="{C7F08DB8-B91E-44F7-8854-13A64028FB6E}"/>
              </a:ext>
            </a:extLst>
          </p:cNvPr>
          <p:cNvPicPr>
            <a:picLocks xmlns:a="http://schemas.openxmlformats.org/drawingml/2006/main" noChangeAspect="1"/>
          </p:cNvPicPr>
          <p:nvPr/>
        </p:nvPicPr>
        <p:blipFill>
          <a:blip xmlns:r="http://schemas.openxmlformats.org/officeDocument/2006/relationships" xmlns:a="http://schemas.openxmlformats.org/drawingml/2006/main" r:embed="R8b92bf4ba75143a3"/>
          <a:stretch xmlns:a="http://schemas.openxmlformats.org/drawingml/2006/main"/>
        </p:blipFill>
        <p:spPr>
          <a:xfrm xmlns:a="http://schemas.openxmlformats.org/drawingml/2006/main">
            <a:off x="6705600" y="1917499"/>
            <a:ext cx="4857750" cy="288012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24F3D6-E5E2-45F6-BED4-1D11E06195D8}"/>
              </a:ext>
            </a:extLst>
          </p:cNvPr>
          <p:cNvSpPr>
            <a:spLocks xmlns:a="http://schemas.openxmlformats.org/drawingml/2006/main" noGrp="1"/>
          </p:cNvSpPr>
          <p:nvPr/>
        </p:nvSpPr>
        <p:spPr>
          <a:xfrm xmlns:a="http://schemas.openxmlformats.org/drawingml/2006/main">
            <a:off x="6705600" y="5248275"/>
            <a:ext cx="485775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Heliosfera y medio interestelar · NASA</a:t>
            </a:r>
          </a:p>
        </p:txBody>
      </p:sp>
      <p:sp>
        <p:nvSpPr>
          <p:cNvPr id="5" name="">
            <a:extLst xmlns:a="http://schemas.openxmlformats.org/drawingml/2006/main">
              <a:ext uri="{FF2B5EF4-FFF2-40B4-BE49-F238E27FC236}">
                <a16:creationId xmlns:a16="http://schemas.microsoft.com/office/drawing/2014/main" id="{7D11D931-A8C2-48D5-B3F3-540FB35140E8}"/>
              </a:ext>
            </a:extLst>
          </p:cNvPr>
          <p:cNvSpPr>
            <a:spLocks xmlns:a="http://schemas.openxmlformats.org/drawingml/2006/main" noGrp="1"/>
          </p:cNvSpPr>
          <p:nvPr/>
        </p:nvSpPr>
        <p:spPr>
          <a:xfrm xmlns:a="http://schemas.openxmlformats.org/drawingml/2006/main">
            <a:off x="609600" y="5619750"/>
            <a:ext cx="10763250" cy="417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26F87"/>
                </a:solidFill>
                <a:latin typeface="Arial"/>
                <a:ea typeface="Arial"/>
                <a:cs typeface="Arial"/>
              </a:defRPr>
            </a:defPPr>
          </a:lstStyle>
          <a:p xmlns:a="http://schemas.openxmlformats.org/drawingml/2006/main">
            <a:pPr>
              <a:defRPr sz="2325" b="0">
                <a:solidFill>
                  <a:srgbClr val="126F87"/>
                </a:solidFill>
                <a:latin typeface="Arial"/>
                <a:ea typeface="Arial"/>
                <a:cs typeface="Arial"/>
              </a:defRPr>
            </a:pPr>
            <a:r>
              <a:rPr sz="2325" b="0">
                <a:solidFill>
                  <a:srgbClr val="126F87"/>
                </a:solidFill>
                <a:latin typeface="Arial"/>
                <a:ea typeface="Arial"/>
                <a:cs typeface="Arial"/>
              </a:rPr>
              <a:t>Interplanetario → magnetósferas → interestelar</a:t>
            </a:r>
          </a:p>
        </p:txBody>
      </p:sp>
      <p:sp>
        <p:nvSpPr>
          <p:cNvPr id="6" name="">
            <a:extLst xmlns:a="http://schemas.openxmlformats.org/drawingml/2006/main">
              <a:ext uri="{FF2B5EF4-FFF2-40B4-BE49-F238E27FC236}">
                <a16:creationId xmlns:a16="http://schemas.microsoft.com/office/drawing/2014/main" id="{66A0C108-FF28-4882-A908-7F56E6DF95CD}"/>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03</a:t>
            </a:r>
          </a:p>
        </p:txBody>
      </p:sp>
    </p:spTree>
    <p:extLst>
      <p:ext uri="{BB962C8B-B14F-4D97-AF65-F5344CB8AC3E}">
        <p14:creationId xmlns:p14="http://schemas.microsoft.com/office/powerpoint/2010/main" val="21364138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6094581-DE10-4F02-8282-0FF8537F6888}"/>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Las fuentes de radiación</a:t>
            </a:r>
          </a:p>
        </p:txBody>
      </p:sp>
      <p:sp>
        <p:nvSpPr>
          <p:cNvPr id="2" name="">
            <a:extLst xmlns:a="http://schemas.openxmlformats.org/drawingml/2006/main">
              <a:ext uri="{FF2B5EF4-FFF2-40B4-BE49-F238E27FC236}">
                <a16:creationId xmlns:a16="http://schemas.microsoft.com/office/drawing/2014/main" id="{DBBA2EBE-71DA-4514-BE67-CF06A99F73ED}"/>
              </a:ext>
            </a:extLst>
          </p:cNvPr>
          <p:cNvSpPr>
            <a:spLocks xmlns:a="http://schemas.openxmlformats.org/drawingml/2006/main" noGrp="1"/>
          </p:cNvSpPr>
          <p:nvPr/>
        </p:nvSpPr>
        <p:spPr>
          <a:xfrm xmlns:a="http://schemas.openxmlformats.org/drawingml/2006/main">
            <a:off x="609600" y="1524000"/>
            <a:ext cx="10858500" cy="12075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Las partículas solares y los rayos cósmicos atraviesan el medio</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interplanetario. Cerca de los planetas se suman partículas atrapadas; los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RTG aportan una fuente local durante toda la misión.</a:t>
            </a:r>
          </a:p>
        </p:txBody>
      </p:sp>
      <p:graphicFrame>
        <p:nvGraphicFramePr>
          <p:cNvPr id="3" name="">
            <a:extLst xmlns:a="http://schemas.openxmlformats.org/drawingml/2006/main">
              <a:ext uri="{FF2B5EF4-FFF2-40B4-BE49-F238E27FC236}">
                <a16:creationId xmlns:a16="http://schemas.microsoft.com/office/drawing/2014/main" id="{768EB8FC-3AFB-45BD-ABFB-E0A1183EFA7C}"/>
              </a:ext>
            </a:extLst>
          </p:cNvPr>
          <p:cNvGraphicFramePr/>
          <p:nvPr/>
        </p:nvGraphicFramePr>
        <p:xfrm>
          <a:off xmlns:a="http://schemas.openxmlformats.org/drawingml/2006/main" x="609600" y="3038475"/>
          <a:ext xmlns:a="http://schemas.openxmlformats.org/drawingml/2006/main" cx="10858500" cy="2857500"/>
        </p:xfrm>
        <a:graphic xmlns:a="http://schemas.openxmlformats.org/drawingml/2006/main">
          <a:graphicData uri="http://schemas.openxmlformats.org/drawingml/2006/table">
            <a:tbl>
              <a:tblPr/>
              <a:tblGrid>
                <a:gridCol w="3714750"/>
                <a:gridCol w="7143750"/>
              </a:tblGrid>
              <a:tr h="571500">
                <a:tc>
                  <a:txBody>
                    <a:bodyPr>
                      <a:noAutofit/>
                    </a:bodyPr>
                    <a:lstStyle/>
                    <a:p>
                      <a:r>
                        <a:rPr sz="2400" b="1">
                          <a:solidFill>
                            <a:srgbClr val="FFFFFF"/>
                          </a:solidFill>
                          <a:latin typeface="Arial"/>
                          <a:ea typeface="Arial"/>
                          <a:cs typeface="Arial"/>
                        </a:rPr>
                        <a:t>Fuente</a:t>
                      </a:r>
                    </a:p>
                  </a:txBody>
                  <a:tcPr marL="91440" marR="91440" marT="45720" marB="45720">
                    <a:lnL w="5715">
                      <a:solidFill>
                        <a:srgbClr val="D7E2E6"/>
                      </a:solidFill>
                      <a:prstDash val="solid"/>
                    </a:lnL>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400" b="1">
                          <a:solidFill>
                            <a:srgbClr val="FFFFFF"/>
                          </a:solidFill>
                          <a:latin typeface="Arial"/>
                          <a:ea typeface="Arial"/>
                          <a:cs typeface="Arial"/>
                        </a:rPr>
                        <a:t>Población relevante</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r>
              <a:tr h="571500">
                <a:tc>
                  <a:txBody>
                    <a:bodyPr>
                      <a:noAutofit/>
                    </a:bodyPr>
                    <a:lstStyle/>
                    <a:p>
                      <a:r>
                        <a:rPr sz="2400" b="0">
                          <a:solidFill>
                            <a:srgbClr val="172B3A"/>
                          </a:solidFill>
                          <a:latin typeface="Arial"/>
                          <a:ea typeface="Arial"/>
                          <a:cs typeface="Arial"/>
                        </a:rPr>
                        <a:t>Sol</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400" b="0">
                          <a:solidFill>
                            <a:srgbClr val="172B3A"/>
                          </a:solidFill>
                          <a:latin typeface="Arial"/>
                          <a:ea typeface="Arial"/>
                          <a:cs typeface="Arial"/>
                        </a:rPr>
                        <a:t>Plasma y partículas energéticas</a:t>
                      </a:r>
                    </a:p>
                  </a:txBody>
                  <a:tcPr marL="91440" marR="91440" marT="45720" marB="45720">
                    <a:lnR w="5715">
                      <a:solidFill>
                        <a:srgbClr val="D7E2E6"/>
                      </a:solidFill>
                      <a:prstDash val="solid"/>
                    </a:lnR>
                    <a:lnB w="5715">
                      <a:solidFill>
                        <a:srgbClr val="D7E2E6"/>
                      </a:solidFill>
                      <a:prstDash val="solid"/>
                    </a:lnB>
                    <a:solidFill>
                      <a:srgbClr val="FFFFFF"/>
                    </a:solidFill>
                  </a:tcPr>
                </a:tc>
              </a:tr>
              <a:tr h="571500">
                <a:tc>
                  <a:txBody>
                    <a:bodyPr>
                      <a:noAutofit/>
                    </a:bodyPr>
                    <a:lstStyle/>
                    <a:p>
                      <a:r>
                        <a:rPr sz="2400" b="0">
                          <a:solidFill>
                            <a:srgbClr val="172B3A"/>
                          </a:solidFill>
                          <a:latin typeface="Arial"/>
                          <a:ea typeface="Arial"/>
                          <a:cs typeface="Arial"/>
                        </a:rPr>
                        <a:t>Galaxia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400" b="0">
                          <a:solidFill>
                            <a:srgbClr val="172B3A"/>
                          </a:solidFill>
                          <a:latin typeface="Arial"/>
                          <a:ea typeface="Arial"/>
                          <a:cs typeface="Arial"/>
                        </a:rPr>
                        <a:t>Protones, núcleos y electrones</a:t>
                      </a:r>
                    </a:p>
                  </a:txBody>
                  <a:tcPr marL="91440" marR="91440" marT="45720" marB="45720">
                    <a:lnR w="5715">
                      <a:solidFill>
                        <a:srgbClr val="D7E2E6"/>
                      </a:solidFill>
                      <a:prstDash val="solid"/>
                    </a:lnR>
                    <a:lnB w="5715">
                      <a:solidFill>
                        <a:srgbClr val="D7E2E6"/>
                      </a:solidFill>
                      <a:prstDash val="solid"/>
                    </a:lnB>
                    <a:solidFill>
                      <a:srgbClr val="FFFFFF"/>
                    </a:solidFill>
                  </a:tcPr>
                </a:tc>
              </a:tr>
              <a:tr h="571500">
                <a:tc>
                  <a:txBody>
                    <a:bodyPr>
                      <a:noAutofit/>
                    </a:bodyPr>
                    <a:lstStyle/>
                    <a:p>
                      <a:r>
                        <a:rPr sz="2400" b="0">
                          <a:solidFill>
                            <a:srgbClr val="172B3A"/>
                          </a:solidFill>
                          <a:latin typeface="Arial"/>
                          <a:ea typeface="Arial"/>
                          <a:cs typeface="Arial"/>
                        </a:rPr>
                        <a:t>Magnetósferas</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400" b="0">
                          <a:solidFill>
                            <a:srgbClr val="172B3A"/>
                          </a:solidFill>
                          <a:latin typeface="Arial"/>
                          <a:ea typeface="Arial"/>
                          <a:cs typeface="Arial"/>
                        </a:rPr>
                        <a:t>Poblaciones atrapadas</a:t>
                      </a:r>
                    </a:p>
                  </a:txBody>
                  <a:tcPr marL="91440" marR="91440" marT="45720" marB="45720">
                    <a:lnR w="5715">
                      <a:solidFill>
                        <a:srgbClr val="D7E2E6"/>
                      </a:solidFill>
                      <a:prstDash val="solid"/>
                    </a:lnR>
                    <a:lnB w="5715">
                      <a:solidFill>
                        <a:srgbClr val="D7E2E6"/>
                      </a:solidFill>
                      <a:prstDash val="solid"/>
                    </a:lnB>
                    <a:solidFill>
                      <a:srgbClr val="FFFFFF"/>
                    </a:solidFill>
                  </a:tcPr>
                </a:tc>
              </a:tr>
              <a:tr h="571500">
                <a:tc>
                  <a:txBody>
                    <a:bodyPr>
                      <a:noAutofit/>
                    </a:bodyPr>
                    <a:lstStyle/>
                    <a:p>
                      <a:r>
                        <a:rPr sz="2400" b="0">
                          <a:solidFill>
                            <a:srgbClr val="172B3A"/>
                          </a:solidFill>
                          <a:latin typeface="Arial"/>
                          <a:ea typeface="Arial"/>
                          <a:cs typeface="Arial"/>
                        </a:rPr>
                        <a:t>RTG y calentadores</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400" b="0">
                          <a:solidFill>
                            <a:srgbClr val="172B3A"/>
                          </a:solidFill>
                          <a:latin typeface="Arial"/>
                          <a:ea typeface="Arial"/>
                          <a:cs typeface="Arial"/>
                        </a:rPr>
                        <a:t>Neutrones y gamma externos</a:t>
                      </a:r>
                    </a:p>
                  </a:txBody>
                  <a:tcPr marL="91440" marR="91440" marT="45720" marB="45720">
                    <a:lnR w="5715">
                      <a:solidFill>
                        <a:srgbClr val="D7E2E6"/>
                      </a:solidFill>
                      <a:prstDash val="solid"/>
                    </a:lnR>
                    <a:lnB w="5715">
                      <a:solidFill>
                        <a:srgbClr val="D7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52007E3-1BF6-4D59-A0C3-A49F0FE29DF0}"/>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04</a:t>
            </a:r>
          </a:p>
        </p:txBody>
      </p:sp>
    </p:spTree>
    <p:extLst>
      <p:ext uri="{BB962C8B-B14F-4D97-AF65-F5344CB8AC3E}">
        <p14:creationId xmlns:p14="http://schemas.microsoft.com/office/powerpoint/2010/main" val="16437844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EB97E6-7610-4ED3-9187-A95B3784B45E}"/>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Partículas, fotones e ionización</a:t>
            </a:r>
          </a:p>
        </p:txBody>
      </p:sp>
      <p:sp>
        <p:nvSpPr>
          <p:cNvPr id="2" name="">
            <a:extLst xmlns:a="http://schemas.openxmlformats.org/drawingml/2006/main">
              <a:ext uri="{FF2B5EF4-FFF2-40B4-BE49-F238E27FC236}">
                <a16:creationId xmlns:a16="http://schemas.microsoft.com/office/drawing/2014/main" id="{E42C604D-088D-429A-9EA4-950D9319ADC5}"/>
              </a:ext>
            </a:extLst>
          </p:cNvPr>
          <p:cNvSpPr>
            <a:spLocks xmlns:a="http://schemas.openxmlformats.org/drawingml/2006/main" noGrp="1"/>
          </p:cNvSpPr>
          <p:nvPr/>
        </p:nvSpPr>
        <p:spPr>
          <a:xfrm xmlns:a="http://schemas.openxmlformats.org/drawingml/2006/main">
            <a:off x="609600" y="1524000"/>
            <a:ext cx="10858500" cy="12075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La radiación puede transportar energía mediante partículas o fotones. Al</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interactuar con un material puede generar cargas móviles, modificar enlaces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o desplazar átomos de la red.</a:t>
            </a:r>
          </a:p>
        </p:txBody>
      </p:sp>
      <p:graphicFrame>
        <p:nvGraphicFramePr>
          <p:cNvPr id="3" name="">
            <a:extLst xmlns:a="http://schemas.openxmlformats.org/drawingml/2006/main">
              <a:ext uri="{FF2B5EF4-FFF2-40B4-BE49-F238E27FC236}">
                <a16:creationId xmlns:a16="http://schemas.microsoft.com/office/drawing/2014/main" id="{9AF22FB8-93A8-4FD8-8F1C-00B8EA0DCB26}"/>
              </a:ext>
            </a:extLst>
          </p:cNvPr>
          <p:cNvGraphicFramePr/>
          <p:nvPr/>
        </p:nvGraphicFramePr>
        <p:xfrm>
          <a:off xmlns:a="http://schemas.openxmlformats.org/drawingml/2006/main" x="609600" y="2743200"/>
          <a:ext xmlns:a="http://schemas.openxmlformats.org/drawingml/2006/main" cx="10858500" cy="3257550"/>
        </p:xfrm>
        <a:graphic xmlns:a="http://schemas.openxmlformats.org/drawingml/2006/main">
          <a:graphicData uri="http://schemas.openxmlformats.org/drawingml/2006/table">
            <a:tbl>
              <a:tblPr/>
              <a:tblGrid>
                <a:gridCol w="3714750"/>
                <a:gridCol w="7143750"/>
              </a:tblGrid>
              <a:tr h="542925">
                <a:tc>
                  <a:txBody>
                    <a:bodyPr>
                      <a:noAutofit/>
                    </a:bodyPr>
                    <a:lstStyle/>
                    <a:p>
                      <a:r>
                        <a:rPr sz="2250" b="1">
                          <a:solidFill>
                            <a:srgbClr val="FFFFFF"/>
                          </a:solidFill>
                          <a:latin typeface="Arial"/>
                          <a:ea typeface="Arial"/>
                          <a:cs typeface="Arial"/>
                        </a:rPr>
                        <a:t>Radiación</a:t>
                      </a:r>
                    </a:p>
                  </a:txBody>
                  <a:tcPr marL="91440" marR="91440" marT="45720" marB="45720">
                    <a:lnL w="5715">
                      <a:solidFill>
                        <a:srgbClr val="D7E2E6"/>
                      </a:solidFill>
                      <a:prstDash val="solid"/>
                    </a:lnL>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250" b="1">
                          <a:solidFill>
                            <a:srgbClr val="FFFFFF"/>
                          </a:solidFill>
                          <a:latin typeface="Arial"/>
                          <a:ea typeface="Arial"/>
                          <a:cs typeface="Arial"/>
                        </a:rPr>
                        <a:t>Qué es</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r>
              <a:tr h="542925">
                <a:tc>
                  <a:txBody>
                    <a:bodyPr>
                      <a:noAutofit/>
                    </a:bodyPr>
                    <a:lstStyle/>
                    <a:p>
                      <a:r>
                        <a:rPr sz="2250" b="0">
                          <a:solidFill>
                            <a:srgbClr val="172B3A"/>
                          </a:solidFill>
                          <a:latin typeface="Arial"/>
                          <a:ea typeface="Arial"/>
                          <a:cs typeface="Arial"/>
                        </a:rPr>
                        <a:t>Protones y otros núcleos</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250" b="0">
                          <a:solidFill>
                            <a:srgbClr val="172B3A"/>
                          </a:solidFill>
                          <a:latin typeface="Arial"/>
                          <a:ea typeface="Arial"/>
                          <a:cs typeface="Arial"/>
                        </a:rPr>
                        <a:t>Partículas con carga positiva</a:t>
                      </a:r>
                    </a:p>
                  </a:txBody>
                  <a:tcPr marL="91440" marR="91440" marT="45720" marB="45720">
                    <a:lnR w="5715">
                      <a:solidFill>
                        <a:srgbClr val="D7E2E6"/>
                      </a:solidFill>
                      <a:prstDash val="solid"/>
                    </a:lnR>
                    <a:lnB w="5715">
                      <a:solidFill>
                        <a:srgbClr val="D7E2E6"/>
                      </a:solidFill>
                      <a:prstDash val="solid"/>
                    </a:lnB>
                    <a:solidFill>
                      <a:srgbClr val="FFFFFF"/>
                    </a:solidFill>
                  </a:tcPr>
                </a:tc>
              </a:tr>
              <a:tr h="542925">
                <a:tc>
                  <a:txBody>
                    <a:bodyPr>
                      <a:noAutofit/>
                    </a:bodyPr>
                    <a:lstStyle/>
                    <a:p>
                      <a:r>
                        <a:rPr sz="2250" b="0">
                          <a:solidFill>
                            <a:srgbClr val="172B3A"/>
                          </a:solidFill>
                          <a:latin typeface="Arial"/>
                          <a:ea typeface="Arial"/>
                          <a:cs typeface="Arial"/>
                        </a:rPr>
                        <a:t>Electrones / beta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250" b="0">
                          <a:solidFill>
                            <a:srgbClr val="172B3A"/>
                          </a:solidFill>
                          <a:latin typeface="Arial"/>
                          <a:ea typeface="Arial"/>
                          <a:cs typeface="Arial"/>
                        </a:rPr>
                        <a:t>Electrones; beta también positrones</a:t>
                      </a:r>
                    </a:p>
                  </a:txBody>
                  <a:tcPr marL="91440" marR="91440" marT="45720" marB="45720">
                    <a:lnR w="5715">
                      <a:solidFill>
                        <a:srgbClr val="D7E2E6"/>
                      </a:solidFill>
                      <a:prstDash val="solid"/>
                    </a:lnR>
                    <a:lnB w="5715">
                      <a:solidFill>
                        <a:srgbClr val="D7E2E6"/>
                      </a:solidFill>
                      <a:prstDash val="solid"/>
                    </a:lnB>
                    <a:solidFill>
                      <a:srgbClr val="FFFFFF"/>
                    </a:solidFill>
                  </a:tcPr>
                </a:tc>
              </a:tr>
              <a:tr h="542925">
                <a:tc>
                  <a:txBody>
                    <a:bodyPr>
                      <a:noAutofit/>
                    </a:bodyPr>
                    <a:lstStyle/>
                    <a:p>
                      <a:r>
                        <a:rPr sz="2250" b="0">
                          <a:solidFill>
                            <a:srgbClr val="172B3A"/>
                          </a:solidFill>
                          <a:latin typeface="Arial"/>
                          <a:ea typeface="Arial"/>
                          <a:cs typeface="Arial"/>
                        </a:rPr>
                        <a:t>Alfa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250" b="0">
                          <a:solidFill>
                            <a:srgbClr val="172B3A"/>
                          </a:solidFill>
                          <a:latin typeface="Arial"/>
                          <a:ea typeface="Arial"/>
                          <a:cs typeface="Arial"/>
                        </a:rPr>
                        <a:t>Núcleos de helio-4</a:t>
                      </a:r>
                    </a:p>
                  </a:txBody>
                  <a:tcPr marL="91440" marR="91440" marT="45720" marB="45720">
                    <a:lnR w="5715">
                      <a:solidFill>
                        <a:srgbClr val="D7E2E6"/>
                      </a:solidFill>
                      <a:prstDash val="solid"/>
                    </a:lnR>
                    <a:lnB w="5715">
                      <a:solidFill>
                        <a:srgbClr val="D7E2E6"/>
                      </a:solidFill>
                      <a:prstDash val="solid"/>
                    </a:lnB>
                    <a:solidFill>
                      <a:srgbClr val="FFFFFF"/>
                    </a:solidFill>
                  </a:tcPr>
                </a:tc>
              </a:tr>
              <a:tr h="542925">
                <a:tc>
                  <a:txBody>
                    <a:bodyPr>
                      <a:noAutofit/>
                    </a:bodyPr>
                    <a:lstStyle/>
                    <a:p>
                      <a:r>
                        <a:rPr sz="2250" b="0">
                          <a:solidFill>
                            <a:srgbClr val="172B3A"/>
                          </a:solidFill>
                          <a:latin typeface="Arial"/>
                          <a:ea typeface="Arial"/>
                          <a:cs typeface="Arial"/>
                        </a:rPr>
                        <a:t>Rayos X / gamma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250" b="0">
                          <a:solidFill>
                            <a:srgbClr val="172B3A"/>
                          </a:solidFill>
                          <a:latin typeface="Arial"/>
                          <a:ea typeface="Arial"/>
                          <a:cs typeface="Arial"/>
                        </a:rPr>
                        <a:t>Fotones sin carga</a:t>
                      </a:r>
                    </a:p>
                  </a:txBody>
                  <a:tcPr marL="91440" marR="91440" marT="45720" marB="45720">
                    <a:lnR w="5715">
                      <a:solidFill>
                        <a:srgbClr val="D7E2E6"/>
                      </a:solidFill>
                      <a:prstDash val="solid"/>
                    </a:lnR>
                    <a:lnB w="5715">
                      <a:solidFill>
                        <a:srgbClr val="D7E2E6"/>
                      </a:solidFill>
                      <a:prstDash val="solid"/>
                    </a:lnB>
                    <a:solidFill>
                      <a:srgbClr val="FFFFFF"/>
                    </a:solidFill>
                  </a:tcPr>
                </a:tc>
              </a:tr>
              <a:tr h="542925">
                <a:tc>
                  <a:txBody>
                    <a:bodyPr>
                      <a:noAutofit/>
                    </a:bodyPr>
                    <a:lstStyle/>
                    <a:p>
                      <a:r>
                        <a:rPr sz="2250" b="0">
                          <a:solidFill>
                            <a:srgbClr val="172B3A"/>
                          </a:solidFill>
                          <a:latin typeface="Arial"/>
                          <a:ea typeface="Arial"/>
                          <a:cs typeface="Arial"/>
                        </a:rPr>
                        <a:t>Neutrones</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250" b="0">
                          <a:solidFill>
                            <a:srgbClr val="172B3A"/>
                          </a:solidFill>
                          <a:latin typeface="Arial"/>
                          <a:ea typeface="Arial"/>
                          <a:cs typeface="Arial"/>
                        </a:rPr>
                        <a:t>Partículas sin carga</a:t>
                      </a:r>
                    </a:p>
                  </a:txBody>
                  <a:tcPr marL="91440" marR="91440" marT="45720" marB="45720">
                    <a:lnR w="5715">
                      <a:solidFill>
                        <a:srgbClr val="D7E2E6"/>
                      </a:solidFill>
                      <a:prstDash val="solid"/>
                    </a:lnR>
                    <a:lnB w="5715">
                      <a:solidFill>
                        <a:srgbClr val="D7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EF9C5B6-C915-4931-941A-6B73B4C779CC}"/>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05</a:t>
            </a:r>
          </a:p>
        </p:txBody>
      </p:sp>
    </p:spTree>
    <p:extLst>
      <p:ext uri="{BB962C8B-B14F-4D97-AF65-F5344CB8AC3E}">
        <p14:creationId xmlns:p14="http://schemas.microsoft.com/office/powerpoint/2010/main" val="15696979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322693-0AD4-4302-81B1-856AFF65C91B}"/>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Tipo, energía, flujo y dosis</a:t>
            </a:r>
          </a:p>
        </p:txBody>
      </p:sp>
      <p:sp>
        <p:nvSpPr>
          <p:cNvPr id="2" name="">
            <a:extLst xmlns:a="http://schemas.openxmlformats.org/drawingml/2006/main">
              <a:ext uri="{FF2B5EF4-FFF2-40B4-BE49-F238E27FC236}">
                <a16:creationId xmlns:a16="http://schemas.microsoft.com/office/drawing/2014/main" id="{72B82C70-379F-42B4-9DDE-7E71B258B6FF}"/>
              </a:ext>
            </a:extLst>
          </p:cNvPr>
          <p:cNvSpPr>
            <a:spLocks xmlns:a="http://schemas.openxmlformats.org/drawingml/2006/main" noGrp="1"/>
          </p:cNvSpPr>
          <p:nvPr/>
        </p:nvSpPr>
        <p:spPr>
          <a:xfrm xmlns:a="http://schemas.openxmlformats.org/drawingml/2006/main">
            <a:off x="609600" y="1524000"/>
            <a:ext cx="10858500" cy="12075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La energía ayuda a entender cómo interactúa la radiación y cuánto puede</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penetrar. El flujo cuenta lo que llega; la dosis mide la energía que el material</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absorbe por unidad de masa.</a:t>
            </a:r>
          </a:p>
        </p:txBody>
      </p:sp>
      <p:graphicFrame>
        <p:nvGraphicFramePr>
          <p:cNvPr id="3" name="">
            <a:extLst xmlns:a="http://schemas.openxmlformats.org/drawingml/2006/main">
              <a:ext uri="{FF2B5EF4-FFF2-40B4-BE49-F238E27FC236}">
                <a16:creationId xmlns:a16="http://schemas.microsoft.com/office/drawing/2014/main" id="{53EFF04F-6256-4D0A-8A82-150736E8A682}"/>
              </a:ext>
            </a:extLst>
          </p:cNvPr>
          <p:cNvGraphicFramePr/>
          <p:nvPr/>
        </p:nvGraphicFramePr>
        <p:xfrm>
          <a:off xmlns:a="http://schemas.openxmlformats.org/drawingml/2006/main" x="609600" y="2952750"/>
          <a:ext xmlns:a="http://schemas.openxmlformats.org/drawingml/2006/main" cx="10858500" cy="2571750"/>
        </p:xfrm>
        <a:graphic xmlns:a="http://schemas.openxmlformats.org/drawingml/2006/main">
          <a:graphicData uri="http://schemas.openxmlformats.org/drawingml/2006/table">
            <a:tbl>
              <a:tblPr/>
              <a:tblGrid>
                <a:gridCol w="3714750"/>
                <a:gridCol w="7143750"/>
              </a:tblGrid>
              <a:tr h="514350">
                <a:tc>
                  <a:txBody>
                    <a:bodyPr>
                      <a:noAutofit/>
                    </a:bodyPr>
                    <a:lstStyle/>
                    <a:p>
                      <a:r>
                        <a:rPr sz="2325" b="1">
                          <a:solidFill>
                            <a:srgbClr val="FFFFFF"/>
                          </a:solidFill>
                          <a:latin typeface="Arial"/>
                          <a:ea typeface="Arial"/>
                          <a:cs typeface="Arial"/>
                        </a:rPr>
                        <a:t>Característica</a:t>
                      </a:r>
                    </a:p>
                  </a:txBody>
                  <a:tcPr marL="91440" marR="91440" marT="45720" marB="45720">
                    <a:lnL w="5715">
                      <a:solidFill>
                        <a:srgbClr val="D7E2E6"/>
                      </a:solidFill>
                      <a:prstDash val="solid"/>
                    </a:lnL>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325" b="1">
                          <a:solidFill>
                            <a:srgbClr val="FFFFFF"/>
                          </a:solidFill>
                          <a:latin typeface="Arial"/>
                          <a:ea typeface="Arial"/>
                          <a:cs typeface="Arial"/>
                        </a:rPr>
                        <a:t>Qué expresa</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r>
              <a:tr h="514350">
                <a:tc>
                  <a:txBody>
                    <a:bodyPr>
                      <a:noAutofit/>
                    </a:bodyPr>
                    <a:lstStyle/>
                    <a:p>
                      <a:r>
                        <a:rPr sz="2325" b="0">
                          <a:solidFill>
                            <a:srgbClr val="172B3A"/>
                          </a:solidFill>
                          <a:latin typeface="Arial"/>
                          <a:ea typeface="Arial"/>
                          <a:cs typeface="Arial"/>
                        </a:rPr>
                        <a:t>Tipo</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325" b="0">
                          <a:solidFill>
                            <a:srgbClr val="172B3A"/>
                          </a:solidFill>
                          <a:latin typeface="Arial"/>
                          <a:ea typeface="Arial"/>
                          <a:cs typeface="Arial"/>
                        </a:rPr>
                        <a:t>Especie de partícula o fotón</a:t>
                      </a:r>
                    </a:p>
                  </a:txBody>
                  <a:tcPr marL="91440" marR="91440" marT="45720" marB="45720">
                    <a:lnR w="5715">
                      <a:solidFill>
                        <a:srgbClr val="D7E2E6"/>
                      </a:solidFill>
                      <a:prstDash val="solid"/>
                    </a:lnR>
                    <a:lnB w="5715">
                      <a:solidFill>
                        <a:srgbClr val="D7E2E6"/>
                      </a:solidFill>
                      <a:prstDash val="solid"/>
                    </a:lnB>
                    <a:solidFill>
                      <a:srgbClr val="FFFFFF"/>
                    </a:solidFill>
                  </a:tcPr>
                </a:tc>
              </a:tr>
              <a:tr h="514350">
                <a:tc>
                  <a:txBody>
                    <a:bodyPr>
                      <a:noAutofit/>
                    </a:bodyPr>
                    <a:lstStyle/>
                    <a:p>
                      <a:r>
                        <a:rPr sz="2325" b="0">
                          <a:solidFill>
                            <a:srgbClr val="172B3A"/>
                          </a:solidFill>
                          <a:latin typeface="Arial"/>
                          <a:ea typeface="Arial"/>
                          <a:cs typeface="Arial"/>
                        </a:rPr>
                        <a:t>Energía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325" b="0">
                          <a:solidFill>
                            <a:srgbClr val="172B3A"/>
                          </a:solidFill>
                          <a:latin typeface="Arial"/>
                          <a:ea typeface="Arial"/>
                          <a:cs typeface="Arial"/>
                        </a:rPr>
                        <a:t>Energía incidente: eV, keV, MeV</a:t>
                      </a:r>
                    </a:p>
                  </a:txBody>
                  <a:tcPr marL="91440" marR="91440" marT="45720" marB="45720">
                    <a:lnR w="5715">
                      <a:solidFill>
                        <a:srgbClr val="D7E2E6"/>
                      </a:solidFill>
                      <a:prstDash val="solid"/>
                    </a:lnR>
                    <a:lnB w="5715">
                      <a:solidFill>
                        <a:srgbClr val="D7E2E6"/>
                      </a:solidFill>
                      <a:prstDash val="solid"/>
                    </a:lnB>
                    <a:solidFill>
                      <a:srgbClr val="FFFFFF"/>
                    </a:solidFill>
                  </a:tcPr>
                </a:tc>
              </a:tr>
              <a:tr h="514350">
                <a:tc>
                  <a:txBody>
                    <a:bodyPr>
                      <a:noAutofit/>
                    </a:bodyPr>
                    <a:lstStyle/>
                    <a:p>
                      <a:r>
                        <a:rPr sz="2325" b="0">
                          <a:solidFill>
                            <a:srgbClr val="172B3A"/>
                          </a:solidFill>
                          <a:latin typeface="Arial"/>
                          <a:ea typeface="Arial"/>
                          <a:cs typeface="Arial"/>
                        </a:rPr>
                        <a:t>Flujo</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325" b="0">
                          <a:solidFill>
                            <a:srgbClr val="172B3A"/>
                          </a:solidFill>
                          <a:latin typeface="Arial"/>
                          <a:ea typeface="Arial"/>
                          <a:cs typeface="Arial"/>
                        </a:rPr>
                        <a:t>Partículas por área y tiempo</a:t>
                      </a:r>
                    </a:p>
                  </a:txBody>
                  <a:tcPr marL="91440" marR="91440" marT="45720" marB="45720">
                    <a:lnR w="5715">
                      <a:solidFill>
                        <a:srgbClr val="D7E2E6"/>
                      </a:solidFill>
                      <a:prstDash val="solid"/>
                    </a:lnR>
                    <a:lnB w="5715">
                      <a:solidFill>
                        <a:srgbClr val="D7E2E6"/>
                      </a:solidFill>
                      <a:prstDash val="solid"/>
                    </a:lnB>
                    <a:solidFill>
                      <a:srgbClr val="FFFFFF"/>
                    </a:solidFill>
                  </a:tcPr>
                </a:tc>
              </a:tr>
              <a:tr h="514350">
                <a:tc>
                  <a:txBody>
                    <a:bodyPr>
                      <a:noAutofit/>
                    </a:bodyPr>
                    <a:lstStyle/>
                    <a:p>
                      <a:r>
                        <a:rPr sz="2325" b="0">
                          <a:solidFill>
                            <a:srgbClr val="172B3A"/>
                          </a:solidFill>
                          <a:latin typeface="Arial"/>
                          <a:ea typeface="Arial"/>
                          <a:cs typeface="Arial"/>
                        </a:rPr>
                        <a:t>Dosis</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325" b="0">
                          <a:solidFill>
                            <a:srgbClr val="172B3A"/>
                          </a:solidFill>
                          <a:latin typeface="Arial"/>
                          <a:ea typeface="Arial"/>
                          <a:cs typeface="Arial"/>
                        </a:rPr>
                        <a:t>Energía absorbida por masa</a:t>
                      </a:r>
                    </a:p>
                  </a:txBody>
                  <a:tcPr marL="91440" marR="91440" marT="45720" marB="45720">
                    <a:lnR w="5715">
                      <a:solidFill>
                        <a:srgbClr val="D7E2E6"/>
                      </a:solidFill>
                      <a:prstDash val="solid"/>
                    </a:lnR>
                    <a:lnB w="5715">
                      <a:solidFill>
                        <a:srgbClr val="D7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434BD0C-D203-4FB0-8E92-22DA085D1633}"/>
              </a:ext>
            </a:extLst>
          </p:cNvPr>
          <p:cNvSpPr>
            <a:spLocks xmlns:a="http://schemas.openxmlformats.org/drawingml/2006/main" noGrp="1"/>
          </p:cNvSpPr>
          <p:nvPr/>
        </p:nvSpPr>
        <p:spPr>
          <a:xfrm xmlns:a="http://schemas.openxmlformats.org/drawingml/2006/main">
            <a:off x="609600" y="5762625"/>
            <a:ext cx="10763250"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Flujo acumulado en el tiempo = fluencia.</a:t>
            </a:r>
          </a:p>
        </p:txBody>
      </p:sp>
      <p:sp>
        <p:nvSpPr>
          <p:cNvPr id="5" name="">
            <a:extLst xmlns:a="http://schemas.openxmlformats.org/drawingml/2006/main">
              <a:ext uri="{FF2B5EF4-FFF2-40B4-BE49-F238E27FC236}">
                <a16:creationId xmlns:a16="http://schemas.microsoft.com/office/drawing/2014/main" id="{41DB1C23-FEFA-4959-87D9-F3D54FCD7C5A}"/>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06</a:t>
            </a:r>
          </a:p>
        </p:txBody>
      </p:sp>
    </p:spTree>
    <p:extLst>
      <p:ext uri="{BB962C8B-B14F-4D97-AF65-F5344CB8AC3E}">
        <p14:creationId xmlns:p14="http://schemas.microsoft.com/office/powerpoint/2010/main" val="17068509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AEE110-C3F0-460D-A413-94C87F17D895}"/>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Qué contiene Voyager</a:t>
            </a:r>
          </a:p>
        </p:txBody>
      </p:sp>
      <p:sp>
        <p:nvSpPr>
          <p:cNvPr id="2" name="">
            <a:extLst xmlns:a="http://schemas.openxmlformats.org/drawingml/2006/main">
              <a:ext uri="{FF2B5EF4-FFF2-40B4-BE49-F238E27FC236}">
                <a16:creationId xmlns:a16="http://schemas.microsoft.com/office/drawing/2014/main" id="{75421655-E85F-42C1-B22C-A41F18BF46FC}"/>
              </a:ext>
            </a:extLst>
          </p:cNvPr>
          <p:cNvSpPr>
            <a:spLocks xmlns:a="http://schemas.openxmlformats.org/drawingml/2006/main" noGrp="1"/>
          </p:cNvSpPr>
          <p:nvPr/>
        </p:nvSpPr>
        <p:spPr>
          <a:xfrm xmlns:a="http://schemas.openxmlformats.org/drawingml/2006/main">
            <a:off x="609600" y="1676400"/>
            <a:ext cx="5476875" cy="2032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Voyager combina fuentes de energía,</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estructura, instrumentos y circuitos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electrónicos. Nos vamos a concentrar</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en estos circuitos y en los materiales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que permiten que funcionen.</a:t>
            </a:r>
          </a:p>
        </p:txBody>
      </p:sp>
      <p:pic>
        <p:nvPicPr>
          <p:cNvPr id="3" name="">
            <a:extLst xmlns:a="http://schemas.openxmlformats.org/drawingml/2006/main">
              <a:ext uri="{FF2B5EF4-FFF2-40B4-BE49-F238E27FC236}">
                <a16:creationId xmlns:a16="http://schemas.microsoft.com/office/drawing/2014/main" id="{90EDBB97-8B55-4139-9A67-759A2C0DAFAA}"/>
              </a:ext>
            </a:extLst>
          </p:cNvPr>
          <p:cNvPicPr>
            <a:picLocks xmlns:a="http://schemas.openxmlformats.org/drawingml/2006/main" noChangeAspect="1"/>
          </p:cNvPicPr>
          <p:nvPr/>
        </p:nvPicPr>
        <p:blipFill>
          <a:blip xmlns:r="http://schemas.openxmlformats.org/officeDocument/2006/relationships" xmlns:a="http://schemas.openxmlformats.org/drawingml/2006/main" r:embed="Rf28d876c891b495b"/>
          <a:stretch xmlns:a="http://schemas.openxmlformats.org/drawingml/2006/main"/>
        </p:blipFill>
        <p:spPr>
          <a:xfrm xmlns:a="http://schemas.openxmlformats.org/drawingml/2006/main">
            <a:off x="6826342" y="1619250"/>
            <a:ext cx="4616266" cy="3476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9F43FD1-6C32-43DB-8A43-5F223552718D}"/>
              </a:ext>
            </a:extLst>
          </p:cNvPr>
          <p:cNvSpPr>
            <a:spLocks xmlns:a="http://schemas.openxmlformats.org/drawingml/2006/main" noGrp="1"/>
          </p:cNvSpPr>
          <p:nvPr/>
        </p:nvSpPr>
        <p:spPr>
          <a:xfrm xmlns:a="http://schemas.openxmlformats.org/drawingml/2006/main">
            <a:off x="6705600" y="5248275"/>
            <a:ext cx="485775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Componentes e instrumentos · NASA</a:t>
            </a:r>
          </a:p>
        </p:txBody>
      </p:sp>
      <p:sp>
        <p:nvSpPr>
          <p:cNvPr id="5" name="">
            <a:extLst xmlns:a="http://schemas.openxmlformats.org/drawingml/2006/main">
              <a:ext uri="{FF2B5EF4-FFF2-40B4-BE49-F238E27FC236}">
                <a16:creationId xmlns:a16="http://schemas.microsoft.com/office/drawing/2014/main" id="{E622C94F-07D8-4A99-B1F6-B578AF410189}"/>
              </a:ext>
            </a:extLst>
          </p:cNvPr>
          <p:cNvSpPr>
            <a:spLocks xmlns:a="http://schemas.openxmlformats.org/drawingml/2006/main" noGrp="1"/>
          </p:cNvSpPr>
          <p:nvPr/>
        </p:nvSpPr>
        <p:spPr>
          <a:xfrm xmlns:a="http://schemas.openxmlformats.org/drawingml/2006/main">
            <a:off x="609600" y="5619750"/>
            <a:ext cx="10763250" cy="417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26F87"/>
                </a:solidFill>
                <a:latin typeface="Arial"/>
                <a:ea typeface="Arial"/>
                <a:cs typeface="Arial"/>
              </a:defRPr>
            </a:defPPr>
          </a:lstStyle>
          <a:p xmlns:a="http://schemas.openxmlformats.org/drawingml/2006/main">
            <a:pPr>
              <a:defRPr sz="2325" b="0">
                <a:solidFill>
                  <a:srgbClr val="126F87"/>
                </a:solidFill>
                <a:latin typeface="Arial"/>
                <a:ea typeface="Arial"/>
                <a:cs typeface="Arial"/>
              </a:defRPr>
            </a:pPr>
            <a:r>
              <a:rPr sz="2325" b="0">
                <a:solidFill>
                  <a:srgbClr val="126F87"/>
                </a:solidFill>
                <a:latin typeface="Arial"/>
                <a:ea typeface="Arial"/>
                <a:cs typeface="Arial"/>
              </a:rPr>
              <a:t>Conductores, dieléctricos y semiconductores</a:t>
            </a:r>
          </a:p>
        </p:txBody>
      </p:sp>
      <p:sp>
        <p:nvSpPr>
          <p:cNvPr id="6" name="">
            <a:extLst xmlns:a="http://schemas.openxmlformats.org/drawingml/2006/main">
              <a:ext uri="{FF2B5EF4-FFF2-40B4-BE49-F238E27FC236}">
                <a16:creationId xmlns:a16="http://schemas.microsoft.com/office/drawing/2014/main" id="{36090B48-A6D1-421C-8E9C-9773B4251A3A}"/>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07</a:t>
            </a:r>
          </a:p>
        </p:txBody>
      </p:sp>
    </p:spTree>
    <p:extLst>
      <p:ext uri="{BB962C8B-B14F-4D97-AF65-F5344CB8AC3E}">
        <p14:creationId xmlns:p14="http://schemas.microsoft.com/office/powerpoint/2010/main" val="21297667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B97A47B-5F23-4AA8-B319-7AD3F79C806D}"/>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Computadoras, memoria y almacenamiento</a:t>
            </a:r>
          </a:p>
        </p:txBody>
      </p:sp>
      <p:sp>
        <p:nvSpPr>
          <p:cNvPr id="2" name="">
            <a:extLst xmlns:a="http://schemas.openxmlformats.org/drawingml/2006/main">
              <a:ext uri="{FF2B5EF4-FFF2-40B4-BE49-F238E27FC236}">
                <a16:creationId xmlns:a16="http://schemas.microsoft.com/office/drawing/2014/main" id="{716D9E50-6CFA-449E-9EB4-CD5E32F3E8F9}"/>
              </a:ext>
            </a:extLst>
          </p:cNvPr>
          <p:cNvSpPr>
            <a:spLocks xmlns:a="http://schemas.openxmlformats.org/drawingml/2006/main" noGrp="1"/>
          </p:cNvSpPr>
          <p:nvPr/>
        </p:nvSpPr>
        <p:spPr>
          <a:xfrm xmlns:a="http://schemas.openxmlformats.org/drawingml/2006/main">
            <a:off x="609600" y="1676400"/>
            <a:ext cx="5476875" cy="2032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Voyager distribuye el control y los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datos entre CCS, AACS y FDS.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Combina memorias magnéticas y</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CMOS con un grabador de cinta para</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almacenar información científica.</a:t>
            </a:r>
          </a:p>
        </p:txBody>
      </p:sp>
      <p:pic>
        <p:nvPicPr>
          <p:cNvPr id="3" name="">
            <a:extLst xmlns:a="http://schemas.openxmlformats.org/drawingml/2006/main">
              <a:ext uri="{FF2B5EF4-FFF2-40B4-BE49-F238E27FC236}">
                <a16:creationId xmlns:a16="http://schemas.microsoft.com/office/drawing/2014/main" id="{6ABF82E9-1350-42B1-B8C5-1687B0F53AE3}"/>
              </a:ext>
            </a:extLst>
          </p:cNvPr>
          <p:cNvPicPr>
            <a:picLocks xmlns:a="http://schemas.openxmlformats.org/drawingml/2006/main" noChangeAspect="1"/>
          </p:cNvPicPr>
          <p:nvPr/>
        </p:nvPicPr>
        <p:blipFill>
          <a:blip xmlns:r="http://schemas.openxmlformats.org/officeDocument/2006/relationships" xmlns:a="http://schemas.openxmlformats.org/drawingml/2006/main" r:embed="Raf50858c3fae4c45"/>
          <a:stretch xmlns:a="http://schemas.openxmlformats.org/drawingml/2006/main"/>
        </p:blipFill>
        <p:spPr>
          <a:xfrm xmlns:a="http://schemas.openxmlformats.org/drawingml/2006/main">
            <a:off x="6705600" y="1664593"/>
            <a:ext cx="4857750" cy="338594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E53CC9E-679A-4F82-A739-31F074F7EAE0}"/>
              </a:ext>
            </a:extLst>
          </p:cNvPr>
          <p:cNvSpPr>
            <a:spLocks xmlns:a="http://schemas.openxmlformats.org/drawingml/2006/main" noGrp="1"/>
          </p:cNvSpPr>
          <p:nvPr/>
        </p:nvSpPr>
        <p:spPr>
          <a:xfrm xmlns:a="http://schemas.openxmlformats.org/drawingml/2006/main">
            <a:off x="6705600" y="5248275"/>
            <a:ext cx="485775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Hardware FDS · JPL, foto 360-751AC</a:t>
            </a:r>
          </a:p>
        </p:txBody>
      </p:sp>
      <p:sp>
        <p:nvSpPr>
          <p:cNvPr id="5" name="">
            <a:extLst xmlns:a="http://schemas.openxmlformats.org/drawingml/2006/main">
              <a:ext uri="{FF2B5EF4-FFF2-40B4-BE49-F238E27FC236}">
                <a16:creationId xmlns:a16="http://schemas.microsoft.com/office/drawing/2014/main" id="{7159B57D-26AD-4F97-9A69-BA0F5A257F7E}"/>
              </a:ext>
            </a:extLst>
          </p:cNvPr>
          <p:cNvSpPr>
            <a:spLocks xmlns:a="http://schemas.openxmlformats.org/drawingml/2006/main" noGrp="1"/>
          </p:cNvSpPr>
          <p:nvPr/>
        </p:nvSpPr>
        <p:spPr>
          <a:xfrm xmlns:a="http://schemas.openxmlformats.org/drawingml/2006/main">
            <a:off x="609600" y="5619750"/>
            <a:ext cx="10763250" cy="417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26F87"/>
                </a:solidFill>
                <a:latin typeface="Arial"/>
                <a:ea typeface="Arial"/>
                <a:cs typeface="Arial"/>
              </a:defRPr>
            </a:defPPr>
          </a:lstStyle>
          <a:p xmlns:a="http://schemas.openxmlformats.org/drawingml/2006/main">
            <a:pPr>
              <a:defRPr sz="2325" b="0">
                <a:solidFill>
                  <a:srgbClr val="126F87"/>
                </a:solidFill>
                <a:latin typeface="Arial"/>
                <a:ea typeface="Arial"/>
                <a:cs typeface="Arial"/>
              </a:defRPr>
            </a:pPr>
            <a:r>
              <a:rPr sz="2325" b="0">
                <a:solidFill>
                  <a:srgbClr val="126F87"/>
                </a:solidFill>
                <a:latin typeface="Arial"/>
                <a:ea typeface="Arial"/>
                <a:cs typeface="Arial"/>
              </a:rPr>
              <a:t>CCS: comandos · AACS: orientación · FDS: datos</a:t>
            </a:r>
          </a:p>
        </p:txBody>
      </p:sp>
      <p:sp>
        <p:nvSpPr>
          <p:cNvPr id="6" name="">
            <a:extLst xmlns:a="http://schemas.openxmlformats.org/drawingml/2006/main">
              <a:ext uri="{FF2B5EF4-FFF2-40B4-BE49-F238E27FC236}">
                <a16:creationId xmlns:a16="http://schemas.microsoft.com/office/drawing/2014/main" id="{0B5A1163-45A9-46D5-9108-DC54D3B042D9}"/>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08</a:t>
            </a:r>
          </a:p>
        </p:txBody>
      </p:sp>
    </p:spTree>
    <p:extLst>
      <p:ext uri="{BB962C8B-B14F-4D97-AF65-F5344CB8AC3E}">
        <p14:creationId xmlns:p14="http://schemas.microsoft.com/office/powerpoint/2010/main" val="1075960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CFB9941-2562-4A85-9EF6-47548D3B65D7}"/>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Resistencias: valor y aislamiento</a:t>
            </a:r>
          </a:p>
        </p:txBody>
      </p:sp>
      <p:sp>
        <p:nvSpPr>
          <p:cNvPr id="2" name="">
            <a:extLst xmlns:a="http://schemas.openxmlformats.org/drawingml/2006/main">
              <a:ext uri="{FF2B5EF4-FFF2-40B4-BE49-F238E27FC236}">
                <a16:creationId xmlns:a16="http://schemas.microsoft.com/office/drawing/2014/main" id="{5A034C34-1B5D-43E4-BC53-89C2566A01E4}"/>
              </a:ext>
            </a:extLst>
          </p:cNvPr>
          <p:cNvSpPr>
            <a:spLocks xmlns:a="http://schemas.openxmlformats.org/drawingml/2006/main" noGrp="1"/>
          </p:cNvSpPr>
          <p:nvPr/>
        </p:nvSpPr>
        <p:spPr>
          <a:xfrm xmlns:a="http://schemas.openxmlformats.org/drawingml/2006/main">
            <a:off x="609600" y="1524000"/>
            <a:ext cx="10858500" cy="1312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Una resistencia puede conservar su valor y aun así participar en una</a:t>
            </a:r>
          </a:p>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lectura incorrecta. Si aparece una corriente de fuga, una entrada de</a:t>
            </a:r>
          </a:p>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alta resistencia la convierte en una tensión apreciable.</a:t>
            </a:r>
          </a:p>
        </p:txBody>
      </p:sp>
      <p:sp>
        <p:nvSpPr>
          <p:cNvPr id="3" name="">
            <a:extLst xmlns:a="http://schemas.openxmlformats.org/drawingml/2006/main">
              <a:ext uri="{FF2B5EF4-FFF2-40B4-BE49-F238E27FC236}">
                <a16:creationId xmlns:a16="http://schemas.microsoft.com/office/drawing/2014/main" id="{A9B36B05-6E0E-4AAA-A6AD-FCFEFE2E3D57}"/>
              </a:ext>
            </a:extLst>
          </p:cNvPr>
          <p:cNvSpPr>
            <a:spLocks xmlns:a="http://schemas.openxmlformats.org/drawingml/2006/main" noGrp="1"/>
          </p:cNvSpPr>
          <p:nvPr/>
        </p:nvSpPr>
        <p:spPr>
          <a:xfrm xmlns:a="http://schemas.openxmlformats.org/drawingml/2006/main">
            <a:off x="609600" y="3381375"/>
            <a:ext cx="10858500" cy="4522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1">
                <a:solidFill>
                  <a:srgbClr val="126F87"/>
                </a:solidFill>
                <a:latin typeface="Arial"/>
                <a:ea typeface="Arial"/>
                <a:cs typeface="Arial"/>
              </a:defRPr>
            </a:defPPr>
          </a:lstStyle>
          <a:p xmlns:a="http://schemas.openxmlformats.org/drawingml/2006/main">
            <a:pPr>
              <a:defRPr sz="2550" b="1">
                <a:solidFill>
                  <a:srgbClr val="126F87"/>
                </a:solidFill>
                <a:latin typeface="Arial"/>
                <a:ea typeface="Arial"/>
                <a:cs typeface="Arial"/>
              </a:defRPr>
            </a:pPr>
            <a:r>
              <a:rPr sz="2550" b="1">
                <a:solidFill>
                  <a:srgbClr val="126F87"/>
                </a:solidFill>
                <a:latin typeface="Arial"/>
                <a:ea typeface="Arial"/>
                <a:cs typeface="Arial"/>
              </a:rPr>
              <a:t>Entrada de antena del PWS</a:t>
            </a:r>
          </a:p>
        </p:txBody>
      </p:sp>
      <p:sp>
        <p:nvSpPr>
          <p:cNvPr id="4" name="">
            <a:extLst xmlns:a="http://schemas.openxmlformats.org/drawingml/2006/main">
              <a:ext uri="{FF2B5EF4-FFF2-40B4-BE49-F238E27FC236}">
                <a16:creationId xmlns:a16="http://schemas.microsoft.com/office/drawing/2014/main" id="{7C1A0411-0BBA-4DEC-9CFB-61C120A7AFE6}"/>
              </a:ext>
            </a:extLst>
          </p:cNvPr>
          <p:cNvSpPr>
            <a:spLocks xmlns:a="http://schemas.openxmlformats.org/drawingml/2006/main" noGrp="1"/>
          </p:cNvSpPr>
          <p:nvPr/>
        </p:nvSpPr>
        <p:spPr>
          <a:xfrm xmlns:a="http://schemas.openxmlformats.org/drawingml/2006/main">
            <a:off x="609600" y="4067175"/>
            <a:ext cx="10858500" cy="71951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275" b="1">
                <a:solidFill>
                  <a:srgbClr val="172B3A"/>
                </a:solidFill>
                <a:latin typeface="Arial"/>
                <a:ea typeface="Arial"/>
                <a:cs typeface="Arial"/>
              </a:defRPr>
            </a:defPPr>
          </a:lstStyle>
          <a:p xmlns:a="http://schemas.openxmlformats.org/drawingml/2006/main">
            <a:pPr>
              <a:defRPr sz="4275" b="1">
                <a:solidFill>
                  <a:srgbClr val="172B3A"/>
                </a:solidFill>
                <a:latin typeface="Arial"/>
                <a:ea typeface="Arial"/>
                <a:cs typeface="Arial"/>
              </a:defRPr>
            </a:pPr>
            <a:r>
              <a:rPr sz="4275" b="1">
                <a:solidFill>
                  <a:srgbClr val="172B3A"/>
                </a:solidFill>
                <a:latin typeface="Arial"/>
                <a:ea typeface="Arial"/>
                <a:cs typeface="Arial"/>
              </a:rPr>
              <a:t>4 µA × 20 MΩ = 80 V</a:t>
            </a:r>
          </a:p>
        </p:txBody>
      </p:sp>
      <p:sp>
        <p:nvSpPr>
          <p:cNvPr id="5" name="">
            <a:extLst xmlns:a="http://schemas.openxmlformats.org/drawingml/2006/main">
              <a:ext uri="{FF2B5EF4-FFF2-40B4-BE49-F238E27FC236}">
                <a16:creationId xmlns:a16="http://schemas.microsoft.com/office/drawing/2014/main" id="{87434ECE-DAAE-4B2F-B4BD-2F2B70BD43EF}"/>
              </a:ext>
            </a:extLst>
          </p:cNvPr>
          <p:cNvSpPr>
            <a:spLocks xmlns:a="http://schemas.openxmlformats.org/drawingml/2006/main" noGrp="1"/>
          </p:cNvSpPr>
          <p:nvPr/>
        </p:nvSpPr>
        <p:spPr>
          <a:xfrm xmlns:a="http://schemas.openxmlformats.org/drawingml/2006/main">
            <a:off x="609600" y="5010150"/>
            <a:ext cx="10858500" cy="4522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Resistencia especificada para 500 V.</a:t>
            </a:r>
          </a:p>
        </p:txBody>
      </p:sp>
      <p:sp>
        <p:nvSpPr>
          <p:cNvPr id="6" name="">
            <a:extLst xmlns:a="http://schemas.openxmlformats.org/drawingml/2006/main">
              <a:ext uri="{FF2B5EF4-FFF2-40B4-BE49-F238E27FC236}">
                <a16:creationId xmlns:a16="http://schemas.microsoft.com/office/drawing/2014/main" id="{2948DABE-0B1D-4FD2-9A47-B0D758EA7AB6}"/>
              </a:ext>
            </a:extLst>
          </p:cNvPr>
          <p:cNvSpPr>
            <a:spLocks xmlns:a="http://schemas.openxmlformats.org/drawingml/2006/main" noGrp="1"/>
          </p:cNvSpPr>
          <p:nvPr/>
        </p:nvSpPr>
        <p:spPr>
          <a:xfrm xmlns:a="http://schemas.openxmlformats.org/drawingml/2006/main">
            <a:off x="609600" y="5657850"/>
            <a:ext cx="10858500" cy="359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49616E"/>
                </a:solidFill>
                <a:latin typeface="Arial"/>
                <a:ea typeface="Arial"/>
                <a:cs typeface="Arial"/>
              </a:defRPr>
            </a:defPPr>
          </a:lstStyle>
          <a:p xmlns:a="http://schemas.openxmlformats.org/drawingml/2006/main">
            <a:pPr>
              <a:defRPr sz="1950" b="0">
                <a:solidFill>
                  <a:srgbClr val="49616E"/>
                </a:solidFill>
                <a:latin typeface="Arial"/>
                <a:ea typeface="Arial"/>
                <a:cs typeface="Arial"/>
              </a:defRPr>
            </a:pPr>
            <a:r>
              <a:rPr sz="1950" b="0">
                <a:solidFill>
                  <a:srgbClr val="49616E"/>
                </a:solidFill>
                <a:latin typeface="Arial"/>
                <a:ea typeface="Arial"/>
                <a:cs typeface="Arial"/>
              </a:rPr>
              <a:t>Caso de carga de antena; S08, §5.G.</a:t>
            </a:r>
          </a:p>
        </p:txBody>
      </p:sp>
      <p:sp>
        <p:nvSpPr>
          <p:cNvPr id="7" name="">
            <a:extLst xmlns:a="http://schemas.openxmlformats.org/drawingml/2006/main">
              <a:ext uri="{FF2B5EF4-FFF2-40B4-BE49-F238E27FC236}">
                <a16:creationId xmlns:a16="http://schemas.microsoft.com/office/drawing/2014/main" id="{EE583295-88EA-4F2F-8C7D-09A5A6F40686}"/>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09</a:t>
            </a:r>
          </a:p>
        </p:txBody>
      </p:sp>
    </p:spTree>
    <p:extLst>
      <p:ext uri="{BB962C8B-B14F-4D97-AF65-F5344CB8AC3E}">
        <p14:creationId xmlns:p14="http://schemas.microsoft.com/office/powerpoint/2010/main" val="15428698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649766-D573-4F21-8632-01C2B75C8E7F}"/>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Capacitores: conservar el aislamiento</a:t>
            </a:r>
          </a:p>
        </p:txBody>
      </p:sp>
      <p:sp>
        <p:nvSpPr>
          <p:cNvPr id="2" name="">
            <a:extLst xmlns:a="http://schemas.openxmlformats.org/drawingml/2006/main">
              <a:ext uri="{FF2B5EF4-FFF2-40B4-BE49-F238E27FC236}">
                <a16:creationId xmlns:a16="http://schemas.microsoft.com/office/drawing/2014/main" id="{B47E4ED8-9A2A-4D7D-9248-195B66662495}"/>
              </a:ext>
            </a:extLst>
          </p:cNvPr>
          <p:cNvSpPr>
            <a:spLocks xmlns:a="http://schemas.openxmlformats.org/drawingml/2006/main" noGrp="1"/>
          </p:cNvSpPr>
          <p:nvPr/>
        </p:nvSpPr>
        <p:spPr>
          <a:xfrm xmlns:a="http://schemas.openxmlformats.org/drawingml/2006/main">
            <a:off x="609600" y="1524000"/>
            <a:ext cx="10858500" cy="1312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0">
                <a:solidFill>
                  <a:srgbClr val="172B3A"/>
                </a:solidFill>
                <a:latin typeface="Arial"/>
                <a:ea typeface="Arial"/>
                <a:cs typeface="Arial"/>
              </a:defRPr>
            </a:defPPr>
          </a:lstStyle>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La radiación puede aumentar la conductividad del dieléctrico y hacer</a:t>
            </a:r>
          </a:p>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que el capacitor pierda carga más rápido. Por eso, comprobar su</a:t>
            </a:r>
          </a:p>
          <a:p xmlns:a="http://schemas.openxmlformats.org/drawingml/2006/main">
            <a:pPr>
              <a:defRPr sz="2700" b="0">
                <a:solidFill>
                  <a:srgbClr val="172B3A"/>
                </a:solidFill>
                <a:latin typeface="Arial"/>
                <a:ea typeface="Arial"/>
                <a:cs typeface="Arial"/>
              </a:defRPr>
            </a:pPr>
            <a:r>
              <a:rPr sz="2700" b="0">
                <a:solidFill>
                  <a:srgbClr val="172B3A"/>
                </a:solidFill>
                <a:latin typeface="Arial"/>
                <a:ea typeface="Arial"/>
                <a:cs typeface="Arial"/>
              </a:rPr>
              <a:t>capacitancia no alcanza: también importa que conserve el aislamiento.</a:t>
            </a:r>
          </a:p>
        </p:txBody>
      </p:sp>
      <p:graphicFrame>
        <p:nvGraphicFramePr>
          <p:cNvPr id="3" name="">
            <a:extLst xmlns:a="http://schemas.openxmlformats.org/drawingml/2006/main">
              <a:ext uri="{FF2B5EF4-FFF2-40B4-BE49-F238E27FC236}">
                <a16:creationId xmlns:a16="http://schemas.microsoft.com/office/drawing/2014/main" id="{D2488E4D-C623-41F6-AE2B-4DB2A5057C1B}"/>
              </a:ext>
            </a:extLst>
          </p:cNvPr>
          <p:cNvGraphicFramePr/>
          <p:nvPr/>
        </p:nvGraphicFramePr>
        <p:xfrm>
          <a:off xmlns:a="http://schemas.openxmlformats.org/drawingml/2006/main" x="609600" y="3438525"/>
          <a:ext xmlns:a="http://schemas.openxmlformats.org/drawingml/2006/main" cx="10858500" cy="1952625"/>
        </p:xfrm>
        <a:graphic xmlns:a="http://schemas.openxmlformats.org/drawingml/2006/main">
          <a:graphicData uri="http://schemas.openxmlformats.org/drawingml/2006/table">
            <a:tbl>
              <a:tblPr/>
              <a:tblGrid>
                <a:gridCol w="5905500"/>
                <a:gridCol w="2381250"/>
                <a:gridCol w="2571750"/>
              </a:tblGrid>
              <a:tr h="650875">
                <a:tc>
                  <a:txBody>
                    <a:bodyPr>
                      <a:noAutofit/>
                    </a:bodyPr>
                    <a:lstStyle/>
                    <a:p>
                      <a:r>
                        <a:rPr sz="2325" b="1">
                          <a:solidFill>
                            <a:srgbClr val="FFFFFF"/>
                          </a:solidFill>
                          <a:latin typeface="Arial"/>
                          <a:ea typeface="Arial"/>
                          <a:cs typeface="Arial"/>
                        </a:rPr>
                        <a:t>Mismo capacitor: 10 nF</a:t>
                      </a:r>
                    </a:p>
                  </a:txBody>
                  <a:tcPr marL="91440" marR="91440" marT="45720" marB="45720">
                    <a:lnL w="5715">
                      <a:solidFill>
                        <a:srgbClr val="D7E2E6"/>
                      </a:solidFill>
                      <a:prstDash val="solid"/>
                    </a:lnL>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325" b="1">
                          <a:solidFill>
                            <a:srgbClr val="FFFFFF"/>
                          </a:solidFill>
                          <a:latin typeface="Arial"/>
                          <a:ea typeface="Arial"/>
                          <a:cs typeface="Arial"/>
                        </a:rPr>
                        <a:t>Antes</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c>
                  <a:txBody>
                    <a:bodyPr>
                      <a:noAutofit/>
                    </a:bodyPr>
                    <a:lstStyle/>
                    <a:p>
                      <a:r>
                        <a:rPr sz="2325" b="1">
                          <a:solidFill>
                            <a:srgbClr val="FFFFFF"/>
                          </a:solidFill>
                          <a:latin typeface="Arial"/>
                          <a:ea typeface="Arial"/>
                          <a:cs typeface="Arial"/>
                        </a:rPr>
                        <a:t>Con mayor fuga</a:t>
                      </a:r>
                    </a:p>
                  </a:txBody>
                  <a:tcPr marL="91440" marR="91440" marT="45720" marB="45720">
                    <a:lnR w="5715">
                      <a:solidFill>
                        <a:srgbClr val="D7E2E6"/>
                      </a:solidFill>
                      <a:prstDash val="solid"/>
                    </a:lnR>
                    <a:lnT w="5715">
                      <a:solidFill>
                        <a:srgbClr val="D7E2E6"/>
                      </a:solidFill>
                      <a:prstDash val="solid"/>
                    </a:lnT>
                    <a:lnB w="5715">
                      <a:solidFill>
                        <a:srgbClr val="D7E2E6"/>
                      </a:solidFill>
                      <a:prstDash val="solid"/>
                    </a:lnB>
                    <a:solidFill>
                      <a:srgbClr val="172B3A"/>
                    </a:solidFill>
                  </a:tcPr>
                </a:tc>
              </a:tr>
              <a:tr h="650875">
                <a:tc>
                  <a:txBody>
                    <a:bodyPr>
                      <a:noAutofit/>
                    </a:bodyPr>
                    <a:lstStyle/>
                    <a:p>
                      <a:r>
                        <a:rPr sz="2325" b="0">
                          <a:solidFill>
                            <a:srgbClr val="172B3A"/>
                          </a:solidFill>
                          <a:latin typeface="Arial"/>
                          <a:ea typeface="Arial"/>
                          <a:cs typeface="Arial"/>
                        </a:rPr>
                        <a:t>Resistencia de fuga</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325" b="0">
                          <a:solidFill>
                            <a:srgbClr val="172B3A"/>
                          </a:solidFill>
                          <a:latin typeface="Arial"/>
                          <a:ea typeface="Arial"/>
                          <a:cs typeface="Arial"/>
                        </a:rPr>
                        <a:t>10 GΩ</a:t>
                      </a:r>
                    </a:p>
                  </a:txBody>
                  <a:tcPr marL="91440" marR="91440" marT="45720" marB="45720">
                    <a:lnR w="5715">
                      <a:solidFill>
                        <a:srgbClr val="D7E2E6"/>
                      </a:solidFill>
                      <a:prstDash val="solid"/>
                    </a:lnR>
                    <a:lnB w="5715">
                      <a:solidFill>
                        <a:srgbClr val="D7E2E6"/>
                      </a:solidFill>
                      <a:prstDash val="solid"/>
                    </a:lnB>
                    <a:solidFill>
                      <a:srgbClr val="FFFFFF"/>
                    </a:solidFill>
                  </a:tcPr>
                </a:tc>
                <a:tc>
                  <a:txBody>
                    <a:bodyPr>
                      <a:noAutofit/>
                    </a:bodyPr>
                    <a:lstStyle/>
                    <a:p>
                      <a:r>
                        <a:rPr sz="2325" b="0">
                          <a:solidFill>
                            <a:srgbClr val="172B3A"/>
                          </a:solidFill>
                          <a:latin typeface="Arial"/>
                          <a:ea typeface="Arial"/>
                          <a:cs typeface="Arial"/>
                        </a:rPr>
                        <a:t>1 GΩ</a:t>
                      </a:r>
                    </a:p>
                  </a:txBody>
                  <a:tcPr marL="91440" marR="91440" marT="45720" marB="45720">
                    <a:lnR w="5715">
                      <a:solidFill>
                        <a:srgbClr val="D7E2E6"/>
                      </a:solidFill>
                      <a:prstDash val="solid"/>
                    </a:lnR>
                    <a:lnB w="5715">
                      <a:solidFill>
                        <a:srgbClr val="D7E2E6"/>
                      </a:solidFill>
                      <a:prstDash val="solid"/>
                    </a:lnB>
                    <a:solidFill>
                      <a:srgbClr val="FFFFFF"/>
                    </a:solidFill>
                  </a:tcPr>
                </a:tc>
              </a:tr>
              <a:tr h="650875">
                <a:tc>
                  <a:txBody>
                    <a:bodyPr>
                      <a:noAutofit/>
                    </a:bodyPr>
                    <a:lstStyle/>
                    <a:p>
                      <a:r>
                        <a:rPr sz="2325" b="0">
                          <a:solidFill>
                            <a:srgbClr val="172B3A"/>
                          </a:solidFill>
                          <a:latin typeface="Arial"/>
                          <a:ea typeface="Arial"/>
                          <a:cs typeface="Arial"/>
                        </a:rPr>
                        <a:t>Constante de tiempo</a:t>
                      </a:r>
                    </a:p>
                  </a:txBody>
                  <a:tcPr marL="91440" marR="91440" marT="45720" marB="45720">
                    <a:lnL w="5715">
                      <a:solidFill>
                        <a:srgbClr val="D7E2E6"/>
                      </a:solidFill>
                      <a:prstDash val="solid"/>
                    </a:lnL>
                    <a:lnR w="5715">
                      <a:solidFill>
                        <a:srgbClr val="D7E2E6"/>
                      </a:solidFill>
                      <a:prstDash val="solid"/>
                    </a:lnR>
                    <a:lnB w="5715">
                      <a:solidFill>
                        <a:srgbClr val="D7E2E6"/>
                      </a:solidFill>
                      <a:prstDash val="solid"/>
                    </a:lnB>
                    <a:solidFill>
                      <a:srgbClr val="FFFFFF"/>
                    </a:solidFill>
                  </a:tcPr>
                </a:tc>
                <a:tc>
                  <a:txBody>
                    <a:bodyPr>
                      <a:noAutofit/>
                    </a:bodyPr>
                    <a:lstStyle/>
                    <a:p>
                      <a:r>
                        <a:rPr sz="2325" b="0">
                          <a:solidFill>
                            <a:srgbClr val="172B3A"/>
                          </a:solidFill>
                          <a:latin typeface="Arial"/>
                          <a:ea typeface="Arial"/>
                          <a:cs typeface="Arial"/>
                        </a:rPr>
                        <a:t>100 s</a:t>
                      </a:r>
                    </a:p>
                  </a:txBody>
                  <a:tcPr marL="91440" marR="91440" marT="45720" marB="45720">
                    <a:lnR w="5715">
                      <a:solidFill>
                        <a:srgbClr val="D7E2E6"/>
                      </a:solidFill>
                      <a:prstDash val="solid"/>
                    </a:lnR>
                    <a:lnB w="5715">
                      <a:solidFill>
                        <a:srgbClr val="D7E2E6"/>
                      </a:solidFill>
                      <a:prstDash val="solid"/>
                    </a:lnB>
                    <a:solidFill>
                      <a:srgbClr val="FFFFFF"/>
                    </a:solidFill>
                  </a:tcPr>
                </a:tc>
                <a:tc>
                  <a:txBody>
                    <a:bodyPr>
                      <a:noAutofit/>
                    </a:bodyPr>
                    <a:lstStyle/>
                    <a:p>
                      <a:r>
                        <a:rPr sz="2325" b="0">
                          <a:solidFill>
                            <a:srgbClr val="172B3A"/>
                          </a:solidFill>
                          <a:latin typeface="Arial"/>
                          <a:ea typeface="Arial"/>
                          <a:cs typeface="Arial"/>
                        </a:rPr>
                        <a:t>10 s</a:t>
                      </a:r>
                    </a:p>
                  </a:txBody>
                  <a:tcPr marL="91440" marR="91440" marT="45720" marB="45720">
                    <a:lnR w="5715">
                      <a:solidFill>
                        <a:srgbClr val="D7E2E6"/>
                      </a:solidFill>
                      <a:prstDash val="solid"/>
                    </a:lnR>
                    <a:lnB w="5715">
                      <a:solidFill>
                        <a:srgbClr val="D7E2E6"/>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574FFC7-3BFD-4636-B21D-C45DAFDA960B}"/>
              </a:ext>
            </a:extLst>
          </p:cNvPr>
          <p:cNvSpPr>
            <a:spLocks xmlns:a="http://schemas.openxmlformats.org/drawingml/2006/main" noGrp="1"/>
          </p:cNvSpPr>
          <p:nvPr/>
        </p:nvSpPr>
        <p:spPr>
          <a:xfrm xmlns:a="http://schemas.openxmlformats.org/drawingml/2006/main">
            <a:off x="609600" y="5686425"/>
            <a:ext cx="10858500" cy="405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26F87"/>
                </a:solidFill>
                <a:latin typeface="Arial"/>
                <a:ea typeface="Arial"/>
                <a:cs typeface="Arial"/>
              </a:defRPr>
            </a:defPPr>
          </a:lstStyle>
          <a:p xmlns:a="http://schemas.openxmlformats.org/drawingml/2006/main">
            <a:pPr>
              <a:defRPr sz="2250" b="0">
                <a:solidFill>
                  <a:srgbClr val="126F87"/>
                </a:solidFill>
                <a:latin typeface="Arial"/>
                <a:ea typeface="Arial"/>
                <a:cs typeface="Arial"/>
              </a:defRPr>
            </a:pPr>
            <a:r>
              <a:rPr sz="2250" b="0">
                <a:solidFill>
                  <a:srgbClr val="126F87"/>
                </a:solidFill>
                <a:latin typeface="Arial"/>
                <a:ea typeface="Arial"/>
                <a:cs typeface="Arial"/>
              </a:rPr>
              <a:t>Ejemplo general: C no cambia, la retención sí.</a:t>
            </a:r>
          </a:p>
        </p:txBody>
      </p:sp>
      <p:sp>
        <p:nvSpPr>
          <p:cNvPr id="5" name="">
            <a:extLst xmlns:a="http://schemas.openxmlformats.org/drawingml/2006/main">
              <a:ext uri="{FF2B5EF4-FFF2-40B4-BE49-F238E27FC236}">
                <a16:creationId xmlns:a16="http://schemas.microsoft.com/office/drawing/2014/main" id="{309076D5-31E0-4505-B088-309149BE2C86}"/>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10</a:t>
            </a:r>
          </a:p>
        </p:txBody>
      </p:sp>
    </p:spTree>
    <p:extLst>
      <p:ext uri="{BB962C8B-B14F-4D97-AF65-F5344CB8AC3E}">
        <p14:creationId xmlns:p14="http://schemas.microsoft.com/office/powerpoint/2010/main" val="22657014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FEF7698-499C-499F-B6A5-B4E9394A9B63}"/>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Bobinados, relés e interconexiones</a:t>
            </a:r>
          </a:p>
        </p:txBody>
      </p:sp>
      <p:sp>
        <p:nvSpPr>
          <p:cNvPr id="2" name="">
            <a:extLst xmlns:a="http://schemas.openxmlformats.org/drawingml/2006/main">
              <a:ext uri="{FF2B5EF4-FFF2-40B4-BE49-F238E27FC236}">
                <a16:creationId xmlns:a16="http://schemas.microsoft.com/office/drawing/2014/main" id="{75450D89-084F-4014-83EC-67D3DDE030DC}"/>
              </a:ext>
            </a:extLst>
          </p:cNvPr>
          <p:cNvSpPr>
            <a:spLocks xmlns:a="http://schemas.openxmlformats.org/drawingml/2006/main" noGrp="1"/>
          </p:cNvSpPr>
          <p:nvPr/>
        </p:nvSpPr>
        <p:spPr>
          <a:xfrm xmlns:a="http://schemas.openxmlformats.org/drawingml/2006/main">
            <a:off x="609600" y="1524000"/>
            <a:ext cx="10858500" cy="12424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En bobinas, relés y conexiones importa tanto el aislamiento como la señal</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de mando. Un componente sano puede ejecutar una orden equivocada o</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conducir una descarga hacia otro circuito.</a:t>
            </a:r>
          </a:p>
        </p:txBody>
      </p:sp>
      <p:sp>
        <p:nvSpPr>
          <p:cNvPr id="3" name="">
            <a:extLst xmlns:a="http://schemas.openxmlformats.org/drawingml/2006/main">
              <a:ext uri="{FF2B5EF4-FFF2-40B4-BE49-F238E27FC236}">
                <a16:creationId xmlns:a16="http://schemas.microsoft.com/office/drawing/2014/main" id="{B6FDE097-EFD5-41B1-A882-911C945D58B2}"/>
              </a:ext>
            </a:extLst>
          </p:cNvPr>
          <p:cNvSpPr>
            <a:spLocks xmlns:a="http://schemas.openxmlformats.org/drawingml/2006/main" noGrp="1"/>
          </p:cNvSpPr>
          <p:nvPr/>
        </p:nvSpPr>
        <p:spPr>
          <a:xfrm xmlns:a="http://schemas.openxmlformats.org/drawingml/2006/main">
            <a:off x="609600" y="3238500"/>
            <a:ext cx="10858500" cy="5452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150" b="1">
                <a:solidFill>
                  <a:srgbClr val="126F87"/>
                </a:solidFill>
                <a:latin typeface="Arial"/>
                <a:ea typeface="Arial"/>
                <a:cs typeface="Arial"/>
              </a:defRPr>
            </a:defPPr>
          </a:lstStyle>
          <a:p xmlns:a="http://schemas.openxmlformats.org/drawingml/2006/main">
            <a:pPr>
              <a:defRPr sz="3150" b="1">
                <a:solidFill>
                  <a:srgbClr val="126F87"/>
                </a:solidFill>
                <a:latin typeface="Arial"/>
                <a:ea typeface="Arial"/>
                <a:cs typeface="Arial"/>
              </a:defRPr>
            </a:pPr>
            <a:r>
              <a:rPr sz="3150" b="1">
                <a:solidFill>
                  <a:srgbClr val="126F87"/>
                </a:solidFill>
                <a:latin typeface="Arial"/>
                <a:ea typeface="Arial"/>
                <a:cs typeface="Arial"/>
              </a:rPr>
              <a:t>Mando → bobina → contactos → carga</a:t>
            </a:r>
          </a:p>
        </p:txBody>
      </p:sp>
      <p:sp>
        <p:nvSpPr>
          <p:cNvPr id="4" name="">
            <a:extLst xmlns:a="http://schemas.openxmlformats.org/drawingml/2006/main">
              <a:ext uri="{FF2B5EF4-FFF2-40B4-BE49-F238E27FC236}">
                <a16:creationId xmlns:a16="http://schemas.microsoft.com/office/drawing/2014/main" id="{6E10E9BE-C128-4C17-A17E-FF23AC54DD2F}"/>
              </a:ext>
            </a:extLst>
          </p:cNvPr>
          <p:cNvSpPr>
            <a:spLocks xmlns:a="http://schemas.openxmlformats.org/drawingml/2006/main" noGrp="1"/>
          </p:cNvSpPr>
          <p:nvPr/>
        </p:nvSpPr>
        <p:spPr>
          <a:xfrm xmlns:a="http://schemas.openxmlformats.org/drawingml/2006/main">
            <a:off x="609600" y="4143375"/>
            <a:ext cx="10858500" cy="1102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Inductores y transformadores: conductor, núcleo y aislante.</a:t>
            </a:r>
          </a:p>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Pistas, soldaduras y conectores: camino de la corriente.</a:t>
            </a:r>
          </a:p>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Placas y encapsulados: aislamiento y carga retenida.</a:t>
            </a:r>
          </a:p>
        </p:txBody>
      </p:sp>
      <p:sp>
        <p:nvSpPr>
          <p:cNvPr id="5" name="">
            <a:extLst xmlns:a="http://schemas.openxmlformats.org/drawingml/2006/main">
              <a:ext uri="{FF2B5EF4-FFF2-40B4-BE49-F238E27FC236}">
                <a16:creationId xmlns:a16="http://schemas.microsoft.com/office/drawing/2014/main" id="{C0705B84-5D76-45E4-9B51-D9ECF901BD14}"/>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11</a:t>
            </a:r>
          </a:p>
        </p:txBody>
      </p:sp>
    </p:spTree>
    <p:extLst>
      <p:ext uri="{BB962C8B-B14F-4D97-AF65-F5344CB8AC3E}">
        <p14:creationId xmlns:p14="http://schemas.microsoft.com/office/powerpoint/2010/main" val="15207918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046DBBF-4649-4589-8867-41E7F0BBACEB}"/>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Diodos y optoelectrónica</a:t>
            </a:r>
          </a:p>
        </p:txBody>
      </p:sp>
      <p:sp>
        <p:nvSpPr>
          <p:cNvPr id="2" name="">
            <a:extLst xmlns:a="http://schemas.openxmlformats.org/drawingml/2006/main">
              <a:ext uri="{FF2B5EF4-FFF2-40B4-BE49-F238E27FC236}">
                <a16:creationId xmlns:a16="http://schemas.microsoft.com/office/drawing/2014/main" id="{8A941471-0AD9-4303-87E2-270C0CB5E8B8}"/>
              </a:ext>
            </a:extLst>
          </p:cNvPr>
          <p:cNvSpPr>
            <a:spLocks xmlns:a="http://schemas.openxmlformats.org/drawingml/2006/main" noGrp="1"/>
          </p:cNvSpPr>
          <p:nvPr/>
        </p:nvSpPr>
        <p:spPr>
          <a:xfrm xmlns:a="http://schemas.openxmlformats.org/drawingml/2006/main">
            <a:off x="609600" y="1676400"/>
            <a:ext cx="5476875" cy="24277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Una unión puede recoger carga</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generada por radiación y producir una</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corriente inesperada. En un detector</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esa carga puede ser la señal</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buscada; en otro circuito puede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convertirse en un error.</a:t>
            </a:r>
          </a:p>
        </p:txBody>
      </p:sp>
      <p:pic>
        <p:nvPicPr>
          <p:cNvPr id="3" name="">
            <a:extLst xmlns:a="http://schemas.openxmlformats.org/drawingml/2006/main">
              <a:ext uri="{FF2B5EF4-FFF2-40B4-BE49-F238E27FC236}">
                <a16:creationId xmlns:a16="http://schemas.microsoft.com/office/drawing/2014/main" id="{F6653CFA-DAA3-47AC-96F8-3F2A8764956F}"/>
              </a:ext>
            </a:extLst>
          </p:cNvPr>
          <p:cNvPicPr>
            <a:picLocks xmlns:a="http://schemas.openxmlformats.org/drawingml/2006/main" noChangeAspect="1"/>
          </p:cNvPicPr>
          <p:nvPr/>
        </p:nvPicPr>
        <p:blipFill>
          <a:blip xmlns:r="http://schemas.openxmlformats.org/officeDocument/2006/relationships" xmlns:a="http://schemas.openxmlformats.org/drawingml/2006/main" r:embed="R7694db88c5c54d17"/>
          <a:stretch xmlns:a="http://schemas.openxmlformats.org/drawingml/2006/main"/>
        </p:blipFill>
        <p:spPr>
          <a:xfrm xmlns:a="http://schemas.openxmlformats.org/drawingml/2006/main">
            <a:off x="6705600" y="1956713"/>
            <a:ext cx="4857750" cy="28017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3FCED95-E144-41D5-ACDA-63E66F06A0A0}"/>
              </a:ext>
            </a:extLst>
          </p:cNvPr>
          <p:cNvSpPr>
            <a:spLocks xmlns:a="http://schemas.openxmlformats.org/drawingml/2006/main" noGrp="1"/>
          </p:cNvSpPr>
          <p:nvPr/>
        </p:nvSpPr>
        <p:spPr>
          <a:xfrm xmlns:a="http://schemas.openxmlformats.org/drawingml/2006/main">
            <a:off x="6705600" y="5248275"/>
            <a:ext cx="485775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Sección de fotodiodo · Hamamatsu</a:t>
            </a:r>
          </a:p>
        </p:txBody>
      </p:sp>
      <p:sp>
        <p:nvSpPr>
          <p:cNvPr id="5" name="">
            <a:extLst xmlns:a="http://schemas.openxmlformats.org/drawingml/2006/main">
              <a:ext uri="{FF2B5EF4-FFF2-40B4-BE49-F238E27FC236}">
                <a16:creationId xmlns:a16="http://schemas.microsoft.com/office/drawing/2014/main" id="{2AAAA278-BF76-4A51-A9A3-559564B94FBB}"/>
              </a:ext>
            </a:extLst>
          </p:cNvPr>
          <p:cNvSpPr>
            <a:spLocks xmlns:a="http://schemas.openxmlformats.org/drawingml/2006/main" noGrp="1"/>
          </p:cNvSpPr>
          <p:nvPr/>
        </p:nvSpPr>
        <p:spPr>
          <a:xfrm xmlns:a="http://schemas.openxmlformats.org/drawingml/2006/main">
            <a:off x="609600" y="5619750"/>
            <a:ext cx="10763250" cy="417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26F87"/>
                </a:solidFill>
                <a:latin typeface="Arial"/>
                <a:ea typeface="Arial"/>
                <a:cs typeface="Arial"/>
              </a:defRPr>
            </a:defPPr>
          </a:lstStyle>
          <a:p xmlns:a="http://schemas.openxmlformats.org/drawingml/2006/main">
            <a:pPr>
              <a:defRPr sz="2325" b="0">
                <a:solidFill>
                  <a:srgbClr val="126F87"/>
                </a:solidFill>
                <a:latin typeface="Arial"/>
                <a:ea typeface="Arial"/>
                <a:cs typeface="Arial"/>
              </a:defRPr>
            </a:pPr>
            <a:r>
              <a:rPr sz="2325" b="0">
                <a:solidFill>
                  <a:srgbClr val="126F87"/>
                </a:solidFill>
                <a:latin typeface="Arial"/>
                <a:ea typeface="Arial"/>
                <a:cs typeface="Arial"/>
              </a:rPr>
              <a:t>LED, fotodiodos y acoplamientos ópticos</a:t>
            </a:r>
          </a:p>
        </p:txBody>
      </p:sp>
      <p:sp>
        <p:nvSpPr>
          <p:cNvPr id="6" name="">
            <a:extLst xmlns:a="http://schemas.openxmlformats.org/drawingml/2006/main">
              <a:ext uri="{FF2B5EF4-FFF2-40B4-BE49-F238E27FC236}">
                <a16:creationId xmlns:a16="http://schemas.microsoft.com/office/drawing/2014/main" id="{A3B3D4C7-77BC-4F50-9DCD-DAA2C43EEA31}"/>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12</a:t>
            </a:r>
          </a:p>
        </p:txBody>
      </p:sp>
    </p:spTree>
    <p:extLst>
      <p:ext uri="{BB962C8B-B14F-4D97-AF65-F5344CB8AC3E}">
        <p14:creationId xmlns:p14="http://schemas.microsoft.com/office/powerpoint/2010/main" val="4097499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6FA000-C4C0-42D0-A708-24D55FB1F405}"/>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TBJ: recombinación y ganancia</a:t>
            </a:r>
          </a:p>
        </p:txBody>
      </p:sp>
      <p:sp>
        <p:nvSpPr>
          <p:cNvPr id="2" name="">
            <a:extLst xmlns:a="http://schemas.openxmlformats.org/drawingml/2006/main">
              <a:ext uri="{FF2B5EF4-FFF2-40B4-BE49-F238E27FC236}">
                <a16:creationId xmlns:a16="http://schemas.microsoft.com/office/drawing/2014/main" id="{763B3C11-B903-42F9-8488-6F1B9BB890F4}"/>
              </a:ext>
            </a:extLst>
          </p:cNvPr>
          <p:cNvSpPr>
            <a:spLocks xmlns:a="http://schemas.openxmlformats.org/drawingml/2006/main" noGrp="1"/>
          </p:cNvSpPr>
          <p:nvPr/>
        </p:nvSpPr>
        <p:spPr>
          <a:xfrm xmlns:a="http://schemas.openxmlformats.org/drawingml/2006/main">
            <a:off x="609600" y="1676400"/>
            <a:ext cx="5476875" cy="24277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Los defectos pueden aumentar la</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recombinación y reducir la ganancia</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de un transistor bipolar. El circuito</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necesita conservar margen suficiente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para amplificar o conmutar aun con</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esos parámetros degradados.</a:t>
            </a:r>
          </a:p>
        </p:txBody>
      </p:sp>
      <p:pic>
        <p:nvPicPr>
          <p:cNvPr id="3" name="">
            <a:extLst xmlns:a="http://schemas.openxmlformats.org/drawingml/2006/main">
              <a:ext uri="{FF2B5EF4-FFF2-40B4-BE49-F238E27FC236}">
                <a16:creationId xmlns:a16="http://schemas.microsoft.com/office/drawing/2014/main" id="{57CFC926-BE87-45D5-BB0E-3321D49070F4}"/>
              </a:ext>
            </a:extLst>
          </p:cNvPr>
          <p:cNvPicPr>
            <a:picLocks xmlns:a="http://schemas.openxmlformats.org/drawingml/2006/main" noChangeAspect="1"/>
          </p:cNvPicPr>
          <p:nvPr/>
        </p:nvPicPr>
        <p:blipFill>
          <a:blip xmlns:r="http://schemas.openxmlformats.org/officeDocument/2006/relationships" xmlns:a="http://schemas.openxmlformats.org/drawingml/2006/main" r:embed="R8ea746fcf4fc4a85"/>
          <a:stretch xmlns:a="http://schemas.openxmlformats.org/drawingml/2006/main"/>
        </p:blipFill>
        <p:spPr>
          <a:xfrm xmlns:a="http://schemas.openxmlformats.org/drawingml/2006/main">
            <a:off x="6705600" y="2485159"/>
            <a:ext cx="4857750" cy="174480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895D071-3177-4160-A481-C7E72C6F4781}"/>
              </a:ext>
            </a:extLst>
          </p:cNvPr>
          <p:cNvSpPr>
            <a:spLocks xmlns:a="http://schemas.openxmlformats.org/drawingml/2006/main" noGrp="1"/>
          </p:cNvSpPr>
          <p:nvPr/>
        </p:nvSpPr>
        <p:spPr>
          <a:xfrm xmlns:a="http://schemas.openxmlformats.org/drawingml/2006/main">
            <a:off x="6705600" y="5248275"/>
            <a:ext cx="485775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Sección de TBJ · JPL</a:t>
            </a:r>
          </a:p>
        </p:txBody>
      </p:sp>
      <p:sp>
        <p:nvSpPr>
          <p:cNvPr id="5" name="">
            <a:extLst xmlns:a="http://schemas.openxmlformats.org/drawingml/2006/main">
              <a:ext uri="{FF2B5EF4-FFF2-40B4-BE49-F238E27FC236}">
                <a16:creationId xmlns:a16="http://schemas.microsoft.com/office/drawing/2014/main" id="{D1949347-2921-4254-8958-CC6A763B5CBE}"/>
              </a:ext>
            </a:extLst>
          </p:cNvPr>
          <p:cNvSpPr>
            <a:spLocks xmlns:a="http://schemas.openxmlformats.org/drawingml/2006/main" noGrp="1"/>
          </p:cNvSpPr>
          <p:nvPr/>
        </p:nvSpPr>
        <p:spPr>
          <a:xfrm xmlns:a="http://schemas.openxmlformats.org/drawingml/2006/main">
            <a:off x="609600" y="5619750"/>
            <a:ext cx="10763250" cy="417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26F87"/>
                </a:solidFill>
                <a:latin typeface="Arial"/>
                <a:ea typeface="Arial"/>
                <a:cs typeface="Arial"/>
              </a:defRPr>
            </a:defPPr>
          </a:lstStyle>
          <a:p xmlns:a="http://schemas.openxmlformats.org/drawingml/2006/main">
            <a:pPr>
              <a:defRPr sz="2325" b="0">
                <a:solidFill>
                  <a:srgbClr val="126F87"/>
                </a:solidFill>
                <a:latin typeface="Arial"/>
                <a:ea typeface="Arial"/>
                <a:cs typeface="Arial"/>
              </a:defRPr>
            </a:pPr>
            <a:r>
              <a:rPr sz="2325" b="0">
                <a:solidFill>
                  <a:srgbClr val="126F87"/>
                </a:solidFill>
                <a:latin typeface="Arial"/>
                <a:ea typeface="Arial"/>
                <a:cs typeface="Arial"/>
              </a:rPr>
              <a:t>A I_C fija: menor β requiere más I_B.</a:t>
            </a:r>
          </a:p>
        </p:txBody>
      </p:sp>
      <p:sp>
        <p:nvSpPr>
          <p:cNvPr id="6" name="">
            <a:extLst xmlns:a="http://schemas.openxmlformats.org/drawingml/2006/main">
              <a:ext uri="{FF2B5EF4-FFF2-40B4-BE49-F238E27FC236}">
                <a16:creationId xmlns:a16="http://schemas.microsoft.com/office/drawing/2014/main" id="{E208D2A2-3E6C-41CC-9060-9C155DA13B7A}"/>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13</a:t>
            </a:r>
          </a:p>
        </p:txBody>
      </p:sp>
    </p:spTree>
    <p:extLst>
      <p:ext uri="{BB962C8B-B14F-4D97-AF65-F5344CB8AC3E}">
        <p14:creationId xmlns:p14="http://schemas.microsoft.com/office/powerpoint/2010/main" val="79701295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FAEE76-1619-4DA8-9EAA-5A3D0F848949}"/>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JFET, MOSFET y CMOS</a:t>
            </a:r>
          </a:p>
        </p:txBody>
      </p:sp>
      <p:sp>
        <p:nvSpPr>
          <p:cNvPr id="2" name="">
            <a:extLst xmlns:a="http://schemas.openxmlformats.org/drawingml/2006/main">
              <a:ext uri="{FF2B5EF4-FFF2-40B4-BE49-F238E27FC236}">
                <a16:creationId xmlns:a16="http://schemas.microsoft.com/office/drawing/2014/main" id="{A4B7B346-B559-459D-B9C3-5E86C402254C}"/>
              </a:ext>
            </a:extLst>
          </p:cNvPr>
          <p:cNvSpPr>
            <a:spLocks xmlns:a="http://schemas.openxmlformats.org/drawingml/2006/main" noGrp="1"/>
          </p:cNvSpPr>
          <p:nvPr/>
        </p:nvSpPr>
        <p:spPr>
          <a:xfrm xmlns:a="http://schemas.openxmlformats.org/drawingml/2006/main">
            <a:off x="609600" y="1676400"/>
            <a:ext cx="5476875" cy="242773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En un MOSFET, la carga atrapada en</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el óxido modifica el campo que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controla el canal. Por eso puede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cambiar el umbral y aumentar la fuga,</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incluso antes de que el transistor deje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de funcionar.</a:t>
            </a:r>
          </a:p>
        </p:txBody>
      </p:sp>
      <p:pic>
        <p:nvPicPr>
          <p:cNvPr id="3" name="">
            <a:extLst xmlns:a="http://schemas.openxmlformats.org/drawingml/2006/main">
              <a:ext uri="{FF2B5EF4-FFF2-40B4-BE49-F238E27FC236}">
                <a16:creationId xmlns:a16="http://schemas.microsoft.com/office/drawing/2014/main" id="{E8E283F7-06ED-43E3-971E-132EA77DA8F2}"/>
              </a:ext>
            </a:extLst>
          </p:cNvPr>
          <p:cNvPicPr>
            <a:picLocks xmlns:a="http://schemas.openxmlformats.org/drawingml/2006/main" noChangeAspect="1"/>
          </p:cNvPicPr>
          <p:nvPr/>
        </p:nvPicPr>
        <p:blipFill>
          <a:blip xmlns:r="http://schemas.openxmlformats.org/officeDocument/2006/relationships" xmlns:a="http://schemas.openxmlformats.org/drawingml/2006/main" r:embed="Re9d8423819f64b4a"/>
          <a:stretch xmlns:a="http://schemas.openxmlformats.org/drawingml/2006/main"/>
        </p:blipFill>
        <p:spPr>
          <a:xfrm xmlns:a="http://schemas.openxmlformats.org/drawingml/2006/main">
            <a:off x="6769983" y="1619250"/>
            <a:ext cx="4728984" cy="3476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2BB506A-01E7-4655-932D-632A836EC38B}"/>
              </a:ext>
            </a:extLst>
          </p:cNvPr>
          <p:cNvSpPr>
            <a:spLocks xmlns:a="http://schemas.openxmlformats.org/drawingml/2006/main" noGrp="1"/>
          </p:cNvSpPr>
          <p:nvPr/>
        </p:nvSpPr>
        <p:spPr>
          <a:xfrm xmlns:a="http://schemas.openxmlformats.org/drawingml/2006/main">
            <a:off x="6705600" y="5248275"/>
            <a:ext cx="485775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Sección MOS · JPL</a:t>
            </a:r>
          </a:p>
        </p:txBody>
      </p:sp>
      <p:sp>
        <p:nvSpPr>
          <p:cNvPr id="5" name="">
            <a:extLst xmlns:a="http://schemas.openxmlformats.org/drawingml/2006/main">
              <a:ext uri="{FF2B5EF4-FFF2-40B4-BE49-F238E27FC236}">
                <a16:creationId xmlns:a16="http://schemas.microsoft.com/office/drawing/2014/main" id="{54DAEBB8-78A5-4D86-ABE4-0B7C3280D32B}"/>
              </a:ext>
            </a:extLst>
          </p:cNvPr>
          <p:cNvSpPr>
            <a:spLocks xmlns:a="http://schemas.openxmlformats.org/drawingml/2006/main" noGrp="1"/>
          </p:cNvSpPr>
          <p:nvPr/>
        </p:nvSpPr>
        <p:spPr>
          <a:xfrm xmlns:a="http://schemas.openxmlformats.org/drawingml/2006/main">
            <a:off x="609600" y="5619750"/>
            <a:ext cx="10763250" cy="417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26F87"/>
                </a:solidFill>
                <a:latin typeface="Arial"/>
                <a:ea typeface="Arial"/>
                <a:cs typeface="Arial"/>
              </a:defRPr>
            </a:defPPr>
          </a:lstStyle>
          <a:p xmlns:a="http://schemas.openxmlformats.org/drawingml/2006/main">
            <a:pPr>
              <a:defRPr sz="2325" b="0">
                <a:solidFill>
                  <a:srgbClr val="126F87"/>
                </a:solidFill>
                <a:latin typeface="Arial"/>
                <a:ea typeface="Arial"/>
                <a:cs typeface="Arial"/>
              </a:defRPr>
            </a:pPr>
            <a:r>
              <a:rPr sz="2325" b="0">
                <a:solidFill>
                  <a:srgbClr val="126F87"/>
                </a:solidFill>
                <a:latin typeface="Arial"/>
                <a:ea typeface="Arial"/>
                <a:cs typeface="Arial"/>
              </a:rPr>
              <a:t>CMOS RCA: recocido de 1100 a 950 °C.</a:t>
            </a:r>
          </a:p>
        </p:txBody>
      </p:sp>
      <p:sp>
        <p:nvSpPr>
          <p:cNvPr id="6" name="">
            <a:extLst xmlns:a="http://schemas.openxmlformats.org/drawingml/2006/main">
              <a:ext uri="{FF2B5EF4-FFF2-40B4-BE49-F238E27FC236}">
                <a16:creationId xmlns:a16="http://schemas.microsoft.com/office/drawing/2014/main" id="{CFDA8538-8048-4BA9-9019-4B029373D788}"/>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14</a:t>
            </a:r>
          </a:p>
        </p:txBody>
      </p:sp>
    </p:spTree>
    <p:extLst>
      <p:ext uri="{BB962C8B-B14F-4D97-AF65-F5344CB8AC3E}">
        <p14:creationId xmlns:p14="http://schemas.microsoft.com/office/powerpoint/2010/main" val="91733785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78F264F-98E6-4752-8147-262D39A8843B}"/>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Memorias y registros: un estado equivocado</a:t>
            </a:r>
          </a:p>
        </p:txBody>
      </p:sp>
      <p:sp>
        <p:nvSpPr>
          <p:cNvPr id="2" name="">
            <a:extLst xmlns:a="http://schemas.openxmlformats.org/drawingml/2006/main">
              <a:ext uri="{FF2B5EF4-FFF2-40B4-BE49-F238E27FC236}">
                <a16:creationId xmlns:a16="http://schemas.microsoft.com/office/drawing/2014/main" id="{73A9D7E0-849B-4FD5-9078-9A65BE2B7622}"/>
              </a:ext>
            </a:extLst>
          </p:cNvPr>
          <p:cNvSpPr>
            <a:spLocks xmlns:a="http://schemas.openxmlformats.org/drawingml/2006/main" noGrp="1"/>
          </p:cNvSpPr>
          <p:nvPr/>
        </p:nvSpPr>
        <p:spPr>
          <a:xfrm xmlns:a="http://schemas.openxmlformats.org/drawingml/2006/main">
            <a:off x="609600" y="1524000"/>
            <a:ext cx="10858500" cy="16840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625" b="0">
                <a:solidFill>
                  <a:srgbClr val="172B3A"/>
                </a:solidFill>
                <a:latin typeface="Arial"/>
                <a:ea typeface="Arial"/>
                <a:cs typeface="Arial"/>
              </a:defRPr>
            </a:defPPr>
          </a:lstStyle>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Un pulso breve puede cambiar un estado que la memoria conserva</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después. Recuperar ese dato exige una acción adecuada; la</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desaparición del pulso no garantiza que el sistema vuelva al estado</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correcto.</a:t>
            </a:r>
          </a:p>
        </p:txBody>
      </p:sp>
      <p:sp>
        <p:nvSpPr>
          <p:cNvPr id="3" name="">
            <a:extLst xmlns:a="http://schemas.openxmlformats.org/drawingml/2006/main">
              <a:ext uri="{FF2B5EF4-FFF2-40B4-BE49-F238E27FC236}">
                <a16:creationId xmlns:a16="http://schemas.microsoft.com/office/drawing/2014/main" id="{AF8B303B-9DB1-41D3-BD0D-2AA44B877872}"/>
              </a:ext>
            </a:extLst>
          </p:cNvPr>
          <p:cNvSpPr>
            <a:spLocks xmlns:a="http://schemas.openxmlformats.org/drawingml/2006/main" noGrp="1"/>
          </p:cNvSpPr>
          <p:nvPr/>
        </p:nvSpPr>
        <p:spPr>
          <a:xfrm xmlns:a="http://schemas.openxmlformats.org/drawingml/2006/main">
            <a:off x="609600" y="3381375"/>
            <a:ext cx="10858500" cy="5452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150" b="1">
                <a:solidFill>
                  <a:srgbClr val="126F87"/>
                </a:solidFill>
                <a:latin typeface="Arial"/>
                <a:ea typeface="Arial"/>
                <a:cs typeface="Arial"/>
              </a:defRPr>
            </a:defPPr>
          </a:lstStyle>
          <a:p xmlns:a="http://schemas.openxmlformats.org/drawingml/2006/main">
            <a:pPr>
              <a:defRPr sz="3150" b="1">
                <a:solidFill>
                  <a:srgbClr val="126F87"/>
                </a:solidFill>
                <a:latin typeface="Arial"/>
                <a:ea typeface="Arial"/>
                <a:cs typeface="Arial"/>
              </a:defRPr>
            </a:pPr>
            <a:r>
              <a:rPr sz="3150" b="1">
                <a:solidFill>
                  <a:srgbClr val="126F87"/>
                </a:solidFill>
                <a:latin typeface="Arial"/>
                <a:ea typeface="Arial"/>
                <a:cs typeface="Arial"/>
              </a:rPr>
              <a:t>Carga recogida → pulso → estado alterado</a:t>
            </a:r>
          </a:p>
        </p:txBody>
      </p:sp>
      <p:sp>
        <p:nvSpPr>
          <p:cNvPr id="4" name="">
            <a:extLst xmlns:a="http://schemas.openxmlformats.org/drawingml/2006/main">
              <a:ext uri="{FF2B5EF4-FFF2-40B4-BE49-F238E27FC236}">
                <a16:creationId xmlns:a16="http://schemas.microsoft.com/office/drawing/2014/main" id="{9097DABD-86F2-4FB8-8DE7-F5D4C69A4A5F}"/>
              </a:ext>
            </a:extLst>
          </p:cNvPr>
          <p:cNvSpPr>
            <a:spLocks xmlns:a="http://schemas.openxmlformats.org/drawingml/2006/main" noGrp="1"/>
          </p:cNvSpPr>
          <p:nvPr/>
        </p:nvSpPr>
        <p:spPr>
          <a:xfrm xmlns:a="http://schemas.openxmlformats.org/drawingml/2006/main">
            <a:off x="609600" y="4362450"/>
            <a:ext cx="10858500" cy="4522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El pulso desaparece. El dato puede quedar equivocado.</a:t>
            </a:r>
          </a:p>
        </p:txBody>
      </p:sp>
      <p:sp>
        <p:nvSpPr>
          <p:cNvPr id="5" name="">
            <a:extLst xmlns:a="http://schemas.openxmlformats.org/drawingml/2006/main">
              <a:ext uri="{FF2B5EF4-FFF2-40B4-BE49-F238E27FC236}">
                <a16:creationId xmlns:a16="http://schemas.microsoft.com/office/drawing/2014/main" id="{370B46EA-808E-42EB-9CAB-272266667873}"/>
              </a:ext>
            </a:extLst>
          </p:cNvPr>
          <p:cNvSpPr>
            <a:spLocks xmlns:a="http://schemas.openxmlformats.org/drawingml/2006/main" noGrp="1"/>
          </p:cNvSpPr>
          <p:nvPr/>
        </p:nvSpPr>
        <p:spPr>
          <a:xfrm xmlns:a="http://schemas.openxmlformats.org/drawingml/2006/main">
            <a:off x="609600" y="5572125"/>
            <a:ext cx="10858500" cy="359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950" b="0">
                <a:solidFill>
                  <a:srgbClr val="49616E"/>
                </a:solidFill>
                <a:latin typeface="Arial"/>
                <a:ea typeface="Arial"/>
                <a:cs typeface="Arial"/>
              </a:defRPr>
            </a:defPPr>
          </a:lstStyle>
          <a:p xmlns:a="http://schemas.openxmlformats.org/drawingml/2006/main">
            <a:pPr>
              <a:defRPr sz="1950" b="0">
                <a:solidFill>
                  <a:srgbClr val="49616E"/>
                </a:solidFill>
                <a:latin typeface="Arial"/>
                <a:ea typeface="Arial"/>
                <a:cs typeface="Arial"/>
              </a:defRPr>
            </a:pPr>
            <a:r>
              <a:rPr sz="1950" b="0">
                <a:solidFill>
                  <a:srgbClr val="49616E"/>
                </a:solidFill>
                <a:latin typeface="Arial"/>
                <a:ea typeface="Arial"/>
                <a:cs typeface="Arial"/>
              </a:rPr>
              <a:t>Ejemplo conceptual; no identifica una celda de Voyager.</a:t>
            </a:r>
          </a:p>
        </p:txBody>
      </p:sp>
      <p:sp>
        <p:nvSpPr>
          <p:cNvPr id="6" name="">
            <a:extLst xmlns:a="http://schemas.openxmlformats.org/drawingml/2006/main">
              <a:ext uri="{FF2B5EF4-FFF2-40B4-BE49-F238E27FC236}">
                <a16:creationId xmlns:a16="http://schemas.microsoft.com/office/drawing/2014/main" id="{197FCA8F-6CC1-4589-AB19-633612391743}"/>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15</a:t>
            </a:r>
          </a:p>
        </p:txBody>
      </p:sp>
    </p:spTree>
    <p:extLst>
      <p:ext uri="{BB962C8B-B14F-4D97-AF65-F5344CB8AC3E}">
        <p14:creationId xmlns:p14="http://schemas.microsoft.com/office/powerpoint/2010/main" val="210311034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206351A-2FC3-4CA9-A945-81F5C8918209}"/>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Amplificadores y referencias de tiempo</a:t>
            </a:r>
          </a:p>
        </p:txBody>
      </p:sp>
      <p:sp>
        <p:nvSpPr>
          <p:cNvPr id="2" name="">
            <a:extLst xmlns:a="http://schemas.openxmlformats.org/drawingml/2006/main">
              <a:ext uri="{FF2B5EF4-FFF2-40B4-BE49-F238E27FC236}">
                <a16:creationId xmlns:a16="http://schemas.microsoft.com/office/drawing/2014/main" id="{B16A5E9A-A61D-4323-9279-9FF741DB09A3}"/>
              </a:ext>
            </a:extLst>
          </p:cNvPr>
          <p:cNvSpPr>
            <a:spLocks xmlns:a="http://schemas.openxmlformats.org/drawingml/2006/main" noGrp="1"/>
          </p:cNvSpPr>
          <p:nvPr/>
        </p:nvSpPr>
        <p:spPr>
          <a:xfrm xmlns:a="http://schemas.openxmlformats.org/drawingml/2006/main">
            <a:off x="609600" y="1524000"/>
            <a:ext cx="10858500" cy="12773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625" b="0">
                <a:solidFill>
                  <a:srgbClr val="172B3A"/>
                </a:solidFill>
                <a:latin typeface="Arial"/>
                <a:ea typeface="Arial"/>
                <a:cs typeface="Arial"/>
              </a:defRPr>
            </a:defPPr>
          </a:lstStyle>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Una perturbación puede alterar una medida o una referencia de tiempo</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sin destruir el equipo. En amplificadores y osciladores importa conservar</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precisión, estabilidad y capacidad de recuperación.</a:t>
            </a:r>
          </a:p>
        </p:txBody>
      </p:sp>
      <p:sp>
        <p:nvSpPr>
          <p:cNvPr id="3" name="">
            <a:extLst xmlns:a="http://schemas.openxmlformats.org/drawingml/2006/main">
              <a:ext uri="{FF2B5EF4-FFF2-40B4-BE49-F238E27FC236}">
                <a16:creationId xmlns:a16="http://schemas.microsoft.com/office/drawing/2014/main" id="{579EB07F-B70E-4BFF-BDAA-74559D515812}"/>
              </a:ext>
            </a:extLst>
          </p:cNvPr>
          <p:cNvSpPr>
            <a:spLocks xmlns:a="http://schemas.openxmlformats.org/drawingml/2006/main" noGrp="1"/>
          </p:cNvSpPr>
          <p:nvPr/>
        </p:nvSpPr>
        <p:spPr>
          <a:xfrm xmlns:a="http://schemas.openxmlformats.org/drawingml/2006/main">
            <a:off x="609600" y="3371850"/>
            <a:ext cx="49530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1">
                <a:solidFill>
                  <a:srgbClr val="126F87"/>
                </a:solidFill>
                <a:latin typeface="Arial"/>
                <a:ea typeface="Arial"/>
                <a:cs typeface="Arial"/>
              </a:defRPr>
            </a:defPPr>
          </a:lstStyle>
          <a:p xmlns:a="http://schemas.openxmlformats.org/drawingml/2006/main">
            <a:pPr>
              <a:defRPr sz="2700" b="1">
                <a:solidFill>
                  <a:srgbClr val="126F87"/>
                </a:solidFill>
                <a:latin typeface="Arial"/>
                <a:ea typeface="Arial"/>
                <a:cs typeface="Arial"/>
              </a:defRPr>
            </a:pPr>
            <a:r>
              <a:rPr sz="2700" b="1">
                <a:solidFill>
                  <a:srgbClr val="126F87"/>
                </a:solidFill>
                <a:latin typeface="Arial"/>
                <a:ea typeface="Arial"/>
                <a:cs typeface="Arial"/>
              </a:rPr>
              <a:t>Amplificadores</a:t>
            </a:r>
          </a:p>
        </p:txBody>
      </p:sp>
      <p:sp>
        <p:nvSpPr>
          <p:cNvPr id="4" name="">
            <a:extLst xmlns:a="http://schemas.openxmlformats.org/drawingml/2006/main">
              <a:ext uri="{FF2B5EF4-FFF2-40B4-BE49-F238E27FC236}">
                <a16:creationId xmlns:a16="http://schemas.microsoft.com/office/drawing/2014/main" id="{8EC35BAA-FCDC-4EAD-9116-BAC952720228}"/>
              </a:ext>
            </a:extLst>
          </p:cNvPr>
          <p:cNvSpPr>
            <a:spLocks xmlns:a="http://schemas.openxmlformats.org/drawingml/2006/main" noGrp="1"/>
          </p:cNvSpPr>
          <p:nvPr/>
        </p:nvSpPr>
        <p:spPr>
          <a:xfrm xmlns:a="http://schemas.openxmlformats.org/drawingml/2006/main">
            <a:off x="609600" y="3990975"/>
            <a:ext cx="4953000" cy="8241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Offset, ganancia y transitorios</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pueden alterar una medida.</a:t>
            </a:r>
          </a:p>
        </p:txBody>
      </p:sp>
      <p:sp>
        <p:nvSpPr>
          <p:cNvPr id="5" name="">
            <a:extLst xmlns:a="http://schemas.openxmlformats.org/drawingml/2006/main">
              <a:ext uri="{FF2B5EF4-FFF2-40B4-BE49-F238E27FC236}">
                <a16:creationId xmlns:a16="http://schemas.microsoft.com/office/drawing/2014/main" id="{29298196-1794-443A-9A6F-4F5C6551FB35}"/>
              </a:ext>
            </a:extLst>
          </p:cNvPr>
          <p:cNvSpPr>
            <a:spLocks xmlns:a="http://schemas.openxmlformats.org/drawingml/2006/main" noGrp="1"/>
          </p:cNvSpPr>
          <p:nvPr/>
        </p:nvSpPr>
        <p:spPr>
          <a:xfrm xmlns:a="http://schemas.openxmlformats.org/drawingml/2006/main">
            <a:off x="6572250" y="3371850"/>
            <a:ext cx="495300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700" b="1">
                <a:solidFill>
                  <a:srgbClr val="126F87"/>
                </a:solidFill>
                <a:latin typeface="Arial"/>
                <a:ea typeface="Arial"/>
                <a:cs typeface="Arial"/>
              </a:defRPr>
            </a:defPPr>
          </a:lstStyle>
          <a:p xmlns:a="http://schemas.openxmlformats.org/drawingml/2006/main">
            <a:pPr>
              <a:defRPr sz="2700" b="1">
                <a:solidFill>
                  <a:srgbClr val="126F87"/>
                </a:solidFill>
                <a:latin typeface="Arial"/>
                <a:ea typeface="Arial"/>
                <a:cs typeface="Arial"/>
              </a:defRPr>
            </a:pPr>
            <a:r>
              <a:rPr sz="2700" b="1">
                <a:solidFill>
                  <a:srgbClr val="126F87"/>
                </a:solidFill>
                <a:latin typeface="Arial"/>
                <a:ea typeface="Arial"/>
                <a:cs typeface="Arial"/>
              </a:rPr>
              <a:t>Cuarzo y osciladores</a:t>
            </a:r>
          </a:p>
        </p:txBody>
      </p:sp>
      <p:sp>
        <p:nvSpPr>
          <p:cNvPr id="6" name="">
            <a:extLst xmlns:a="http://schemas.openxmlformats.org/drawingml/2006/main">
              <a:ext uri="{FF2B5EF4-FFF2-40B4-BE49-F238E27FC236}">
                <a16:creationId xmlns:a16="http://schemas.microsoft.com/office/drawing/2014/main" id="{E1B764D8-C3AD-4189-B600-F869C08BDD50}"/>
              </a:ext>
            </a:extLst>
          </p:cNvPr>
          <p:cNvSpPr>
            <a:spLocks xmlns:a="http://schemas.openxmlformats.org/drawingml/2006/main" noGrp="1"/>
          </p:cNvSpPr>
          <p:nvPr/>
        </p:nvSpPr>
        <p:spPr>
          <a:xfrm xmlns:a="http://schemas.openxmlformats.org/drawingml/2006/main">
            <a:off x="6572250" y="3990975"/>
            <a:ext cx="4953000" cy="8241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Frecuencia, pérdidas y electrónica</a:t>
            </a:r>
          </a:p>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de reloj afectan el tiempo.</a:t>
            </a:r>
          </a:p>
        </p:txBody>
      </p:sp>
      <p:sp>
        <p:nvSpPr>
          <p:cNvPr id="7" name="">
            <a:extLst xmlns:a="http://schemas.openxmlformats.org/drawingml/2006/main">
              <a:ext uri="{FF2B5EF4-FFF2-40B4-BE49-F238E27FC236}">
                <a16:creationId xmlns:a16="http://schemas.microsoft.com/office/drawing/2014/main" id="{43F6FDCB-C051-4825-AFDB-E7F5AE3CB0B3}"/>
              </a:ext>
            </a:extLst>
          </p:cNvPr>
          <p:cNvSpPr>
            <a:spLocks xmlns:a="http://schemas.openxmlformats.org/drawingml/2006/main" noGrp="1"/>
          </p:cNvSpPr>
          <p:nvPr/>
        </p:nvSpPr>
        <p:spPr>
          <a:xfrm xmlns:a="http://schemas.openxmlformats.org/drawingml/2006/main">
            <a:off x="609600" y="5686425"/>
            <a:ext cx="10858500" cy="405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172B3A"/>
                </a:solidFill>
                <a:latin typeface="Arial"/>
                <a:ea typeface="Arial"/>
                <a:cs typeface="Arial"/>
              </a:defRPr>
            </a:defPPr>
          </a:lstStyle>
          <a:p xmlns:a="http://schemas.openxmlformats.org/drawingml/2006/main">
            <a:pPr>
              <a:defRPr sz="2250" b="0">
                <a:solidFill>
                  <a:srgbClr val="172B3A"/>
                </a:solidFill>
                <a:latin typeface="Arial"/>
                <a:ea typeface="Arial"/>
                <a:cs typeface="Arial"/>
              </a:defRPr>
            </a:pPr>
            <a:r>
              <a:rPr sz="2250" b="0">
                <a:solidFill>
                  <a:srgbClr val="172B3A"/>
                </a:solidFill>
                <a:latin typeface="Arial"/>
                <a:ea typeface="Arial"/>
                <a:cs typeface="Arial"/>
              </a:rPr>
              <a:t>Voyager seleccionó barras de cuarzo mediante ensayos.</a:t>
            </a:r>
          </a:p>
        </p:txBody>
      </p:sp>
      <p:sp>
        <p:nvSpPr>
          <p:cNvPr id="8" name="">
            <a:extLst xmlns:a="http://schemas.openxmlformats.org/drawingml/2006/main">
              <a:ext uri="{FF2B5EF4-FFF2-40B4-BE49-F238E27FC236}">
                <a16:creationId xmlns:a16="http://schemas.microsoft.com/office/drawing/2014/main" id="{5612A12F-0FC4-49E6-8164-02C09C7A96C6}"/>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16</a:t>
            </a:r>
          </a:p>
        </p:txBody>
      </p:sp>
    </p:spTree>
    <p:extLst>
      <p:ext uri="{BB962C8B-B14F-4D97-AF65-F5344CB8AC3E}">
        <p14:creationId xmlns:p14="http://schemas.microsoft.com/office/powerpoint/2010/main" val="102278633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E7ACD2B-A571-4A9F-A74E-225F8A437811}"/>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Exposición prevista y margen de diseño</a:t>
            </a:r>
          </a:p>
        </p:txBody>
      </p:sp>
      <p:sp>
        <p:nvSpPr>
          <p:cNvPr id="2" name="">
            <a:extLst xmlns:a="http://schemas.openxmlformats.org/drawingml/2006/main">
              <a:ext uri="{FF2B5EF4-FFF2-40B4-BE49-F238E27FC236}">
                <a16:creationId xmlns:a16="http://schemas.microsoft.com/office/drawing/2014/main" id="{BC291D45-993C-4B14-A4E2-D04B802B2466}"/>
              </a:ext>
            </a:extLst>
          </p:cNvPr>
          <p:cNvSpPr>
            <a:spLocks xmlns:a="http://schemas.openxmlformats.org/drawingml/2006/main" noGrp="1"/>
          </p:cNvSpPr>
          <p:nvPr/>
        </p:nvSpPr>
        <p:spPr>
          <a:xfrm xmlns:a="http://schemas.openxmlformats.org/drawingml/2006/main">
            <a:off x="609600" y="1524000"/>
            <a:ext cx="10858500" cy="127730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625" b="0">
                <a:solidFill>
                  <a:srgbClr val="172B3A"/>
                </a:solidFill>
                <a:latin typeface="Arial"/>
                <a:ea typeface="Arial"/>
                <a:cs typeface="Arial"/>
              </a:defRPr>
            </a:defPPr>
          </a:lstStyle>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El blindaje reduce parte de la exposición, pero no elimina todos los</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efectos. Voyager combinó esa protección con ensayos y márgenes para</a:t>
            </a:r>
          </a:p>
          <a:p xmlns:a="http://schemas.openxmlformats.org/drawingml/2006/main">
            <a:pPr>
              <a:defRPr sz="2625" b="0">
                <a:solidFill>
                  <a:srgbClr val="172B3A"/>
                </a:solidFill>
                <a:latin typeface="Arial"/>
                <a:ea typeface="Arial"/>
                <a:cs typeface="Arial"/>
              </a:defRPr>
            </a:pPr>
            <a:r>
              <a:rPr sz="2625" b="0">
                <a:solidFill>
                  <a:srgbClr val="172B3A"/>
                </a:solidFill>
                <a:latin typeface="Arial"/>
                <a:ea typeface="Arial"/>
                <a:cs typeface="Arial"/>
              </a:rPr>
              <a:t>conservar la función de los circuitos.</a:t>
            </a:r>
          </a:p>
        </p:txBody>
      </p:sp>
      <p:sp>
        <p:nvSpPr>
          <p:cNvPr id="3" name="">
            <a:extLst xmlns:a="http://schemas.openxmlformats.org/drawingml/2006/main">
              <a:ext uri="{FF2B5EF4-FFF2-40B4-BE49-F238E27FC236}">
                <a16:creationId xmlns:a16="http://schemas.microsoft.com/office/drawing/2014/main" id="{3F578DA9-B58A-491C-BC42-CD8935D29209}"/>
              </a:ext>
            </a:extLst>
          </p:cNvPr>
          <p:cNvSpPr>
            <a:spLocks xmlns:a="http://schemas.openxmlformats.org/drawingml/2006/main" noGrp="1"/>
          </p:cNvSpPr>
          <p:nvPr/>
        </p:nvSpPr>
        <p:spPr>
          <a:xfrm xmlns:a="http://schemas.openxmlformats.org/drawingml/2006/main">
            <a:off x="609600" y="3362325"/>
            <a:ext cx="10858500" cy="6846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4050" b="1">
                <a:solidFill>
                  <a:srgbClr val="126F87"/>
                </a:solidFill>
                <a:latin typeface="Arial"/>
                <a:ea typeface="Arial"/>
                <a:cs typeface="Arial"/>
              </a:defRPr>
            </a:defPPr>
          </a:lstStyle>
          <a:p xmlns:a="http://schemas.openxmlformats.org/drawingml/2006/main">
            <a:pPr>
              <a:defRPr sz="4050" b="1">
                <a:solidFill>
                  <a:srgbClr val="126F87"/>
                </a:solidFill>
                <a:latin typeface="Arial"/>
                <a:ea typeface="Arial"/>
                <a:cs typeface="Arial"/>
              </a:defRPr>
            </a:pPr>
            <a:r>
              <a:rPr sz="4050" b="1">
                <a:solidFill>
                  <a:srgbClr val="126F87"/>
                </a:solidFill>
                <a:latin typeface="Arial"/>
                <a:ea typeface="Arial"/>
                <a:cs typeface="Arial"/>
              </a:rPr>
              <a:t>60 krad(Si) / 30 krad(Si) = 2</a:t>
            </a:r>
          </a:p>
        </p:txBody>
      </p:sp>
      <p:sp>
        <p:nvSpPr>
          <p:cNvPr id="4" name="">
            <a:extLst xmlns:a="http://schemas.openxmlformats.org/drawingml/2006/main">
              <a:ext uri="{FF2B5EF4-FFF2-40B4-BE49-F238E27FC236}">
                <a16:creationId xmlns:a16="http://schemas.microsoft.com/office/drawing/2014/main" id="{12A3D9ED-C6F8-4214-96C1-66F6E983FA14}"/>
              </a:ext>
            </a:extLst>
          </p:cNvPr>
          <p:cNvSpPr>
            <a:spLocks xmlns:a="http://schemas.openxmlformats.org/drawingml/2006/main" noGrp="1"/>
          </p:cNvSpPr>
          <p:nvPr/>
        </p:nvSpPr>
        <p:spPr>
          <a:xfrm xmlns:a="http://schemas.openxmlformats.org/drawingml/2006/main">
            <a:off x="609600" y="4314825"/>
            <a:ext cx="10858500" cy="4406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475" b="0">
                <a:solidFill>
                  <a:srgbClr val="172B3A"/>
                </a:solidFill>
                <a:latin typeface="Arial"/>
                <a:ea typeface="Arial"/>
                <a:cs typeface="Arial"/>
              </a:defRPr>
            </a:defPPr>
          </a:lstStyle>
          <a:p xmlns:a="http://schemas.openxmlformats.org/drawingml/2006/main">
            <a:pPr>
              <a:defRPr sz="2475" b="0">
                <a:solidFill>
                  <a:srgbClr val="172B3A"/>
                </a:solidFill>
                <a:latin typeface="Arial"/>
                <a:ea typeface="Arial"/>
                <a:cs typeface="Arial"/>
              </a:defRPr>
            </a:pPr>
            <a:r>
              <a:rPr sz="2475" b="0">
                <a:solidFill>
                  <a:srgbClr val="172B3A"/>
                </a:solidFill>
                <a:latin typeface="Arial"/>
                <a:ea typeface="Arial"/>
                <a:cs typeface="Arial"/>
              </a:rPr>
              <a:t>Capacidad de referencia / exposición local prevista</a:t>
            </a:r>
          </a:p>
        </p:txBody>
      </p:sp>
      <p:sp>
        <p:nvSpPr>
          <p:cNvPr id="5" name="">
            <a:extLst xmlns:a="http://schemas.openxmlformats.org/drawingml/2006/main">
              <a:ext uri="{FF2B5EF4-FFF2-40B4-BE49-F238E27FC236}">
                <a16:creationId xmlns:a16="http://schemas.microsoft.com/office/drawing/2014/main" id="{AD2BDE50-CAFD-44F6-9578-2FE9F5599617}"/>
              </a:ext>
            </a:extLst>
          </p:cNvPr>
          <p:cNvSpPr>
            <a:spLocks xmlns:a="http://schemas.openxmlformats.org/drawingml/2006/main" noGrp="1"/>
          </p:cNvSpPr>
          <p:nvPr/>
        </p:nvSpPr>
        <p:spPr>
          <a:xfrm xmlns:a="http://schemas.openxmlformats.org/drawingml/2006/main">
            <a:off x="609600" y="5286375"/>
            <a:ext cx="10858500" cy="405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250" b="0">
                <a:solidFill>
                  <a:srgbClr val="49616E"/>
                </a:solidFill>
                <a:latin typeface="Arial"/>
                <a:ea typeface="Arial"/>
                <a:cs typeface="Arial"/>
              </a:defRPr>
            </a:defPPr>
          </a:lstStyle>
          <a:p xmlns:a="http://schemas.openxmlformats.org/drawingml/2006/main">
            <a:pPr>
              <a:defRPr sz="2250" b="0">
                <a:solidFill>
                  <a:srgbClr val="49616E"/>
                </a:solidFill>
                <a:latin typeface="Arial"/>
                <a:ea typeface="Arial"/>
                <a:cs typeface="Arial"/>
              </a:defRPr>
            </a:pPr>
            <a:r>
              <a:rPr sz="2250" b="0">
                <a:solidFill>
                  <a:srgbClr val="49616E"/>
                </a:solidFill>
                <a:latin typeface="Arial"/>
                <a:ea typeface="Arial"/>
                <a:cs typeface="Arial"/>
              </a:rPr>
              <a:t>Ejemplo histórico de diseño, no dosis acumulada actual.</a:t>
            </a:r>
          </a:p>
        </p:txBody>
      </p:sp>
      <p:sp>
        <p:nvSpPr>
          <p:cNvPr id="6" name="">
            <a:extLst xmlns:a="http://schemas.openxmlformats.org/drawingml/2006/main">
              <a:ext uri="{FF2B5EF4-FFF2-40B4-BE49-F238E27FC236}">
                <a16:creationId xmlns:a16="http://schemas.microsoft.com/office/drawing/2014/main" id="{EDD958B3-C4AC-4D08-AABD-80AB3B9C5233}"/>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17</a:t>
            </a:r>
          </a:p>
        </p:txBody>
      </p:sp>
    </p:spTree>
    <p:extLst>
      <p:ext uri="{BB962C8B-B14F-4D97-AF65-F5344CB8AC3E}">
        <p14:creationId xmlns:p14="http://schemas.microsoft.com/office/powerpoint/2010/main" val="171047401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C79EE79-91E5-4DC7-BFB7-C72A8CACC689}"/>
              </a:ext>
            </a:extLst>
          </p:cNvPr>
          <p:cNvSpPr>
            <a:spLocks xmlns:a="http://schemas.openxmlformats.org/drawingml/2006/main" noGrp="1"/>
          </p:cNvSpPr>
          <p:nvPr/>
        </p:nvSpPr>
        <p:spPr>
          <a:xfrm xmlns:a="http://schemas.openxmlformats.org/drawingml/2006/main">
            <a:off x="609600" y="457200"/>
            <a:ext cx="10953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3225" b="1">
                <a:solidFill>
                  <a:srgbClr val="172B3A"/>
                </a:solidFill>
                <a:latin typeface="Arial"/>
                <a:ea typeface="Arial"/>
                <a:cs typeface="Arial"/>
              </a:defRPr>
            </a:defPPr>
          </a:lstStyle>
          <a:p xmlns:a="http://schemas.openxmlformats.org/drawingml/2006/main">
            <a:pPr>
              <a:defRPr sz="3225" b="1">
                <a:solidFill>
                  <a:srgbClr val="172B3A"/>
                </a:solidFill>
                <a:latin typeface="Arial"/>
                <a:ea typeface="Arial"/>
                <a:cs typeface="Arial"/>
              </a:defRPr>
            </a:pPr>
            <a:r>
              <a:rPr sz="3225" b="1">
                <a:solidFill>
                  <a:srgbClr val="172B3A"/>
                </a:solidFill>
                <a:latin typeface="Arial"/>
                <a:ea typeface="Arial"/>
                <a:cs typeface="Arial"/>
              </a:rPr>
              <a:t>Las decisiones que siguen dando resultado</a:t>
            </a:r>
          </a:p>
        </p:txBody>
      </p:sp>
      <p:sp>
        <p:nvSpPr>
          <p:cNvPr id="2" name="">
            <a:extLst xmlns:a="http://schemas.openxmlformats.org/drawingml/2006/main">
              <a:ext uri="{FF2B5EF4-FFF2-40B4-BE49-F238E27FC236}">
                <a16:creationId xmlns:a16="http://schemas.microsoft.com/office/drawing/2014/main" id="{4D79E913-BC87-42AE-BB45-B2D13630D1AF}"/>
              </a:ext>
            </a:extLst>
          </p:cNvPr>
          <p:cNvSpPr>
            <a:spLocks xmlns:a="http://schemas.openxmlformats.org/drawingml/2006/main" noGrp="1"/>
          </p:cNvSpPr>
          <p:nvPr/>
        </p:nvSpPr>
        <p:spPr>
          <a:xfrm xmlns:a="http://schemas.openxmlformats.org/drawingml/2006/main">
            <a:off x="609600" y="1676400"/>
            <a:ext cx="5476875" cy="28228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550" b="0">
                <a:solidFill>
                  <a:srgbClr val="172B3A"/>
                </a:solidFill>
                <a:latin typeface="Arial"/>
                <a:ea typeface="Arial"/>
                <a:cs typeface="Arial"/>
              </a:defRPr>
            </a:defPPr>
          </a:lstStyle>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La misión siguió adelante porque sus</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circuitos se evaluaron para un</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ambiente concreto y conservaron</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margen para funcionar. La selección,</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el blindaje y la capacidad de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recuperación actuaron juntos durante</a:t>
            </a:r>
          </a:p>
          <a:p xmlns:a="http://schemas.openxmlformats.org/drawingml/2006/main">
            <a:pPr>
              <a:defRPr sz="2550" b="0">
                <a:solidFill>
                  <a:srgbClr val="172B3A"/>
                </a:solidFill>
                <a:latin typeface="Arial"/>
                <a:ea typeface="Arial"/>
                <a:cs typeface="Arial"/>
              </a:defRPr>
            </a:pPr>
            <a:r>
              <a:rPr sz="2550" b="0">
                <a:solidFill>
                  <a:srgbClr val="172B3A"/>
                </a:solidFill>
                <a:latin typeface="Arial"/>
                <a:ea typeface="Arial"/>
                <a:cs typeface="Arial"/>
              </a:rPr>
              <a:t>décadas.</a:t>
            </a:r>
          </a:p>
        </p:txBody>
      </p:sp>
      <p:pic>
        <p:nvPicPr>
          <p:cNvPr id="3" name="">
            <a:extLst xmlns:a="http://schemas.openxmlformats.org/drawingml/2006/main">
              <a:ext uri="{FF2B5EF4-FFF2-40B4-BE49-F238E27FC236}">
                <a16:creationId xmlns:a16="http://schemas.microsoft.com/office/drawing/2014/main" id="{C70FD4B5-C88D-40D0-83C5-5DEF575EF931}"/>
              </a:ext>
            </a:extLst>
          </p:cNvPr>
          <p:cNvPicPr>
            <a:picLocks xmlns:a="http://schemas.openxmlformats.org/drawingml/2006/main" noChangeAspect="1"/>
          </p:cNvPicPr>
          <p:nvPr/>
        </p:nvPicPr>
        <p:blipFill>
          <a:blip xmlns:r="http://schemas.openxmlformats.org/officeDocument/2006/relationships" xmlns:a="http://schemas.openxmlformats.org/drawingml/2006/main" r:embed="R451f6bb3810549ad"/>
          <a:stretch xmlns:a="http://schemas.openxmlformats.org/drawingml/2006/main"/>
        </p:blipFill>
        <p:spPr>
          <a:xfrm xmlns:a="http://schemas.openxmlformats.org/drawingml/2006/main">
            <a:off x="6949683" y="1619250"/>
            <a:ext cx="4369584" cy="3476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8204C5E-79F6-4DE2-BE4C-B793D70E8FAB}"/>
              </a:ext>
            </a:extLst>
          </p:cNvPr>
          <p:cNvSpPr>
            <a:spLocks xmlns:a="http://schemas.openxmlformats.org/drawingml/2006/main" noGrp="1"/>
          </p:cNvSpPr>
          <p:nvPr/>
        </p:nvSpPr>
        <p:spPr>
          <a:xfrm xmlns:a="http://schemas.openxmlformats.org/drawingml/2006/main">
            <a:off x="6705600" y="5248275"/>
            <a:ext cx="4857750" cy="3476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1875" b="0">
                <a:solidFill>
                  <a:srgbClr val="49616E"/>
                </a:solidFill>
                <a:latin typeface="Arial"/>
                <a:ea typeface="Arial"/>
                <a:cs typeface="Arial"/>
              </a:defRPr>
            </a:defPPr>
          </a:lstStyle>
          <a:p xmlns:a="http://schemas.openxmlformats.org/drawingml/2006/main">
            <a:pPr>
              <a:defRPr sz="1875" b="0">
                <a:solidFill>
                  <a:srgbClr val="49616E"/>
                </a:solidFill>
                <a:latin typeface="Arial"/>
                <a:ea typeface="Arial"/>
                <a:cs typeface="Arial"/>
              </a:defRPr>
            </a:pPr>
            <a:r>
              <a:rPr sz="1875" b="0">
                <a:solidFill>
                  <a:srgbClr val="49616E"/>
                </a:solidFill>
                <a:latin typeface="Arial"/>
                <a:ea typeface="Arial"/>
                <a:cs typeface="Arial"/>
              </a:rPr>
              <a:t>Integración de Voyager 2 · NASA/JPL</a:t>
            </a:r>
          </a:p>
        </p:txBody>
      </p:sp>
      <p:sp>
        <p:nvSpPr>
          <p:cNvPr id="5" name="">
            <a:extLst xmlns:a="http://schemas.openxmlformats.org/drawingml/2006/main">
              <a:ext uri="{FF2B5EF4-FFF2-40B4-BE49-F238E27FC236}">
                <a16:creationId xmlns:a16="http://schemas.microsoft.com/office/drawing/2014/main" id="{B575BD41-96EB-4FF8-B94B-2792D2A6BCED}"/>
              </a:ext>
            </a:extLst>
          </p:cNvPr>
          <p:cNvSpPr>
            <a:spLocks xmlns:a="http://schemas.openxmlformats.org/drawingml/2006/main" noGrp="1"/>
          </p:cNvSpPr>
          <p:nvPr/>
        </p:nvSpPr>
        <p:spPr>
          <a:xfrm xmlns:a="http://schemas.openxmlformats.org/drawingml/2006/main">
            <a:off x="609600" y="5619750"/>
            <a:ext cx="10763250" cy="4173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325" b="0">
                <a:solidFill>
                  <a:srgbClr val="126F87"/>
                </a:solidFill>
                <a:latin typeface="Arial"/>
                <a:ea typeface="Arial"/>
                <a:cs typeface="Arial"/>
              </a:defRPr>
            </a:defPPr>
          </a:lstStyle>
          <a:p xmlns:a="http://schemas.openxmlformats.org/drawingml/2006/main">
            <a:pPr>
              <a:defRPr sz="2325" b="0">
                <a:solidFill>
                  <a:srgbClr val="126F87"/>
                </a:solidFill>
                <a:latin typeface="Arial"/>
                <a:ea typeface="Arial"/>
                <a:cs typeface="Arial"/>
              </a:defRPr>
            </a:pPr>
            <a:r>
              <a:rPr sz="2325" b="0">
                <a:solidFill>
                  <a:srgbClr val="126F87"/>
                </a:solidFill>
                <a:latin typeface="Arial"/>
                <a:ea typeface="Arial"/>
                <a:cs typeface="Arial"/>
              </a:rPr>
              <a:t>Ensayos, márgenes y recuperación de funciones</a:t>
            </a:r>
          </a:p>
        </p:txBody>
      </p:sp>
      <p:sp>
        <p:nvSpPr>
          <p:cNvPr id="6" name="">
            <a:extLst xmlns:a="http://schemas.openxmlformats.org/drawingml/2006/main">
              <a:ext uri="{FF2B5EF4-FFF2-40B4-BE49-F238E27FC236}">
                <a16:creationId xmlns:a16="http://schemas.microsoft.com/office/drawing/2014/main" id="{6AD66E67-2F7D-4CD4-A91B-375E7FB55885}"/>
              </a:ext>
            </a:extLst>
          </p:cNvPr>
          <p:cNvSpPr>
            <a:spLocks xmlns:a="http://schemas.openxmlformats.org/drawingml/2006/main" noGrp="1"/>
          </p:cNvSpPr>
          <p:nvPr/>
        </p:nvSpPr>
        <p:spPr>
          <a:xfrm xmlns:a="http://schemas.openxmlformats.org/drawingml/2006/main">
            <a:off x="11049000" y="6257925"/>
            <a:ext cx="523875" cy="3941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defPPr>
              <a:defRPr sz="2175" b="0">
                <a:solidFill>
                  <a:srgbClr val="126F87"/>
                </a:solidFill>
                <a:latin typeface="Arial"/>
                <a:ea typeface="Arial"/>
                <a:cs typeface="Arial"/>
              </a:defRPr>
            </a:defPPr>
          </a:lstStyle>
          <a:p xmlns:a="http://schemas.openxmlformats.org/drawingml/2006/main">
            <a:pPr>
              <a:defRPr sz="2175" b="0">
                <a:solidFill>
                  <a:srgbClr val="126F87"/>
                </a:solidFill>
                <a:latin typeface="Arial"/>
                <a:ea typeface="Arial"/>
                <a:cs typeface="Arial"/>
              </a:defRPr>
            </a:pPr>
            <a:r>
              <a:rPr sz="2175" b="0">
                <a:solidFill>
                  <a:srgbClr val="126F87"/>
                </a:solidFill>
                <a:latin typeface="Arial"/>
                <a:ea typeface="Arial"/>
                <a:cs typeface="Arial"/>
              </a:rPr>
              <a:t>18</a:t>
            </a:r>
          </a:p>
        </p:txBody>
      </p:sp>
    </p:spTree>
    <p:extLst>
      <p:ext uri="{BB962C8B-B14F-4D97-AF65-F5344CB8AC3E}">
        <p14:creationId xmlns:p14="http://schemas.microsoft.com/office/powerpoint/2010/main" val="561320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2026-10-16T16:15:04.7430000Z</dcterms:created>
  <dcterms:modified xsi:type="dcterms:W3CDTF">2026-10-16T16:15:04.7430000Z</dcterms:modified>
</coreProperties>
</file>