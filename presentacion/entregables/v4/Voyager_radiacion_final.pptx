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1a0bcd094d4eeb" /><Relationship Type="http://schemas.openxmlformats.org/officeDocument/2006/relationships/extended-properties" Target="/docProps/app.xml" Id="Rdf1755821147472c" /><Relationship Type="http://schemas.openxmlformats.org/officeDocument/2006/relationships/officeDocument" Target="/ppt/presentation.xml" Id="R3bcdf00f6cbd4d47" /></Relationships>
</file>

<file path=ppt/presentation.xml><?xml version="1.0" encoding="utf-8"?>
<p:presentation xmlns:p="http://schemas.openxmlformats.org/presentationml/2006/main">
  <p:sldMasterIdLst>
    <p:sldMasterId xmlns:r="http://schemas.openxmlformats.org/officeDocument/2006/relationships" id="2147483648" r:id="Rd8047450898143c8"/>
  </p:sldMasterIdLst>
  <p:notesMasterIdLst>
    <p:notesMasterId xmlns:r="http://schemas.openxmlformats.org/officeDocument/2006/relationships" r:id="R436fcc96ebb54779"/>
  </p:notesMasterIdLst>
  <p:sldIdLst>
    <p:sldId xmlns:r="http://schemas.openxmlformats.org/officeDocument/2006/relationships" id="256" r:id="R70471f0cca4c4850"/>
    <p:sldId xmlns:r="http://schemas.openxmlformats.org/officeDocument/2006/relationships" id="257" r:id="R1b8a7d90117d4dd5"/>
    <p:sldId xmlns:r="http://schemas.openxmlformats.org/officeDocument/2006/relationships" id="258" r:id="R54a9bb778e414357"/>
    <p:sldId xmlns:r="http://schemas.openxmlformats.org/officeDocument/2006/relationships" id="259" r:id="R20c95807add44a71"/>
    <p:sldId xmlns:r="http://schemas.openxmlformats.org/officeDocument/2006/relationships" id="260" r:id="R676a3e49d28a4007"/>
    <p:sldId xmlns:r="http://schemas.openxmlformats.org/officeDocument/2006/relationships" id="261" r:id="R5d5fdb4452a54294"/>
    <p:sldId xmlns:r="http://schemas.openxmlformats.org/officeDocument/2006/relationships" id="262" r:id="R3fb38e2bf5424a39"/>
    <p:sldId xmlns:r="http://schemas.openxmlformats.org/officeDocument/2006/relationships" id="263" r:id="Rf3404838b0fc42e5"/>
    <p:sldId xmlns:r="http://schemas.openxmlformats.org/officeDocument/2006/relationships" id="264" r:id="R1b55c1676be94b1d"/>
    <p:sldId xmlns:r="http://schemas.openxmlformats.org/officeDocument/2006/relationships" id="265" r:id="R7432bf12b8e14175"/>
    <p:sldId xmlns:r="http://schemas.openxmlformats.org/officeDocument/2006/relationships" id="266" r:id="R7b4d89769f734c94"/>
    <p:sldId xmlns:r="http://schemas.openxmlformats.org/officeDocument/2006/relationships" id="267" r:id="R6cb78ea380e1443c"/>
    <p:sldId xmlns:r="http://schemas.openxmlformats.org/officeDocument/2006/relationships" id="268" r:id="R04e3438662fa4fc4"/>
    <p:sldId xmlns:r="http://schemas.openxmlformats.org/officeDocument/2006/relationships" id="269" r:id="R2763ba2eb7284024"/>
    <p:sldId xmlns:r="http://schemas.openxmlformats.org/officeDocument/2006/relationships" id="270" r:id="R170fbbdcef434e60"/>
    <p:sldId xmlns:r="http://schemas.openxmlformats.org/officeDocument/2006/relationships" id="271" r:id="Rf4bbd53780614072"/>
    <p:sldId xmlns:r="http://schemas.openxmlformats.org/officeDocument/2006/relationships" id="272" r:id="R6ff34cc7597741ae"/>
    <p:sldId xmlns:r="http://schemas.openxmlformats.org/officeDocument/2006/relationships" id="273" r:id="R95ee7986f8964359"/>
    <p:sldId xmlns:r="http://schemas.openxmlformats.org/officeDocument/2006/relationships" id="274" r:id="Rae87f815361c4fcf"/>
    <p:sldId xmlns:r="http://schemas.openxmlformats.org/officeDocument/2006/relationships" id="275" r:id="R1873e3f07b794fcf"/>
    <p:sldId xmlns:r="http://schemas.openxmlformats.org/officeDocument/2006/relationships" id="276" r:id="R93527e77c07f42f3"/>
    <p:sldId xmlns:r="http://schemas.openxmlformats.org/officeDocument/2006/relationships" id="277" r:id="R619a7f4d46f74337"/>
    <p:sldId xmlns:r="http://schemas.openxmlformats.org/officeDocument/2006/relationships" id="278" r:id="Rb123418db4fd44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18301c7e6e4ece" /><Relationship Type="http://schemas.openxmlformats.org/officeDocument/2006/relationships/slideMaster" Target="/ppt/slideMasters/slideMaster1.xml" Id="Rd8047450898143c8" /><Relationship Type="http://schemas.openxmlformats.org/officeDocument/2006/relationships/notesMaster" Target="/ppt/notesMasters/notesMaster1.xml" Id="R436fcc96ebb54779" /><Relationship Type="http://schemas.openxmlformats.org/officeDocument/2006/relationships/presProps" Target="/ppt/presProps.xml" Id="R3ef25da5425c4f55" /><Relationship Type="http://schemas.openxmlformats.org/officeDocument/2006/relationships/tableStyles" Target="/ppt/tableStyles.xml" Id="R9dfd6bde7c714963" /><Relationship Type="http://schemas.openxmlformats.org/officeDocument/2006/relationships/slide" Target="/ppt/slides/slide1.xml" Id="R70471f0cca4c4850" /><Relationship Type="http://schemas.openxmlformats.org/officeDocument/2006/relationships/slide" Target="/ppt/slides/slide2.xml" Id="R1b8a7d90117d4dd5" /><Relationship Type="http://schemas.openxmlformats.org/officeDocument/2006/relationships/slide" Target="/ppt/slides/slide3.xml" Id="R54a9bb778e414357" /><Relationship Type="http://schemas.openxmlformats.org/officeDocument/2006/relationships/slide" Target="/ppt/slides/slide4.xml" Id="R20c95807add44a71" /><Relationship Type="http://schemas.openxmlformats.org/officeDocument/2006/relationships/slide" Target="/ppt/slides/slide5.xml" Id="R676a3e49d28a4007" /><Relationship Type="http://schemas.openxmlformats.org/officeDocument/2006/relationships/slide" Target="/ppt/slides/slide6.xml" Id="R5d5fdb4452a54294" /><Relationship Type="http://schemas.openxmlformats.org/officeDocument/2006/relationships/slide" Target="/ppt/slides/slide7.xml" Id="R3fb38e2bf5424a39" /><Relationship Type="http://schemas.openxmlformats.org/officeDocument/2006/relationships/slide" Target="/ppt/slides/slide8.xml" Id="Rf3404838b0fc42e5" /><Relationship Type="http://schemas.openxmlformats.org/officeDocument/2006/relationships/slide" Target="/ppt/slides/slide9.xml" Id="R1b55c1676be94b1d" /><Relationship Type="http://schemas.openxmlformats.org/officeDocument/2006/relationships/slide" Target="/ppt/slides/slide10.xml" Id="R7432bf12b8e14175" /><Relationship Type="http://schemas.openxmlformats.org/officeDocument/2006/relationships/slide" Target="/ppt/slides/slide11.xml" Id="R7b4d89769f734c94" /><Relationship Type="http://schemas.openxmlformats.org/officeDocument/2006/relationships/slide" Target="/ppt/slides/slide12.xml" Id="R6cb78ea380e1443c" /><Relationship Type="http://schemas.openxmlformats.org/officeDocument/2006/relationships/slide" Target="/ppt/slides/slide13.xml" Id="R04e3438662fa4fc4" /><Relationship Type="http://schemas.openxmlformats.org/officeDocument/2006/relationships/slide" Target="/ppt/slides/slide14.xml" Id="R2763ba2eb7284024" /><Relationship Type="http://schemas.openxmlformats.org/officeDocument/2006/relationships/slide" Target="/ppt/slides/slide15.xml" Id="R170fbbdcef434e60" /><Relationship Type="http://schemas.openxmlformats.org/officeDocument/2006/relationships/slide" Target="/ppt/slides/slide16.xml" Id="Rf4bbd53780614072" /><Relationship Type="http://schemas.openxmlformats.org/officeDocument/2006/relationships/slide" Target="/ppt/slides/slide17.xml" Id="R6ff34cc7597741ae" /><Relationship Type="http://schemas.openxmlformats.org/officeDocument/2006/relationships/slide" Target="/ppt/slides/slide18.xml" Id="R95ee7986f8964359" /><Relationship Type="http://schemas.openxmlformats.org/officeDocument/2006/relationships/slide" Target="/ppt/slides/slide19.xml" Id="Rae87f815361c4fcf" /><Relationship Type="http://schemas.openxmlformats.org/officeDocument/2006/relationships/slide" Target="/ppt/slides/slide20.xml" Id="R1873e3f07b794fcf" /><Relationship Type="http://schemas.openxmlformats.org/officeDocument/2006/relationships/slide" Target="/ppt/slides/slide21.xml" Id="R93527e77c07f42f3" /><Relationship Type="http://schemas.openxmlformats.org/officeDocument/2006/relationships/slide" Target="/ppt/slides/slide22.xml" Id="R619a7f4d46f74337" /><Relationship Type="http://schemas.openxmlformats.org/officeDocument/2006/relationships/slide" Target="/ppt/slides/slide23.xml" Id="Rb123418db4fd44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3aa6ccf29745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4daed6822a46f3" /><Relationship Type="http://schemas.openxmlformats.org/officeDocument/2006/relationships/notesMaster" Target="/ppt/notesMasters/notesMaster1.xml" Id="Rd0b58b03ce6245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70e05d77e64c9d" /><Relationship Type="http://schemas.openxmlformats.org/officeDocument/2006/relationships/notesMaster" Target="/ppt/notesMasters/notesMaster1.xml" Id="R60bb1fc2411a4a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2df721328d4381" /><Relationship Type="http://schemas.openxmlformats.org/officeDocument/2006/relationships/notesMaster" Target="/ppt/notesMasters/notesMaster1.xml" Id="Rd509290c9fc54b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5894930d35548ff" /><Relationship Type="http://schemas.openxmlformats.org/officeDocument/2006/relationships/notesMaster" Target="/ppt/notesMasters/notesMaster1.xml" Id="R5a5aa287e4e347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54b617b3824b61" /><Relationship Type="http://schemas.openxmlformats.org/officeDocument/2006/relationships/notesMaster" Target="/ppt/notesMasters/notesMaster1.xml" Id="R22266735613645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2c2a788909481c" /><Relationship Type="http://schemas.openxmlformats.org/officeDocument/2006/relationships/notesMaster" Target="/ppt/notesMasters/notesMaster1.xml" Id="R74e6306d4a284ea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61aa78f9a54ff7" /><Relationship Type="http://schemas.openxmlformats.org/officeDocument/2006/relationships/notesMaster" Target="/ppt/notesMasters/notesMaster1.xml" Id="R157473bfcd254b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799257e1db42df" /><Relationship Type="http://schemas.openxmlformats.org/officeDocument/2006/relationships/notesMaster" Target="/ppt/notesMasters/notesMaster1.xml" Id="R8eabda5c347c4b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570f21d8ad4250" /><Relationship Type="http://schemas.openxmlformats.org/officeDocument/2006/relationships/notesMaster" Target="/ppt/notesMasters/notesMaster1.xml" Id="R910875b03dbd4f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c31c12aeb24a5f" /><Relationship Type="http://schemas.openxmlformats.org/officeDocument/2006/relationships/notesMaster" Target="/ppt/notesMasters/notesMaster1.xml" Id="R8b20fec2eec94c4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57709e22514c99" /><Relationship Type="http://schemas.openxmlformats.org/officeDocument/2006/relationships/notesMaster" Target="/ppt/notesMasters/notesMaster1.xml" Id="R8dbde0b0b7724e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0307262bb574f6b" /><Relationship Type="http://schemas.openxmlformats.org/officeDocument/2006/relationships/notesMaster" Target="/ppt/notesMasters/notesMaster1.xml" Id="R27c04e1d887f4ae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ba9abce7643471c" /><Relationship Type="http://schemas.openxmlformats.org/officeDocument/2006/relationships/notesMaster" Target="/ppt/notesMasters/notesMaster1.xml" Id="R2d4629152f9348b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8b57c89858045b1" /><Relationship Type="http://schemas.openxmlformats.org/officeDocument/2006/relationships/notesMaster" Target="/ppt/notesMasters/notesMaster1.xml" Id="Rd5e3710116e74c0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b04554b779f4cf3" /><Relationship Type="http://schemas.openxmlformats.org/officeDocument/2006/relationships/notesMaster" Target="/ppt/notesMasters/notesMaster1.xml" Id="R45042b5831774d0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2466de8a3bb416f" /><Relationship Type="http://schemas.openxmlformats.org/officeDocument/2006/relationships/notesMaster" Target="/ppt/notesMasters/notesMaster1.xml" Id="R19a6fda737e3443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9eca00c863147dc" /><Relationship Type="http://schemas.openxmlformats.org/officeDocument/2006/relationships/notesMaster" Target="/ppt/notesMasters/notesMaster1.xml" Id="R1b522232a7454c7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415ac1746c64c33" /><Relationship Type="http://schemas.openxmlformats.org/officeDocument/2006/relationships/notesMaster" Target="/ppt/notesMasters/notesMaster1.xml" Id="Rc628bd4242394d8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5d716a95f4f459c" /><Relationship Type="http://schemas.openxmlformats.org/officeDocument/2006/relationships/notesMaster" Target="/ppt/notesMasters/notesMaster1.xml" Id="Rf73567679bff4da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71766e40c1240c7" /><Relationship Type="http://schemas.openxmlformats.org/officeDocument/2006/relationships/notesMaster" Target="/ppt/notesMasters/notesMaster1.xml" Id="R60da57fe20004f8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45cbdfce8c5436b" /><Relationship Type="http://schemas.openxmlformats.org/officeDocument/2006/relationships/notesMaster" Target="/ppt/notesMasters/notesMaster1.xml" Id="Rb27e0540d91046a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3fc774fb17c4a16" /><Relationship Type="http://schemas.openxmlformats.org/officeDocument/2006/relationships/notesMaster" Target="/ppt/notesMasters/notesMaster1.xml" Id="R763b31859447468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9e7224b346b489a" /><Relationship Type="http://schemas.openxmlformats.org/officeDocument/2006/relationships/notesMaster" Target="/ppt/notesMasters/notesMaster1.xml" Id="R7d0d1f0699a748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0:30</a:t>
            </a:r>
          </a:p>
          <a:p xmlns:a="http://schemas.openxmlformats.org/drawingml/2006/main">
            <a:r>
              <a:t/>
            </a:r>
          </a:p>
          <a:p xmlns:a="http://schemas.openxmlformats.org/drawingml/2006/main">
            <a:r>
              <a:t>GUION ORAL</a:t>
            </a:r>
          </a:p>
          <a:p xmlns:a="http://schemas.openxmlformats.org/drawingml/2006/main">
            <a:r>
              <a:t>Voyager 1 y Voyager 2 se lanzaron en 1977 y todavía producen datos científicos. Quiero explicar qué puede hacer la radiación sobre su electrónica y qué decisiones ayudaron a mantenerla funcionando. Vamos a recorrer primero los ambientes, después los componentes y finalmente el estado actual. Funcionar durante décadas no significa que nada haya cambiado ni que todos los instrumentos sigan activos.</a:t>
            </a:r>
          </a:p>
          <a:p xmlns:a="http://schemas.openxmlformats.org/drawingml/2006/main">
            <a:r>
              <a:t/>
            </a:r>
          </a:p>
          <a:p xmlns:a="http://schemas.openxmlformats.org/drawingml/2006/main">
            <a:r>
              <a:t>LECTURA DE LA IMAGEN Y ALCANCE</a:t>
            </a:r>
          </a:p>
          <a:p xmlns:a="http://schemas.openxmlformats.org/drawingml/2006/main">
            <a:r>
              <a:t>Fotografía de presentación de la nave publicada por NASA. Localizar el cuerpo central debajo de la antena, donde se aloja gran parte del equipo.</a:t>
            </a:r>
          </a:p>
          <a:p xmlns:a="http://schemas.openxmlformats.org/drawingml/2006/main">
            <a:r>
              <a:t/>
            </a:r>
          </a:p>
          <a:p xmlns:a="http://schemas.openxmlformats.org/drawingml/2006/main">
            <a:r>
              <a:t>LOCALIZADORES</a:t>
            </a:r>
          </a:p>
          <a:p xmlns:a="http://schemas.openxmlformats.org/drawingml/2006/main">
            <a:r>
              <a:t>S01, resumen; S06, historia de misión. Imagen: NASA, spacecraft-profile-3.</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S06. Voyager Fact Sheet. contenido histórico sin fecha única</a:t>
            </a:r>
          </a:p>
          <a:p xmlns:a="http://schemas.openxmlformats.org/drawingml/2006/main">
            <a:r>
              <a:t>https://science.nasa.gov/mission/voyager/fact-sheet/</a:t>
            </a:r>
          </a:p>
          <a:p xmlns:a="http://schemas.openxmlformats.org/drawingml/2006/main">
            <a:r>
              <a:t>Archivo local: citas/S06_voyager_fact_sheet.html</a:t>
            </a:r>
          </a:p>
          <a:p xmlns:a="http://schemas.openxmlformats.org/drawingml/2006/main">
            <a:r>
              <a:t>portada: https://science.nasa.gov/image-detail/spacecraft-profile-3/</a:t>
            </a:r>
          </a:p>
          <a:p xmlns:a="http://schemas.openxmlformats.org/drawingml/2006/main">
            <a:r>
              <a:t>Archivo local: citas/presentacion_v3/portada.html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0:45</a:t>
            </a:r>
          </a:p>
          <a:p xmlns:a="http://schemas.openxmlformats.org/drawingml/2006/main">
            <a:r>
              <a:t/>
            </a:r>
          </a:p>
          <a:p xmlns:a="http://schemas.openxmlformats.org/drawingml/2006/main">
            <a:r>
              <a:t>GUION ORAL</a:t>
            </a:r>
          </a:p>
          <a:p xmlns:a="http://schemas.openxmlformats.org/drawingml/2006/main">
            <a:r>
              <a:t>Nos interesan especialmente protones, electrones e iones energéticos. Al atravesar un material pueden entregar energía a sus electrones y liberar cargas: eso es ionizar. También pueden desplazar átomos y dejar defectos. No confundamos tres medidas. La energía de una partícula se expresa, por ejemplo, en MeV. El flujo cuenta partículas por centímetro cuadrado y segundo. La dosis mide energía absorbida por masa: un gray es un joule por kilogramo y equivale a cien rad. Una partícula muy energética no determina por sí sola toda la dosis de un componente.</a:t>
            </a:r>
          </a:p>
          <a:p xmlns:a="http://schemas.openxmlformats.org/drawingml/2006/main">
            <a:r>
              <a:t/>
            </a:r>
          </a:p>
          <a:p xmlns:a="http://schemas.openxmlformats.org/drawingml/2006/main">
            <a:r>
              <a:t>LECTURA DE LA IMAGEN Y ALCANCE</a:t>
            </a:r>
          </a:p>
          <a:p xmlns:a="http://schemas.openxmlformats.org/drawingml/2006/main">
            <a:r>
              <a:t>Diapositiva de conceptos, sin ilustración decorativa.</a:t>
            </a:r>
          </a:p>
          <a:p xmlns:a="http://schemas.openxmlformats.org/drawingml/2006/main">
            <a:r>
              <a:t/>
            </a:r>
          </a:p>
          <a:p xmlns:a="http://schemas.openxmlformats.org/drawingml/2006/main">
            <a:r>
              <a:t>LOCALIZADORES</a:t>
            </a:r>
          </a:p>
          <a:p xmlns:a="http://schemas.openxmlformats.org/drawingml/2006/main">
            <a:r>
              <a:t>S21, introducción y mecanismos; dossier §1.2 y §2.</a:t>
            </a:r>
          </a:p>
          <a:p xmlns:a="http://schemas.openxmlformats.org/drawingml/2006/main">
            <a:r>
              <a:t/>
            </a:r>
          </a:p>
          <a:p xmlns:a="http://schemas.openxmlformats.org/drawingml/2006/main">
            <a:r>
              <a:t>FUENTES</a:t>
            </a:r>
          </a:p>
          <a:p xmlns:a="http://schemas.openxmlformats.org/drawingml/2006/main">
            <a:r>
              <a:t>S17. Cosmic Rays Introduction NASA GSFC. sin fecha estable</a:t>
            </a:r>
          </a:p>
          <a:p xmlns:a="http://schemas.openxmlformats.org/drawingml/2006/main">
            <a:r>
              <a:t>https://imagine.gsfc.nasa.gov/science/toolbox/cosmic_rays1_orig.html</a:t>
            </a:r>
          </a:p>
          <a:p xmlns:a="http://schemas.openxmlformats.org/drawingml/2006/main">
            <a:r>
              <a:t>Archivo local: citas/S17_rayos_cosmicos.html</a:t>
            </a:r>
          </a:p>
          <a:p xmlns:a="http://schemas.openxmlformats.org/drawingml/2006/main">
            <a:r>
              <a:t/>
            </a:r>
          </a:p>
          <a:p xmlns:a="http://schemas.openxmlformats.org/drawingml/2006/main">
            <a:r>
              <a:t>S21. Radiation Effects on Electronics 101 Kenneth LaBel. 2004-04-21</a:t>
            </a:r>
          </a:p>
          <a:p xmlns:a="http://schemas.openxmlformats.org/drawingml/2006/main">
            <a:r>
              <a:t>https://nepp.nasa.gov/DocUploads/392333B0-7A48-4A04-A3A72B0B1DD73343/Rad_Effects_101_WebEx.pdf</a:t>
            </a:r>
          </a:p>
          <a:p xmlns:a="http://schemas.openxmlformats.org/drawingml/2006/main">
            <a:r>
              <a:t>Archivo local: citas/radiation_effects_101.pdf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0:45</a:t>
            </a:r>
          </a:p>
          <a:p xmlns:a="http://schemas.openxmlformats.org/drawingml/2006/main">
            <a:r>
              <a:t/>
            </a:r>
          </a:p>
          <a:p xmlns:a="http://schemas.openxmlformats.org/drawingml/2006/main">
            <a:r>
              <a:t>GUION ORAL</a:t>
            </a:r>
          </a:p>
          <a:p xmlns:a="http://schemas.openxmlformats.org/drawingml/2006/main">
            <a:r>
              <a:t>El ambiente solar cambia con el tiempo. Algunos eventos aceleran partículas y elevan mucho su intensidad respecto del fondo. No es lo mismo el viento solar habitual que una población de partículas solares energéticas. Las imágenes muestran tres días de julio de 1996 observados por SOHO; la publicación original relaciona esa actividad con aumentos de electrones, protones y helio. Son un ejemplo del fenómeno, no una medición de Voyager. Según la energía, el material y el circuito, estas partículas pueden generar pulsos o contribuir a cambios acumulados.</a:t>
            </a:r>
          </a:p>
          <a:p xmlns:a="http://schemas.openxmlformats.org/drawingml/2006/main">
            <a:r>
              <a:t/>
            </a:r>
          </a:p>
          <a:p xmlns:a="http://schemas.openxmlformats.org/drawingml/2006/main">
            <a:r>
              <a:t>LECTURA DE LA IMAGEN Y ALCANCE</a:t>
            </a:r>
          </a:p>
          <a:p xmlns:a="http://schemas.openxmlformats.org/drawingml/2006/main">
            <a:r>
              <a:t>Tres imágenes ultravioleta del Sol, días 9, 12 y 14 de julio de 1996. No son fotografías de las partículas incidentes. El gráfico de intensidades se conserva en el original descargado.</a:t>
            </a:r>
          </a:p>
          <a:p xmlns:a="http://schemas.openxmlformats.org/drawingml/2006/main">
            <a:r>
              <a:t/>
            </a:r>
          </a:p>
          <a:p xmlns:a="http://schemas.openxmlformats.org/drawingml/2006/main">
            <a:r>
              <a:t>LOCALIZADORES</a:t>
            </a:r>
          </a:p>
          <a:p xmlns:a="http://schemas.openxmlformats.org/drawingml/2006/main">
            <a:r>
              <a:t>S21, ambiente espacial. Imagen y contexto: SOHO, COSTEP-EPHIN, cos003.html; recorte del panel superior.</a:t>
            </a:r>
          </a:p>
          <a:p xmlns:a="http://schemas.openxmlformats.org/drawingml/2006/main">
            <a:r>
              <a:t/>
            </a:r>
          </a:p>
          <a:p xmlns:a="http://schemas.openxmlformats.org/drawingml/2006/main">
            <a:r>
              <a:t>FUENTES</a:t>
            </a:r>
          </a:p>
          <a:p xmlns:a="http://schemas.openxmlformats.org/drawingml/2006/main">
            <a:r>
              <a:t>S21. Radiation Effects on Electronics 101 Kenneth LaBel. 2004-04-21</a:t>
            </a:r>
          </a:p>
          <a:p xmlns:a="http://schemas.openxmlformats.org/drawingml/2006/main">
            <a:r>
              <a:t>https://nepp.nasa.gov/DocUploads/392333B0-7A48-4A04-A3A72B0B1DD73343/Rad_Effects_101_WebEx.pdf</a:t>
            </a:r>
          </a:p>
          <a:p xmlns:a="http://schemas.openxmlformats.org/drawingml/2006/main">
            <a:r>
              <a:t>Archivo local: citas/radiation_effects_101.pdf</a:t>
            </a:r>
          </a:p>
          <a:p xmlns:a="http://schemas.openxmlformats.org/drawingml/2006/main">
            <a:r>
              <a:t>solar: https://soho.nascom.nasa.gov/bestofsoho/Particle/cos003.html</a:t>
            </a:r>
          </a:p>
          <a:p xmlns:a="http://schemas.openxmlformats.org/drawingml/2006/main">
            <a:r>
              <a:t>Archivo local: citas/presentacion_v3/solar.html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El campo magnético de Júpiter atrapa partículas energéticas. Júpiter fue una exigencia central para la electrónica. Sus cinturones contienen partículas atrapadas por el campo magnético; los electrones energéticos tuvieron un papel importante en la evaluación del ambiente. Voyager 1 llegó el 5 de marzo de 1979 y Voyager 2 el 9 de julio. La imagen muestra emisiones de electrones medidas después por Cassini, con una imagen de Júpiter superpuesta para dar escala. No representa una dosis de Voyager. La dosis que recibe cada pieza depende además del blindaje y de su ubicación. El programa calculó exposición y ensayó componentes con margen antes del encuentro.</a:t>
            </a:r>
          </a:p>
          <a:p xmlns:a="http://schemas.openxmlformats.org/drawingml/2006/main">
            <a:r>
              <a:t/>
            </a:r>
          </a:p>
          <a:p xmlns:a="http://schemas.openxmlformats.org/drawingml/2006/main">
            <a:r>
              <a:t>LECTURA DE LA IMAGEN Y ALCANCE</a:t>
            </a:r>
          </a:p>
          <a:p xmlns:a="http://schemas.openxmlformats.org/drawingml/2006/main">
            <a:r>
              <a:t>Recorte de la primera de tres vistas de PIA03478. Falso color de emisión de radio, no luz visible emitida por cinturones ni trayectoria de Voyager.</a:t>
            </a:r>
          </a:p>
          <a:p xmlns:a="http://schemas.openxmlformats.org/drawingml/2006/main">
            <a:r>
              <a:t/>
            </a:r>
          </a:p>
          <a:p xmlns:a="http://schemas.openxmlformats.org/drawingml/2006/main">
            <a:r>
              <a:t>LOCALIZADORES</a:t>
            </a:r>
          </a:p>
          <a:p xmlns:a="http://schemas.openxmlformats.org/drawingml/2006/main">
            <a:r>
              <a:t>S01, tabla 2-1 y §III; S06, encuentros. Imagen NASA/JPL PIA03478, observaciones de enero de 2001.</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S06. Voyager Fact Sheet. contenido histórico sin fecha única</a:t>
            </a:r>
          </a:p>
          <a:p xmlns:a="http://schemas.openxmlformats.org/drawingml/2006/main">
            <a:r>
              <a:t>https://science.nasa.gov/mission/voyager/fact-sheet/</a:t>
            </a:r>
          </a:p>
          <a:p xmlns:a="http://schemas.openxmlformats.org/drawingml/2006/main">
            <a:r>
              <a:t>Archivo local: citas/S06_voyager_fact_sheet.html</a:t>
            </a:r>
          </a:p>
          <a:p xmlns:a="http://schemas.openxmlformats.org/drawingml/2006/main">
            <a:r>
              <a:t>jupiter: https://science.nasa.gov/photojournal/inner-radiation-belts-of-jupiter/</a:t>
            </a:r>
          </a:p>
          <a:p xmlns:a="http://schemas.openxmlformats.org/drawingml/2006/main">
            <a:r>
              <a:t>Archivo local: citas/presentacion_v3/jupiter.html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Voyager 1 cruzó la heliopausa el 25 de agosto de 2012 y Voyager 2 el 5 de noviembre de 2018. Esa frontera separa el plasma dominado por el viento solar del medio interestelar. La heliosfera modula los rayos cósmicos galácticos, que también existen dentro de ella. Afuera la exposición no desaparece: siguen llegando protones y núcleos energéticos. Una sola interacción puede producir un pulso aunque su aporte a la dosis total sea pequeño. Tampoco significa que toda partícula produzca una falla. No conocemos a partir de esta imagen la dosis acumulada en cada chip durante toda la misión.</a:t>
            </a:r>
          </a:p>
          <a:p xmlns:a="http://schemas.openxmlformats.org/drawingml/2006/main">
            <a:r>
              <a:t/>
            </a:r>
          </a:p>
          <a:p xmlns:a="http://schemas.openxmlformats.org/drawingml/2006/main">
            <a:r>
              <a:t>LECTURA DE LA IMAGEN Y ALCANCE</a:t>
            </a:r>
          </a:p>
          <a:p xmlns:a="http://schemas.openxmlformats.org/drawingml/2006/main">
            <a:r>
              <a:t>Ilustración NASA publicada en 2022. Sirve para ubicar heliopausa y sondas, no representa sus posiciones o distancias exactas al 14/10/2026.</a:t>
            </a:r>
          </a:p>
          <a:p xmlns:a="http://schemas.openxmlformats.org/drawingml/2006/main">
            <a:r>
              <a:t/>
            </a:r>
          </a:p>
          <a:p xmlns:a="http://schemas.openxmlformats.org/drawingml/2006/main">
            <a:r>
              <a:t>LOCALIZADORES</a:t>
            </a:r>
          </a:p>
          <a:p xmlns:a="http://schemas.openxmlformats.org/drawingml/2006/main">
            <a:r>
              <a:t>S29, cruces de heliopausa; S17, rayos cósmicos; S37, ilustración histórica.</a:t>
            </a:r>
          </a:p>
          <a:p xmlns:a="http://schemas.openxmlformats.org/drawingml/2006/main">
            <a:r>
              <a:t/>
            </a:r>
          </a:p>
          <a:p xmlns:a="http://schemas.openxmlformats.org/drawingml/2006/main">
            <a:r>
              <a:t>FUENTES</a:t>
            </a:r>
          </a:p>
          <a:p xmlns:a="http://schemas.openxmlformats.org/drawingml/2006/main">
            <a:r>
              <a:t>S17. Cosmic Rays Introduction NASA GSFC. sin fecha estable</a:t>
            </a:r>
          </a:p>
          <a:p xmlns:a="http://schemas.openxmlformats.org/drawingml/2006/main">
            <a:r>
              <a:t>https://imagine.gsfc.nasa.gov/science/toolbox/cosmic_rays1_orig.html</a:t>
            </a:r>
          </a:p>
          <a:p xmlns:a="http://schemas.openxmlformats.org/drawingml/2006/main">
            <a:r>
              <a:t>Archivo local: citas/S17_rayos_cosmicos.html</a:t>
            </a:r>
          </a:p>
          <a:p xmlns:a="http://schemas.openxmlformats.org/drawingml/2006/main">
            <a:r>
              <a:t/>
            </a:r>
          </a:p>
          <a:p xmlns:a="http://schemas.openxmlformats.org/drawingml/2006/main">
            <a:r>
              <a:t>S29. The Voyage to Interstellar Space. 2019-03-27</a:t>
            </a:r>
          </a:p>
          <a:p xmlns:a="http://schemas.openxmlformats.org/drawingml/2006/main">
            <a:r>
              <a:t>https://www.nasa.gov/solar-system/the-voyage-to-interstellar-space/</a:t>
            </a:r>
          </a:p>
          <a:p xmlns:a="http://schemas.openxmlformats.org/drawingml/2006/main">
            <a:r>
              <a:t>Archivo local: citas/S29_espacio_interestelar.html</a:t>
            </a:r>
          </a:p>
          <a:p xmlns:a="http://schemas.openxmlformats.org/drawingml/2006/main">
            <a:r>
              <a:t/>
            </a:r>
          </a:p>
          <a:p xmlns:a="http://schemas.openxmlformats.org/drawingml/2006/main">
            <a:r>
              <a:t>S37. 45 Years Ago: Voyager 1 Begins its Epic Journey to the Outer Planets and Beyond. 2022-09-07</a:t>
            </a:r>
          </a:p>
          <a:p xmlns:a="http://schemas.openxmlformats.org/drawingml/2006/main">
            <a:r>
              <a:t>https://www.nasa.gov/history/45-years-ago-voyager-1-begins-its-epic-journey-to-the-outer-planets-and-beyond/</a:t>
            </a:r>
          </a:p>
          <a:p xmlns:a="http://schemas.openxmlformats.org/drawingml/2006/main">
            <a:r>
              <a:t>Archivo local: citas/S37_historia_imagenes_2022.html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0:45</a:t>
            </a:r>
          </a:p>
          <a:p xmlns:a="http://schemas.openxmlformats.org/drawingml/2006/main">
            <a:r>
              <a:t/>
            </a:r>
          </a:p>
          <a:p xmlns:a="http://schemas.openxmlformats.org/drawingml/2006/main">
            <a:r>
              <a:t>GUION ORAL</a:t>
            </a:r>
          </a:p>
          <a:p xmlns:a="http://schemas.openxmlformats.org/drawingml/2006/main">
            <a:r>
              <a:t>La fabricación fue un proceso de varios años, no un único día. La historia técnica describe decisiones de diseño previas al lanzamiento y la foto muestra a Voyager 2 en pruebas el 23 de marzo de 1977. Voyager 2 se lanzó primero, el 20 de agosto; Voyager 1, el 5 de septiembre. La misión original se centró en Júpiter y Saturno, y la trayectoria de Voyager 2 permitió después Urano y Neptuno. Al 14 de octubre de 2026 ambas llevan algo más de 49 años de misión.</a:t>
            </a:r>
          </a:p>
          <a:p xmlns:a="http://schemas.openxmlformats.org/drawingml/2006/main">
            <a:r>
              <a:t/>
            </a:r>
          </a:p>
          <a:p xmlns:a="http://schemas.openxmlformats.org/drawingml/2006/main">
            <a:r>
              <a:t>LECTURA DE LA IMAGEN Y ALCANCE</a:t>
            </a:r>
          </a:p>
          <a:p xmlns:a="http://schemas.openxmlformats.org/drawingml/2006/main">
            <a:r>
              <a:t>Fotografía de pruebas de Voyager 2. No es un modelo conceptual ni una nave actual.</a:t>
            </a:r>
          </a:p>
          <a:p xmlns:a="http://schemas.openxmlformats.org/drawingml/2006/main">
            <a:r>
              <a:t/>
            </a:r>
          </a:p>
          <a:p xmlns:a="http://schemas.openxmlformats.org/drawingml/2006/main">
            <a:r>
              <a:t>LOCALIZADORES</a:t>
            </a:r>
          </a:p>
          <a:p xmlns:a="http://schemas.openxmlformats.org/drawingml/2006/main">
            <a:r>
              <a:t>S04, capítulo 6; S06 y S37, lanzamientos. NASA/JPL-Caltech PIA21736, foto del 23/03/1977.</a:t>
            </a:r>
          </a:p>
          <a:p xmlns:a="http://schemas.openxmlformats.org/drawingml/2006/main">
            <a:r>
              <a:t/>
            </a:r>
          </a:p>
          <a:p xmlns:a="http://schemas.openxmlformats.org/drawingml/2006/main">
            <a:r>
              <a:t>FUENTES</a:t>
            </a:r>
          </a:p>
          <a:p xmlns:a="http://schemas.openxmlformats.org/drawingml/2006/main">
            <a:r>
              <a:t>S04. Computers in Spaceflight The NASA Experience. 1988</a:t>
            </a:r>
          </a:p>
          <a:p xmlns:a="http://schemas.openxmlformats.org/drawingml/2006/main">
            <a:r>
              <a:t>https://ntrs.nasa.gov/api/citations/19880069935/downloads/19880069935_Optimized.pdf</a:t>
            </a:r>
          </a:p>
          <a:p xmlns:a="http://schemas.openxmlformats.org/drawingml/2006/main">
            <a:r>
              <a:t>Archivo local: citas/computers_spaceflight_1988.pdf</a:t>
            </a:r>
          </a:p>
          <a:p xmlns:a="http://schemas.openxmlformats.org/drawingml/2006/main">
            <a:r>
              <a:t/>
            </a:r>
          </a:p>
          <a:p xmlns:a="http://schemas.openxmlformats.org/drawingml/2006/main">
            <a:r>
              <a:t>S06. Voyager Fact Sheet. contenido histórico sin fecha única</a:t>
            </a:r>
          </a:p>
          <a:p xmlns:a="http://schemas.openxmlformats.org/drawingml/2006/main">
            <a:r>
              <a:t>https://science.nasa.gov/mission/voyager/fact-sheet/</a:t>
            </a:r>
          </a:p>
          <a:p xmlns:a="http://schemas.openxmlformats.org/drawingml/2006/main">
            <a:r>
              <a:t>Archivo local: citas/S06_voyager_fact_sheet.html</a:t>
            </a:r>
          </a:p>
          <a:p xmlns:a="http://schemas.openxmlformats.org/drawingml/2006/main">
            <a:r>
              <a:t/>
            </a:r>
          </a:p>
          <a:p xmlns:a="http://schemas.openxmlformats.org/drawingml/2006/main">
            <a:r>
              <a:t>S37. 45 Years Ago: Voyager 1 Begins its Epic Journey to the Outer Planets and Beyond. 2022-09-07</a:t>
            </a:r>
          </a:p>
          <a:p xmlns:a="http://schemas.openxmlformats.org/drawingml/2006/main">
            <a:r>
              <a:t>https://www.nasa.gov/history/45-years-ago-voyager-1-begins-its-epic-journey-to-the-outer-planets-and-beyond/</a:t>
            </a:r>
          </a:p>
          <a:p xmlns:a="http://schemas.openxmlformats.org/drawingml/2006/main">
            <a:r>
              <a:t>Archivo local: citas/S37_historia_imagenes_2022.html</a:t>
            </a:r>
          </a:p>
          <a:p xmlns:a="http://schemas.openxmlformats.org/drawingml/2006/main">
            <a:r>
              <a:t>integracion: https://science.nasa.gov/image-detail/pia21736/</a:t>
            </a:r>
          </a:p>
          <a:p xmlns:a="http://schemas.openxmlformats.org/drawingml/2006/main">
            <a:r>
              <a:t>Archivo local: citas/presentacion_v3/integracion.html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Había tres subsistemas de computación con redundancia: CCS ejecutaba comandos y secuencias; AACS controlaba actitud y articulación; FDS procesaba los datos. TTL es una familia de lógica basada en transistores bipolares. CMOS combina MOS de canal n y p. La historia del FDS describe un prototipo con TTL que evolucionó hacia procesador y memorias CMOS de vuelo. Por eso sería incorrecto decir que toda la sonda era TTL salvo una memoria. CCS y AACS utilizaron memorias de hilo plateado, mientras que la memoria CMOS del FDS necesitaba alimentación para conservar datos. TTL significa lógica transistor-transistor, basada en bipolares; CMOS combina transistores MOS complementarios. En el FDS de vuelo, tanto el procesador como la memoria adoptaron CMOS.</a:t>
            </a:r>
          </a:p>
          <a:p xmlns:a="http://schemas.openxmlformats.org/drawingml/2006/main">
            <a:r>
              <a:t/>
            </a:r>
          </a:p>
          <a:p xmlns:a="http://schemas.openxmlformats.org/drawingml/2006/main">
            <a:r>
              <a:t>LECTURA DE LA IMAGEN Y ALCANCE</a:t>
            </a:r>
          </a:p>
          <a:p xmlns:a="http://schemas.openxmlformats.org/drawingml/2006/main">
            <a:r>
              <a:t>Recorte de S04 fig.6-2, fotografía JPL 360-751AC. Identifica hardware del FDS; no se atribuye este número de serie a una sonda concreta.</a:t>
            </a:r>
          </a:p>
          <a:p xmlns:a="http://schemas.openxmlformats.org/drawingml/2006/main">
            <a:r>
              <a:t/>
            </a:r>
          </a:p>
          <a:p xmlns:a="http://schemas.openxmlformats.org/drawingml/2006/main">
            <a:r>
              <a:t>LOCALIZADORES</a:t>
            </a:r>
          </a:p>
          <a:p xmlns:a="http://schemas.openxmlformats.org/drawingml/2006/main">
            <a:r>
              <a:t>S04, fig. 6-2 p.181 y pp.182–184; S01 §VI.B; S03 p.20.</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S03. Voyager Backgrounder. 1981</a:t>
            </a:r>
          </a:p>
          <a:p xmlns:a="http://schemas.openxmlformats.org/drawingml/2006/main">
            <a:r>
              <a:t>https://ntrs.nasa.gov/api/citations/19810023559/downloads/19810023559.pdf</a:t>
            </a:r>
          </a:p>
          <a:p xmlns:a="http://schemas.openxmlformats.org/drawingml/2006/main">
            <a:r>
              <a:t>Archivo local: citas/voyager_background_1981.pdf</a:t>
            </a:r>
          </a:p>
          <a:p xmlns:a="http://schemas.openxmlformats.org/drawingml/2006/main">
            <a:r>
              <a:t/>
            </a:r>
          </a:p>
          <a:p xmlns:a="http://schemas.openxmlformats.org/drawingml/2006/main">
            <a:r>
              <a:t>S04. Computers in Spaceflight The NASA Experience. 1988</a:t>
            </a:r>
          </a:p>
          <a:p xmlns:a="http://schemas.openxmlformats.org/drawingml/2006/main">
            <a:r>
              <a:t>https://ntrs.nasa.gov/api/citations/19880069935/downloads/19880069935_Optimized.pdf</a:t>
            </a:r>
          </a:p>
          <a:p xmlns:a="http://schemas.openxmlformats.org/drawingml/2006/main">
            <a:r>
              <a:t>Archivo local: citas/computers_spaceflight_1988.pdf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0:45</a:t>
            </a:r>
          </a:p>
          <a:p xmlns:a="http://schemas.openxmlformats.org/drawingml/2006/main">
            <a:r>
              <a:t/>
            </a:r>
          </a:p>
          <a:p xmlns:a="http://schemas.openxmlformats.org/drawingml/2006/main">
            <a:r>
              <a:t>GUION ORAL</a:t>
            </a:r>
          </a:p>
          <a:p xmlns:a="http://schemas.openxmlformats.org/drawingml/2006/main">
            <a:r>
              <a:t>Además de las computadoras hay componentes que fijan tensiones, almacenan carga, amplifican señales y distribuyen energía. El informe del programa identifica redes resistivas Dale de película metálica, capacitores B11B con teflón y ensayos de diodos y transistores bipolares. También documenta funciones CMOS utilizadas. Tenemos que distinguir esta evidencia de un inventario completo de vuelo, que no está disponible en las fuentes consultadas. No conocemos el material exacto de cada capacitor, núcleo o encapsulado instalado. Ahora vamos a ver qué puede cambiar en cada familia y qué evidencia concreta tenemos.</a:t>
            </a:r>
          </a:p>
          <a:p xmlns:a="http://schemas.openxmlformats.org/drawingml/2006/main">
            <a:r>
              <a:t/>
            </a:r>
          </a:p>
          <a:p xmlns:a="http://schemas.openxmlformats.org/drawingml/2006/main">
            <a:r>
              <a:t>LECTURA DE LA IMAGEN Y ALCANCE</a:t>
            </a:r>
          </a:p>
          <a:p xmlns:a="http://schemas.openxmlformats.org/drawingml/2006/main">
            <a:r>
              <a:t>Inventario textual acotado. No usar fotos genéricas que aparenten identificar piezas de vuelo.</a:t>
            </a:r>
          </a:p>
          <a:p xmlns:a="http://schemas.openxmlformats.org/drawingml/2006/main">
            <a:r>
              <a:t/>
            </a:r>
          </a:p>
          <a:p xmlns:a="http://schemas.openxmlformats.org/drawingml/2006/main">
            <a:r>
              <a:t>LOCALIZADORES</a:t>
            </a:r>
          </a:p>
          <a:p xmlns:a="http://schemas.openxmlformats.org/drawingml/2006/main">
            <a:r>
              <a:t>S01 §VI, §VII.B y p.7-53; S03 pp.16–17; S08 §5.</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S03. Voyager Backgrounder. 1981</a:t>
            </a:r>
          </a:p>
          <a:p xmlns:a="http://schemas.openxmlformats.org/drawingml/2006/main">
            <a:r>
              <a:t>https://ntrs.nasa.gov/api/citations/19810023559/downloads/19810023559.pdf</a:t>
            </a:r>
          </a:p>
          <a:p xmlns:a="http://schemas.openxmlformats.org/drawingml/2006/main">
            <a:r>
              <a:t>Archivo local: citas/voyager_background_1981.pdf</a:t>
            </a:r>
          </a:p>
          <a:p xmlns:a="http://schemas.openxmlformats.org/drawingml/2006/main">
            <a:r>
              <a:t/>
            </a:r>
          </a:p>
          <a:p xmlns:a="http://schemas.openxmlformats.org/drawingml/2006/main">
            <a:r>
              <a:t>S08. A Plasma Wave Investigation for the Voyager Mission. 1977</a:t>
            </a:r>
          </a:p>
          <a:p xmlns:a="http://schemas.openxmlformats.org/drawingml/2006/main">
            <a:r>
              <a:t>https://pds.nasa.gov/data/vg1-j-spice-6-spk-v2.0/vg_1501/document/pws/pwsinst.htm</a:t>
            </a:r>
          </a:p>
          <a:p xmlns:a="http://schemas.openxmlformats.org/drawingml/2006/main">
            <a:r>
              <a:t>Archivo local: citas/S08_pws_instrumento_1977.html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Una resistencia limita corriente o participa en un divisor. Conviene distinguir su elemento resistivo del aislante y soporte que la rodean. Si la radiación genera portadores en el aislamiento, puede aparecer una corriente no deseada. En una entrada de resistencia alta, esa corriente puede generar una tensión importante aunque la resistencia siga sana. Las redes Dale ensayadas conservaron su valor dentro del límite de ±0,01 por ciento informado. En el PWS había además una resistencia de 20 megaohmios para evacuar carga de la antena: cuatro microamperios producen 80 voltios. Es una medida frente a carga de antena, no un filtro universal de partículas.</a:t>
            </a:r>
          </a:p>
          <a:p xmlns:a="http://schemas.openxmlformats.org/drawingml/2006/main">
            <a:r>
              <a:t/>
            </a:r>
          </a:p>
          <a:p xmlns:a="http://schemas.openxmlformats.org/drawingml/2006/main">
            <a:r>
              <a:t>LECTURA DE LA IMAGEN Y ALCANCE</a:t>
            </a:r>
          </a:p>
          <a:p xmlns:a="http://schemas.openxmlformats.org/drawingml/2006/main">
            <a:r>
              <a:t>Sin figura. Señalar verbalmente la diferencia entre el valor resistivo y el aislamiento. El ejemplo PWS es de diseño documentado, no una dosis medida.</a:t>
            </a:r>
          </a:p>
          <a:p xmlns:a="http://schemas.openxmlformats.org/drawingml/2006/main">
            <a:r>
              <a:t/>
            </a:r>
          </a:p>
          <a:p xmlns:a="http://schemas.openxmlformats.org/drawingml/2006/main">
            <a:r>
              <a:t>LOCALIZADORES</a:t>
            </a:r>
          </a:p>
          <a:p xmlns:a="http://schemas.openxmlformats.org/drawingml/2006/main">
            <a:r>
              <a:t>S01 p.7-53; S08 §5.G; S24 p.49; S25 §4.1.</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S08. A Plasma Wave Investigation for the Voyager Mission. 1977</a:t>
            </a:r>
          </a:p>
          <a:p xmlns:a="http://schemas.openxmlformats.org/drawingml/2006/main">
            <a:r>
              <a:t>https://pds.nasa.gov/data/vg1-j-spice-6-spk-v2.0/vg_1501/document/pws/pwsinst.htm</a:t>
            </a:r>
          </a:p>
          <a:p xmlns:a="http://schemas.openxmlformats.org/drawingml/2006/main">
            <a:r>
              <a:t>Archivo local: citas/S08_pws_instrumento_1977.html</a:t>
            </a:r>
          </a:p>
          <a:p xmlns:a="http://schemas.openxmlformats.org/drawingml/2006/main">
            <a:r>
              <a:t/>
            </a:r>
          </a:p>
          <a:p xmlns:a="http://schemas.openxmlformats.org/drawingml/2006/main">
            <a:r>
              <a:t>S24. Radiation Effects and Analysis Lessons Wyrwas Wilcox. 2022-06</a:t>
            </a:r>
          </a:p>
          <a:p xmlns:a="http://schemas.openxmlformats.org/drawingml/2006/main">
            <a:r>
              <a:t>https://nepp.nasa.gov/docs/etw/2022/16-JUN-THU/1600-Wyrwas-20220002512.pdf</a:t>
            </a:r>
          </a:p>
          <a:p xmlns:a="http://schemas.openxmlformats.org/drawingml/2006/main">
            <a:r>
              <a:t>Archivo local: citas/nepp_radiation_lessons_2022.pdf</a:t>
            </a:r>
          </a:p>
          <a:p xmlns:a="http://schemas.openxmlformats.org/drawingml/2006/main">
            <a:r>
              <a:t/>
            </a:r>
          </a:p>
          <a:p xmlns:a="http://schemas.openxmlformats.org/drawingml/2006/main">
            <a:r>
              <a:t>S25. NASA HDBK 4002B Mitigating In Space Charging Effects. 2022-06-07</a:t>
            </a:r>
          </a:p>
          <a:p xmlns:a="http://schemas.openxmlformats.org/drawingml/2006/main">
            <a:r>
              <a:t>https://standards.nasa.gov/sites/default/files/standards/NASA/B/0/2022-06-07-NASA-HDBK-4002B-Approved.pdf</a:t>
            </a:r>
          </a:p>
          <a:p xmlns:a="http://schemas.openxmlformats.org/drawingml/2006/main">
            <a:r>
              <a:t>Archivo local: citas/nasa_hdbk_4002b_2022.pdf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1:15</a:t>
            </a:r>
          </a:p>
          <a:p xmlns:a="http://schemas.openxmlformats.org/drawingml/2006/main">
            <a:r>
              <a:t/>
            </a:r>
          </a:p>
          <a:p xmlns:a="http://schemas.openxmlformats.org/drawingml/2006/main">
            <a:r>
              <a:t>GUION ORAL</a:t>
            </a:r>
          </a:p>
          <a:p xmlns:a="http://schemas.openxmlformats.org/drawingml/2006/main">
            <a:r>
              <a:t>El dieléctrico separa los electrodos y permite almacenar carga. La radiación puede crear portadores que se mueven por ese material y aumentan la fuga durante la exposición. Parte del efecto puede desaparecer después; otra parte puede permanecer según el material y los defectos. Una fuga puede cambiar una medición o el instante en que se alcanza un umbral. Eso no exige que cambie mucho la capacitancia. Los B11B de teflón ensayados mostraron cambios pequeños de capacidad, alrededor de 0,025 por ciento, pero ese resultado no demuestra ausencia de fugas transitorias. En el PWS se especificaron tensiones nominales frente al potencial previsto de la antena. Como criterio general, hay que comprobar aislamiento además de capacidad. Los bancos de potencia de Voyager cubrían demandas breves de energía: no eran una protección universal frente a radiación.</a:t>
            </a:r>
          </a:p>
          <a:p xmlns:a="http://schemas.openxmlformats.org/drawingml/2006/main">
            <a:r>
              <a:t/>
            </a:r>
          </a:p>
          <a:p xmlns:a="http://schemas.openxmlformats.org/drawingml/2006/main">
            <a:r>
              <a:t>LECTURA DE LA IMAGEN Y ALCANCE</a:t>
            </a:r>
          </a:p>
          <a:p xmlns:a="http://schemas.openxmlformats.org/drawingml/2006/main">
            <a:r>
              <a:t>Sin circuito equivalente. Usar la explicación oral del aislante entre dos electrodos.</a:t>
            </a:r>
          </a:p>
          <a:p xmlns:a="http://schemas.openxmlformats.org/drawingml/2006/main">
            <a:r>
              <a:t/>
            </a:r>
          </a:p>
          <a:p xmlns:a="http://schemas.openxmlformats.org/drawingml/2006/main">
            <a:r>
              <a:t>LOCALIZADORES</a:t>
            </a:r>
          </a:p>
          <a:p xmlns:a="http://schemas.openxmlformats.org/drawingml/2006/main">
            <a:r>
              <a:t>S01 p.7-53; S08 §5.G; S03 p.17; S25 §§4.1.3–4.1.5.</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S03. Voyager Backgrounder. 1981</a:t>
            </a:r>
          </a:p>
          <a:p xmlns:a="http://schemas.openxmlformats.org/drawingml/2006/main">
            <a:r>
              <a:t>https://ntrs.nasa.gov/api/citations/19810023559/downloads/19810023559.pdf</a:t>
            </a:r>
          </a:p>
          <a:p xmlns:a="http://schemas.openxmlformats.org/drawingml/2006/main">
            <a:r>
              <a:t>Archivo local: citas/voyager_background_1981.pdf</a:t>
            </a:r>
          </a:p>
          <a:p xmlns:a="http://schemas.openxmlformats.org/drawingml/2006/main">
            <a:r>
              <a:t/>
            </a:r>
          </a:p>
          <a:p xmlns:a="http://schemas.openxmlformats.org/drawingml/2006/main">
            <a:r>
              <a:t>S08. A Plasma Wave Investigation for the Voyager Mission. 1977</a:t>
            </a:r>
          </a:p>
          <a:p xmlns:a="http://schemas.openxmlformats.org/drawingml/2006/main">
            <a:r>
              <a:t>https://pds.nasa.gov/data/vg1-j-spice-6-spk-v2.0/vg_1501/document/pws/pwsinst.htm</a:t>
            </a:r>
          </a:p>
          <a:p xmlns:a="http://schemas.openxmlformats.org/drawingml/2006/main">
            <a:r>
              <a:t>Archivo local: citas/S08_pws_instrumento_1977.html</a:t>
            </a:r>
          </a:p>
          <a:p xmlns:a="http://schemas.openxmlformats.org/drawingml/2006/main">
            <a:r>
              <a:t/>
            </a:r>
          </a:p>
          <a:p xmlns:a="http://schemas.openxmlformats.org/drawingml/2006/main">
            <a:r>
              <a:t>S24. Radiation Effects and Analysis Lessons Wyrwas Wilcox. 2022-06</a:t>
            </a:r>
          </a:p>
          <a:p xmlns:a="http://schemas.openxmlformats.org/drawingml/2006/main">
            <a:r>
              <a:t>https://nepp.nasa.gov/docs/etw/2022/16-JUN-THU/1600-Wyrwas-20220002512.pdf</a:t>
            </a:r>
          </a:p>
          <a:p xmlns:a="http://schemas.openxmlformats.org/drawingml/2006/main">
            <a:r>
              <a:t>Archivo local: citas/nepp_radiation_lessons_2022.pdf</a:t>
            </a:r>
          </a:p>
          <a:p xmlns:a="http://schemas.openxmlformats.org/drawingml/2006/main">
            <a:r>
              <a:t/>
            </a:r>
          </a:p>
          <a:p xmlns:a="http://schemas.openxmlformats.org/drawingml/2006/main">
            <a:r>
              <a:t>S25. NASA HDBK 4002B Mitigating In Space Charging Effects. 2022-06-07</a:t>
            </a:r>
          </a:p>
          <a:p xmlns:a="http://schemas.openxmlformats.org/drawingml/2006/main">
            <a:r>
              <a:t>https://standards.nasa.gov/sites/default/files/standards/NASA/B/0/2022-06-07-NASA-HDBK-4002B-Approved.pdf</a:t>
            </a:r>
          </a:p>
          <a:p xmlns:a="http://schemas.openxmlformats.org/drawingml/2006/main">
            <a:r>
              <a:t>Archivo local: citas/nasa_hdbk_4002b_2022.pdf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La figura es una unión de fotodiodo de silicio, no un componente identificado de Voyager. Sirve para ubicar las regiones p y n y la zona donde existe campo eléctrico. Si se genera carga allí o cerca, una parte llega a los terminales y produce corriente. En un sensor de luz eso puede ser una señal buscada; en otra entrada, una partícula puede producir un pulso inesperado. El pulso puede desaparecer al recogerse o recombinarse la carga. Distinto es que queden defectos que aumenten la fuga. El programa ensayó diodos como 1N4148 y 1N5711, con pequeños cambios de parámetros en las condiciones publicadas. Esos ensayos no describen todos los transitorios posibles.</a:t>
            </a:r>
          </a:p>
          <a:p xmlns:a="http://schemas.openxmlformats.org/drawingml/2006/main">
            <a:r>
              <a:t/>
            </a:r>
          </a:p>
          <a:p xmlns:a="http://schemas.openxmlformats.org/drawingml/2006/main">
            <a:r>
              <a:t>LECTURA DE LA IMAGEN Y ALCANCE</a:t>
            </a:r>
          </a:p>
          <a:p xmlns:a="http://schemas.openxmlformats.org/drawingml/2006/main">
            <a:r>
              <a:t>Hamamatsu fig.1-1. La iluminación dibujada pertenece al funcionamiento del fotodiodo; no representa una trayectoria cósmica. Depletion layer = zona de agotamiento. Se usa la geometría para explicar colección, no para generalizar a Schottky.</a:t>
            </a:r>
          </a:p>
          <a:p xmlns:a="http://schemas.openxmlformats.org/drawingml/2006/main">
            <a:r>
              <a:t/>
            </a:r>
          </a:p>
          <a:p xmlns:a="http://schemas.openxmlformats.org/drawingml/2006/main">
            <a:r>
              <a:t>LOCALIZADORES</a:t>
            </a:r>
          </a:p>
          <a:p xmlns:a="http://schemas.openxmlformats.org/drawingml/2006/main">
            <a:r>
              <a:t>S01 p.7-53; S35 §2. Figura: Hamamatsu, Si photodiodes, p.2 fig.1-1.</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S21. Radiation Effects on Electronics 101 Kenneth LaBel. 2004-04-21</a:t>
            </a:r>
          </a:p>
          <a:p xmlns:a="http://schemas.openxmlformats.org/drawingml/2006/main">
            <a:r>
              <a:t>https://nepp.nasa.gov/DocUploads/392333B0-7A48-4A04-A3A72B0B1DD73343/Rad_Effects_101_WebEx.pdf</a:t>
            </a:r>
          </a:p>
          <a:p xmlns:a="http://schemas.openxmlformats.org/drawingml/2006/main">
            <a:r>
              <a:t>Archivo local: citas/radiation_effects_101.pdf</a:t>
            </a:r>
          </a:p>
          <a:p xmlns:a="http://schemas.openxmlformats.org/drawingml/2006/main">
            <a:r>
              <a:t/>
            </a:r>
          </a:p>
          <a:p xmlns:a="http://schemas.openxmlformats.org/drawingml/2006/main">
            <a:r>
              <a:t>S35. Testing and Hardness Assurance Guidelines for Single Event Transients in Linear Devices. 2005-10-24</a:t>
            </a:r>
          </a:p>
          <a:p xmlns:a="http://schemas.openxmlformats.org/drawingml/2006/main">
            <a:r>
              <a:t>https://nepp.nasa.gov/docuploads/FE7A50F8-E974-462D-8642C727C445125F/SET_Linear05.pdf</a:t>
            </a:r>
          </a:p>
          <a:p xmlns:a="http://schemas.openxmlformats.org/drawingml/2006/main">
            <a:r>
              <a:t>Archivo local: citas/S35_SET_lineales_2005.pdf</a:t>
            </a:r>
          </a:p>
          <a:p xmlns:a="http://schemas.openxmlformats.org/drawingml/2006/main">
            <a:r>
              <a:t>H01: https://www.hamamatsu.com/content/dam/hamamatsu-photonics/sites/documents/99_SALES_LIBRARY/ssd/si_pd_kspd9001e.pdf</a:t>
            </a:r>
          </a:p>
          <a:p xmlns:a="http://schemas.openxmlformats.org/drawingml/2006/main">
            <a:r>
              <a:t>Archivo local: citas/presentacion_v3/hamamatsu_fotodiodos.pdf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1:30</a:t>
            </a:r>
          </a:p>
          <a:p xmlns:a="http://schemas.openxmlformats.org/drawingml/2006/main">
            <a:r>
              <a:t/>
            </a:r>
          </a:p>
          <a:p xmlns:a="http://schemas.openxmlformats.org/drawingml/2006/main">
            <a:r>
              <a:t>GUION ORAL</a:t>
            </a:r>
          </a:p>
          <a:p xmlns:a="http://schemas.openxmlformats.org/drawingml/2006/main">
            <a:r>
              <a:t>En un NPN, el emisor inyecta electrones en la base. Muchos llegan al colector y otros se recombinan. La corriente de base sostiene los procesos asociados; la ganancia relaciona corriente de colector y de base. La radiación puede crear defectos en el volumen o alterar óxidos e interfaces. Esos cambios favorecen recombinación y pueden aumentar la corriente de base. Para mantener la misma corriente de colector hace falta más corriente de base, o el circuito pierde margen. No siempre significa que la corriente de colector cae a igual tensión base-emisor: hay ensayos donde cambia sobre todo la base. Además, las uniones pueden recoger carga y producir pulsos. Voyager comparó componentes y fabricantes porque compartir un nombre comercial no garantiza igual tolerancia. La figura marca la zona superficial sensible del ejemplo, no una región dañada medida en una pieza de vuelo.</a:t>
            </a:r>
          </a:p>
          <a:p xmlns:a="http://schemas.openxmlformats.org/drawingml/2006/main">
            <a:r>
              <a:t/>
            </a:r>
          </a:p>
          <a:p xmlns:a="http://schemas.openxmlformats.org/drawingml/2006/main">
            <a:r>
              <a:t>LECTURA DE LA IMAGEN Y ALCANCE</a:t>
            </a:r>
          </a:p>
          <a:p xmlns:a="http://schemas.openxmlformats.org/drawingml/2006/main">
            <a:r>
              <a:t>S36 fig.24, NPN convencional. Emitter, Base, Collector corresponden a emisor, base y colector. El contorno discontinuo marca una región sensible a ionización. No representa la distribución de todo daño por desplazamiento.</a:t>
            </a:r>
          </a:p>
          <a:p xmlns:a="http://schemas.openxmlformats.org/drawingml/2006/main">
            <a:r>
              <a:t/>
            </a:r>
          </a:p>
          <a:p xmlns:a="http://schemas.openxmlformats.org/drawingml/2006/main">
            <a:r>
              <a:t>LOCALIZADORES</a:t>
            </a:r>
          </a:p>
          <a:p xmlns:a="http://schemas.openxmlformats.org/drawingml/2006/main">
            <a:r>
              <a:t>S36 p.17, figs.24,26–27; S01 §VII.B, figs.7-1 y 7-2.</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S36. Hydrogen Contamination and Its Correlation with Enhanced Low-Dose-Rate Sensitivity. 2012-12</a:t>
            </a:r>
          </a:p>
          <a:p xmlns:a="http://schemas.openxmlformats.org/drawingml/2006/main">
            <a:r>
              <a:t>https://nepp.nasa.gov/files/25742/12_162_JPL_Adell_Hydrogen%20Contamination%20rec%201%207%2014.pdf</a:t>
            </a:r>
          </a:p>
          <a:p xmlns:a="http://schemas.openxmlformats.org/drawingml/2006/main">
            <a:r>
              <a:t>Archivo local: citas/S36_bipolares_recombinacion.pdf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1:30</a:t>
            </a:r>
          </a:p>
          <a:p xmlns:a="http://schemas.openxmlformats.org/drawingml/2006/main">
            <a:r>
              <a:t/>
            </a:r>
          </a:p>
          <a:p xmlns:a="http://schemas.openxmlformats.org/drawingml/2006/main">
            <a:r>
              <a:t>GUION ORAL</a:t>
            </a:r>
          </a:p>
          <a:p xmlns:a="http://schemas.openxmlformats.org/drawingml/2006/main">
            <a:r>
              <a:t>La compuerta controla el canal mediante un campo eléctrico a través del óxido. La ionización genera electrones y huecos; una parte puede quedar atrapada en el óxido y también aparecen estados en la interfaz con el silicio. Eso modifica el campo que ve el canal y cambia la tensión de encendido, las fugas o la movilidad. La figura ilustra un caso donde carga positiva permite conducción no deseada. No todos los procesos desplazan el umbral igual porque compiten distintos mecanismos. Por otra vía, una partícula puede generar carga en el silicio y perturbar un nodo sin dejar daño acumulado. En el programa Voyager, RCA cambió el recocido del óxido de su familia CMOS CD4000 de 1100 a 950 grados Celsius para mejorar la respuesta. Son temperaturas de fabricación, no una operación de calentamiento de la sonda. Además de carga dentro del óxido, pueden aparecer estados de interfaz en su frontera con el silicio. No son el mismo efecto y ambos influyen en el control del canal.</a:t>
            </a:r>
          </a:p>
          <a:p xmlns:a="http://schemas.openxmlformats.org/drawingml/2006/main">
            <a:r>
              <a:t/>
            </a:r>
          </a:p>
          <a:p xmlns:a="http://schemas.openxmlformats.org/drawingml/2006/main">
            <a:r>
              <a:t>LECTURA DE LA IMAGEN Y ALCANCE</a:t>
            </a:r>
          </a:p>
          <a:p xmlns:a="http://schemas.openxmlformats.org/drawingml/2006/main">
            <a:r>
              <a:t>S36 fig.9. Gate = compuerta; source/drain = fuente/drenador. Los signos positivos representan carga atrapada. Figura general, no corte microscópico de un chip Voyager. Curva de ensayo original en respaldo.</a:t>
            </a:r>
          </a:p>
          <a:p xmlns:a="http://schemas.openxmlformats.org/drawingml/2006/main">
            <a:r>
              <a:t/>
            </a:r>
          </a:p>
          <a:p xmlns:a="http://schemas.openxmlformats.org/drawingml/2006/main">
            <a:r>
              <a:t>LOCALIZADORES</a:t>
            </a:r>
          </a:p>
          <a:p xmlns:a="http://schemas.openxmlformats.org/drawingml/2006/main">
            <a:r>
              <a:t>S36 p.8 fig.9; S01 §VI, fig.6-1 p.6-3.</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S36. Hydrogen Contamination and Its Correlation with Enhanced Low-Dose-Rate Sensitivity. 2012-12</a:t>
            </a:r>
          </a:p>
          <a:p xmlns:a="http://schemas.openxmlformats.org/drawingml/2006/main">
            <a:r>
              <a:t>https://nepp.nasa.gov/files/25742/12_162_JPL_Adell_Hydrogen%20Contamination%20rec%201%207%2014.pdf</a:t>
            </a:r>
          </a:p>
          <a:p xmlns:a="http://schemas.openxmlformats.org/drawingml/2006/main">
            <a:r>
              <a:t>Archivo local: citas/S36_bipolares_recombinacion.pdf</a:t>
            </a:r>
          </a:p>
          <a:p xmlns:a="http://schemas.openxmlformats.org/drawingml/2006/main">
            <a:r>
              <a:t/>
            </a:r>
          </a:p>
          <a:p xmlns:a="http://schemas.openxmlformats.org/drawingml/2006/main">
            <a:r>
              <a:t>S21. Radiation Effects on Electronics 101 Kenneth LaBel. 2004-04-21</a:t>
            </a:r>
          </a:p>
          <a:p xmlns:a="http://schemas.openxmlformats.org/drawingml/2006/main">
            <a:r>
              <a:t>https://nepp.nasa.gov/DocUploads/392333B0-7A48-4A04-A3A72B0B1DD73343/Rad_Effects_101_WebEx.pdf</a:t>
            </a:r>
          </a:p>
          <a:p xmlns:a="http://schemas.openxmlformats.org/drawingml/2006/main">
            <a:r>
              <a:t>Archivo local: citas/radiation_effects_101.pdf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1:15</a:t>
            </a:r>
          </a:p>
          <a:p xmlns:a="http://schemas.openxmlformats.org/drawingml/2006/main">
            <a:r>
              <a:t/>
            </a:r>
          </a:p>
          <a:p xmlns:a="http://schemas.openxmlformats.org/drawingml/2006/main">
            <a:r>
              <a:t>GUION ORAL</a:t>
            </a:r>
          </a:p>
          <a:p xmlns:a="http://schemas.openxmlformats.org/drawingml/2006/main">
            <a:r>
              <a:t>En un amplificador, la carga depositada en un nodo puede transformarse en un pulso de salida. Un comparador puede interpretarlo como cruce de umbral. Si una memoria o registro lo acepta, el estado puede quedar cambiado después de que el pulso terminó. Eso es diferente de una pieza permanentemente averiada y también de ruido continuo. En 2010 se encontró un bit alterado en Voyager 2 y se restauró desde Tierra; ese hecho no demuestra que una partícula haya sido la causa. Filtrar, validar señales o reiniciar son opciones generales según la función. No toda salida espuria se filtra sin perder señal útil, ni toda memoria dañada se recupera reescribiendo. La redundancia y la recuperación actúan sobre consecuencias distintas de las que limita el blindaje.</a:t>
            </a:r>
          </a:p>
          <a:p xmlns:a="http://schemas.openxmlformats.org/drawingml/2006/main">
            <a:r>
              <a:t/>
            </a:r>
          </a:p>
          <a:p xmlns:a="http://schemas.openxmlformats.org/drawingml/2006/main">
            <a:r>
              <a:t>LECTURA DE LA IMAGEN Y ALCANCE</a:t>
            </a:r>
          </a:p>
          <a:p xmlns:a="http://schemas.openxmlformats.org/drawingml/2006/main">
            <a:r>
              <a:t>Texto solo. Evitar inventar un circuito que parezca reproducir el incidente de vuelo.</a:t>
            </a:r>
          </a:p>
          <a:p xmlns:a="http://schemas.openxmlformats.org/drawingml/2006/main">
            <a:r>
              <a:t/>
            </a:r>
          </a:p>
          <a:p xmlns:a="http://schemas.openxmlformats.org/drawingml/2006/main">
            <a:r>
              <a:t>LOCALIZADORES</a:t>
            </a:r>
          </a:p>
          <a:p xmlns:a="http://schemas.openxmlformats.org/drawingml/2006/main">
            <a:r>
              <a:t>S35 §§2.4 y 4; S10, incidente de 2010; S34, restauración.</a:t>
            </a:r>
          </a:p>
          <a:p xmlns:a="http://schemas.openxmlformats.org/drawingml/2006/main">
            <a:r>
              <a:t/>
            </a:r>
          </a:p>
          <a:p xmlns:a="http://schemas.openxmlformats.org/drawingml/2006/main">
            <a:r>
              <a:t>FUENTES</a:t>
            </a:r>
          </a:p>
          <a:p xmlns:a="http://schemas.openxmlformats.org/drawingml/2006/main">
            <a:r>
              <a:t>S10. Voyager 2 FDS reset May 2010. 2010</a:t>
            </a:r>
          </a:p>
          <a:p xmlns:a="http://schemas.openxmlformats.org/drawingml/2006/main">
            <a:r>
              <a:t>https://voyager.gsfc.nasa.gov/Library/V2_FDS_reset.pdf</a:t>
            </a:r>
          </a:p>
          <a:p xmlns:a="http://schemas.openxmlformats.org/drawingml/2006/main">
            <a:r>
              <a:t>Archivo local: citas/S10_voyager2_memoria_2010.pdf</a:t>
            </a:r>
          </a:p>
          <a:p xmlns:a="http://schemas.openxmlformats.org/drawingml/2006/main">
            <a:r>
              <a:t/>
            </a:r>
          </a:p>
          <a:p xmlns:a="http://schemas.openxmlformats.org/drawingml/2006/main">
            <a:r>
              <a:t>S34. Engineers Diagnosing Voyager 2 Data System Update. 2010-05</a:t>
            </a:r>
          </a:p>
          <a:p xmlns:a="http://schemas.openxmlformats.org/drawingml/2006/main">
            <a:r>
              <a:t>https://www.jpl.nasa.gov/news/engineers-diagnosing-voyager-2-data-system-update/</a:t>
            </a:r>
          </a:p>
          <a:p xmlns:a="http://schemas.openxmlformats.org/drawingml/2006/main">
            <a:r>
              <a:t>Archivo local: citas/S34_lectura_web.txt</a:t>
            </a:r>
          </a:p>
          <a:p xmlns:a="http://schemas.openxmlformats.org/drawingml/2006/main">
            <a:r>
              <a:t/>
            </a:r>
          </a:p>
          <a:p xmlns:a="http://schemas.openxmlformats.org/drawingml/2006/main">
            <a:r>
              <a:t>S35. Testing and Hardness Assurance Guidelines for Single Event Transients in Linear Devices. 2005-10-24</a:t>
            </a:r>
          </a:p>
          <a:p xmlns:a="http://schemas.openxmlformats.org/drawingml/2006/main">
            <a:r>
              <a:t>https://nepp.nasa.gov/docuploads/FE7A50F8-E974-462D-8642C727C445125F/SET_Linear05.pdf</a:t>
            </a:r>
          </a:p>
          <a:p xmlns:a="http://schemas.openxmlformats.org/drawingml/2006/main">
            <a:r>
              <a:t>Archivo local: citas/S35_SET_lineales_2005.pdf</a:t>
            </a:r>
          </a:p>
          <a:p xmlns:a="http://schemas.openxmlformats.org/drawingml/2006/main">
            <a:r>
              <a:t/>
            </a:r>
          </a:p>
          <a:p xmlns:a="http://schemas.openxmlformats.org/drawingml/2006/main">
            <a:r>
              <a:t>S04. Computers in Spaceflight The NASA Experience. 1988</a:t>
            </a:r>
          </a:p>
          <a:p xmlns:a="http://schemas.openxmlformats.org/drawingml/2006/main">
            <a:r>
              <a:t>https://ntrs.nasa.gov/api/citations/19880069935/downloads/19880069935_Optimized.pdf</a:t>
            </a:r>
          </a:p>
          <a:p xmlns:a="http://schemas.openxmlformats.org/drawingml/2006/main">
            <a:r>
              <a:t>Archivo local: citas/computers_spaceflight_1988.pdf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En bobinas y transformadores hay conductor, aislamiento y a veces núcleo. No corresponde atribuir el mismo mecanismo a todos esos materiales. En placas y cables, carga o conductividad del aislante pueden producir corrientes o, si se dan condiciones suficientes, descargas que se acoplan a otras líneas. Un relé también puede recibir una orden incorrecta desde la electrónica y funcionar mecánicamente bien. Ese es un efecto indirecto. La documentación de Voyager confirma relés y conversión de potencia, pero no nos permite asignar cada barniz, núcleo o material de placa. Calificar aislamiento y respetar márgenes es un criterio general. No vamos a atribuir a radiación cualquier falla de soldadura o contacto.</a:t>
            </a:r>
          </a:p>
          <a:p xmlns:a="http://schemas.openxmlformats.org/drawingml/2006/main">
            <a:r>
              <a:t/>
            </a:r>
          </a:p>
          <a:p xmlns:a="http://schemas.openxmlformats.org/drawingml/2006/main">
            <a:r>
              <a:t>LECTURA DE LA IMAGEN Y ALCANCE</a:t>
            </a:r>
          </a:p>
          <a:p xmlns:a="http://schemas.openxmlformats.org/drawingml/2006/main">
            <a:r>
              <a:t>Texto solo: no usar fotografías de materiales modernos como si identificaran los instalados.</a:t>
            </a:r>
          </a:p>
          <a:p xmlns:a="http://schemas.openxmlformats.org/drawingml/2006/main">
            <a:r>
              <a:t/>
            </a:r>
          </a:p>
          <a:p xmlns:a="http://schemas.openxmlformats.org/drawingml/2006/main">
            <a:r>
              <a:t>LOCALIZADORES</a:t>
            </a:r>
          </a:p>
          <a:p xmlns:a="http://schemas.openxmlformats.org/drawingml/2006/main">
            <a:r>
              <a:t>S03 pp.16–17; S25 §4.1; S26 §10.2.6.5 p.10-22.</a:t>
            </a:r>
          </a:p>
          <a:p xmlns:a="http://schemas.openxmlformats.org/drawingml/2006/main">
            <a:r>
              <a:t/>
            </a:r>
          </a:p>
          <a:p xmlns:a="http://schemas.openxmlformats.org/drawingml/2006/main">
            <a:r>
              <a:t>FUENTES</a:t>
            </a:r>
          </a:p>
          <a:p xmlns:a="http://schemas.openxmlformats.org/drawingml/2006/main">
            <a:r>
              <a:t>S03. Voyager Backgrounder. 1981</a:t>
            </a:r>
          </a:p>
          <a:p xmlns:a="http://schemas.openxmlformats.org/drawingml/2006/main">
            <a:r>
              <a:t>https://ntrs.nasa.gov/api/citations/19810023559/downloads/19810023559.pdf</a:t>
            </a:r>
          </a:p>
          <a:p xmlns:a="http://schemas.openxmlformats.org/drawingml/2006/main">
            <a:r>
              <a:t>Archivo local: citas/voyager_background_1981.pdf</a:t>
            </a:r>
          </a:p>
          <a:p xmlns:a="http://schemas.openxmlformats.org/drawingml/2006/main">
            <a:r>
              <a:t/>
            </a:r>
          </a:p>
          <a:p xmlns:a="http://schemas.openxmlformats.org/drawingml/2006/main">
            <a:r>
              <a:t>S25. NASA HDBK 4002B Mitigating In Space Charging Effects. 2022-06-07</a:t>
            </a:r>
          </a:p>
          <a:p xmlns:a="http://schemas.openxmlformats.org/drawingml/2006/main">
            <a:r>
              <a:t>https://standards.nasa.gov/sites/default/files/standards/NASA/B/0/2022-06-07-NASA-HDBK-4002B-Approved.pdf</a:t>
            </a:r>
          </a:p>
          <a:p xmlns:a="http://schemas.openxmlformats.org/drawingml/2006/main">
            <a:r>
              <a:t>Archivo local: citas/nasa_hdbk_4002b_2022.pdf</a:t>
            </a:r>
          </a:p>
          <a:p xmlns:a="http://schemas.openxmlformats.org/drawingml/2006/main">
            <a:r>
              <a:t/>
            </a:r>
          </a:p>
          <a:p xmlns:a="http://schemas.openxmlformats.org/drawingml/2006/main">
            <a:r>
              <a:t>S26. MIL HDBK 978B NASA Parts Application Handbook Volume 4. 1988-03-01</a:t>
            </a:r>
          </a:p>
          <a:p xmlns:a="http://schemas.openxmlformats.org/drawingml/2006/main">
            <a:r>
              <a:t>https://nepp.nasa.gov/files/21544/MIL-HDBK-978B_vol4.pdf</a:t>
            </a:r>
          </a:p>
          <a:p xmlns:a="http://schemas.openxmlformats.org/drawingml/2006/main">
            <a:r>
              <a:t>Archivo local: citas/nasa_parts_handbook_vol4.pdf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En un detector de partículas, recoger carga es precisamente la forma de medir. En un sensor óptico, una partícula puede producir señal sin que haya llegado la luz esperada. Si se crean defectos, también cambia la respuesta o aumenta el fondo. Para el CRS de Voyager hay evidencia de daño tras Júpiter y ajustes de calibración; calibrar no repara el material. El cuarzo, en cambio, proporciona una referencia de frecuencia por resonancia mecánica. Voyager seleccionó barras de cristal mediante irradiación y fabricó unidades de vuelo a partir de las aceptadas. Eso es una medida concreta de selección. Un oscilador incluye además electrónica, de modo que un pulso de reloj incorrecto no prueba que el cristal haya quedado dañado.</a:t>
            </a:r>
          </a:p>
          <a:p xmlns:a="http://schemas.openxmlformats.org/drawingml/2006/main">
            <a:r>
              <a:t/>
            </a:r>
          </a:p>
          <a:p xmlns:a="http://schemas.openxmlformats.org/drawingml/2006/main">
            <a:r>
              <a:t>LECTURA DE LA IMAGEN Y ALCANCE</a:t>
            </a:r>
          </a:p>
          <a:p xmlns:a="http://schemas.openxmlformats.org/drawingml/2006/main">
            <a:r>
              <a:t>Explicar verbalmente detector y referencia temporal sin agruparlos como si compartieran mecanismo.</a:t>
            </a:r>
          </a:p>
          <a:p xmlns:a="http://schemas.openxmlformats.org/drawingml/2006/main">
            <a:r>
              <a:t/>
            </a:r>
          </a:p>
          <a:p xmlns:a="http://schemas.openxmlformats.org/drawingml/2006/main">
            <a:r>
              <a:t>LOCALIZADORES</a:t>
            </a:r>
          </a:p>
          <a:p xmlns:a="http://schemas.openxmlformats.org/drawingml/2006/main">
            <a:r>
              <a:t>S09, instrument problems tras Júpiter; S01 §VIII.F p.8-41; S26 §12.</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S09. Voyager CRS Instrument Problems. actualización indicada 2025-11-19</a:t>
            </a:r>
          </a:p>
          <a:p xmlns:a="http://schemas.openxmlformats.org/drawingml/2006/main">
            <a:r>
              <a:t>https://voyager.gsfc.nasa.gov/instrument_problems.html</a:t>
            </a:r>
          </a:p>
          <a:p xmlns:a="http://schemas.openxmlformats.org/drawingml/2006/main">
            <a:r>
              <a:t>Archivo local: citas/S09_crs_problemas.html</a:t>
            </a:r>
          </a:p>
          <a:p xmlns:a="http://schemas.openxmlformats.org/drawingml/2006/main">
            <a:r>
              <a:t/>
            </a:r>
          </a:p>
          <a:p xmlns:a="http://schemas.openxmlformats.org/drawingml/2006/main">
            <a:r>
              <a:t>S26. MIL HDBK 978B NASA Parts Application Handbook Volume 4. 1988-03-01</a:t>
            </a:r>
          </a:p>
          <a:p xmlns:a="http://schemas.openxmlformats.org/drawingml/2006/main">
            <a:r>
              <a:t>https://nepp.nasa.gov/files/21544/MIL-HDBK-978B_vol4.pdf</a:t>
            </a:r>
          </a:p>
          <a:p xmlns:a="http://schemas.openxmlformats.org/drawingml/2006/main">
            <a:r>
              <a:t>Archivo local: citas/nasa_parts_handbook_vol4.pdf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Voyager 1 mantiene magnetómetro y ondas de plasma; Voyager 2 conserva además el instrumento de rayos cósmicos, según las fuentes consultadas al 14 de octubre de 2026. Los apagados recientes buscan sostener la misión con menos potencia eléctrica. No deben contarse automáticamente como equipos destruidos por radiación. También hubo fallas reales: en 2024 se recuperaron datos de Voyager 1 reubicando código ante una memoria inutilizable. NASA no resolvió si la causa física fue una partícula energética o desgaste. Por eso la continuidad es un resultado de diseño y operación, con degradación y pérdidas de capacidad, no una prueba de inmunidad.</a:t>
            </a:r>
          </a:p>
          <a:p xmlns:a="http://schemas.openxmlformats.org/drawingml/2006/main">
            <a:r>
              <a:t/>
            </a:r>
          </a:p>
          <a:p xmlns:a="http://schemas.openxmlformats.org/drawingml/2006/main">
            <a:r>
              <a:t>LECTURA DE LA IMAGEN Y ALCANCE</a:t>
            </a:r>
          </a:p>
          <a:p xmlns:a="http://schemas.openxmlformats.org/drawingml/2006/main">
            <a:r>
              <a:t>Nombres de instrumentos escritos completos. No incluir distancias o previsiones futuras como hechos cumplidos.</a:t>
            </a:r>
          </a:p>
          <a:p xmlns:a="http://schemas.openxmlformats.org/drawingml/2006/main">
            <a:r>
              <a:t/>
            </a:r>
          </a:p>
          <a:p xmlns:a="http://schemas.openxmlformats.org/drawingml/2006/main">
            <a:r>
              <a:t>LOCALIZADORES</a:t>
            </a:r>
          </a:p>
          <a:p xmlns:a="http://schemas.openxmlformats.org/drawingml/2006/main">
            <a:r>
              <a:t>S07, estado; S14 17/04/2026; S15 04/08/2026; S11–S12, memoria 2024.</a:t>
            </a:r>
          </a:p>
          <a:p xmlns:a="http://schemas.openxmlformats.org/drawingml/2006/main">
            <a:r>
              <a:t/>
            </a:r>
          </a:p>
          <a:p xmlns:a="http://schemas.openxmlformats.org/drawingml/2006/main">
            <a:r>
              <a:t>FUENTES</a:t>
            </a:r>
          </a:p>
          <a:p xmlns:a="http://schemas.openxmlformats.org/drawingml/2006/main">
            <a:r>
              <a:t>S07. Where Are Voyager 1 and 2 Now. consulta 2026-10-14</a:t>
            </a:r>
          </a:p>
          <a:p xmlns:a="http://schemas.openxmlformats.org/drawingml/2006/main">
            <a:r>
              <a:t>https://science.nasa.gov/mission/voyager/where-are-voyager-1-and-voyager-2-now/</a:t>
            </a:r>
          </a:p>
          <a:p xmlns:a="http://schemas.openxmlformats.org/drawingml/2006/main">
            <a:r>
              <a:t>Archivo local: citas/S07_estado_voyager.html</a:t>
            </a:r>
          </a:p>
          <a:p xmlns:a="http://schemas.openxmlformats.org/drawingml/2006/main">
            <a:r>
              <a:t/>
            </a:r>
          </a:p>
          <a:p xmlns:a="http://schemas.openxmlformats.org/drawingml/2006/main">
            <a:r>
              <a:t>S09. Voyager CRS Instrument Problems. actualización indicada 2025-11-19</a:t>
            </a:r>
          </a:p>
          <a:p xmlns:a="http://schemas.openxmlformats.org/drawingml/2006/main">
            <a:r>
              <a:t>https://voyager.gsfc.nasa.gov/instrument_problems.html</a:t>
            </a:r>
          </a:p>
          <a:p xmlns:a="http://schemas.openxmlformats.org/drawingml/2006/main">
            <a:r>
              <a:t>Archivo local: citas/S09_crs_problemas.html</a:t>
            </a:r>
          </a:p>
          <a:p xmlns:a="http://schemas.openxmlformats.org/drawingml/2006/main">
            <a:r>
              <a:t/>
            </a:r>
          </a:p>
          <a:p xmlns:a="http://schemas.openxmlformats.org/drawingml/2006/main">
            <a:r>
              <a:t>S11. Engineers Pinpoint Cause of Voyager 1 Issue. 2024-04-04</a:t>
            </a:r>
          </a:p>
          <a:p xmlns:a="http://schemas.openxmlformats.org/drawingml/2006/main">
            <a:r>
              <a:t>https://science.nasa.gov/blogs/voyager/2024/04/04/engineers-pinpoint-cause-of-voyager-1-issue-are-working-on-solution/</a:t>
            </a:r>
          </a:p>
          <a:p xmlns:a="http://schemas.openxmlformats.org/drawingml/2006/main">
            <a:r>
              <a:t>Archivo local: citas/S11_voyager1_memoria_2024.html</a:t>
            </a:r>
          </a:p>
          <a:p xmlns:a="http://schemas.openxmlformats.org/drawingml/2006/main">
            <a:r>
              <a:t/>
            </a:r>
          </a:p>
          <a:p xmlns:a="http://schemas.openxmlformats.org/drawingml/2006/main">
            <a:r>
              <a:t>S12. Voyager 1 Resumes Sending Engineering Updates. 2024-04-22</a:t>
            </a:r>
          </a:p>
          <a:p xmlns:a="http://schemas.openxmlformats.org/drawingml/2006/main">
            <a:r>
              <a:t>https://www.jpl.nasa.gov/news/nasas-voyager-1-resumes-sending-engineering-updates-to-earth/</a:t>
            </a:r>
          </a:p>
          <a:p xmlns:a="http://schemas.openxmlformats.org/drawingml/2006/main">
            <a:r>
              <a:t>Archivo local: citas/S12_lectura_web.txt</a:t>
            </a:r>
          </a:p>
          <a:p xmlns:a="http://schemas.openxmlformats.org/drawingml/2006/main">
            <a:r>
              <a:t/>
            </a:r>
          </a:p>
          <a:p xmlns:a="http://schemas.openxmlformats.org/drawingml/2006/main">
            <a:r>
              <a:t>S14. NASA Shuts Off Instrument on Voyager 1. 2026-04-17</a:t>
            </a:r>
          </a:p>
          <a:p xmlns:a="http://schemas.openxmlformats.org/drawingml/2006/main">
            <a:r>
              <a:t>https://science.nasa.gov/blogs/voyager/2026/04/17/nasa-shuts-off-instrument-on-voyager-1-to-keep-spacecraft-operating/</a:t>
            </a:r>
          </a:p>
          <a:p xmlns:a="http://schemas.openxmlformats.org/drawingml/2006/main">
            <a:r>
              <a:t>Archivo local: citas/S14_voyager1_2026.html</a:t>
            </a:r>
          </a:p>
          <a:p xmlns:a="http://schemas.openxmlformats.org/drawingml/2006/main">
            <a:r>
              <a:t/>
            </a:r>
          </a:p>
          <a:p xmlns:a="http://schemas.openxmlformats.org/drawingml/2006/main">
            <a:r>
              <a:t>S15. NASA Engineers Help Prolong Voyager 2 Science Mission. 2026-08-04</a:t>
            </a:r>
          </a:p>
          <a:p xmlns:a="http://schemas.openxmlformats.org/drawingml/2006/main">
            <a:r>
              <a:t>https://science.nasa.gov/blogs/voyager/2026/08/04/nasa-engineers-help-prolong-voyager-2s-science-mission/</a:t>
            </a:r>
          </a:p>
          <a:p xmlns:a="http://schemas.openxmlformats.org/drawingml/2006/main">
            <a:r>
              <a:t>Archivo local: citas/S15_voyager2_2026.html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La primera práctica es conocer el ambiente y comprobar cómo responde el componente en condiciones relevantes. Después se actúa sobre susceptibilidad y exposición: selección, proceso de fabricación y blindaje. Los márgenes permiten conservar la función aunque cambie algún parámetro. La redundancia y la recuperación ayudan cuando igual aparece un problema. Vimos ejemplos concretos: cambios del óxido CMOS, selección de cuarzos, ensayos de pasivos, evacuación de carga en PWS y correcciones desde Tierra. Ninguna medida cubre todos los efectos. La conclusión es que la radiación puede alterar una señal, un estado o un material; diseñar para esas tres posibilidades ayuda a explicar que Voyager siga siendo útil.</a:t>
            </a:r>
          </a:p>
          <a:p xmlns:a="http://schemas.openxmlformats.org/drawingml/2006/main">
            <a:r>
              <a:t/>
            </a:r>
          </a:p>
          <a:p xmlns:a="http://schemas.openxmlformats.org/drawingml/2006/main">
            <a:r>
              <a:t>LECTURA DE LA IMAGEN Y ALCANCE</a:t>
            </a:r>
          </a:p>
          <a:p xmlns:a="http://schemas.openxmlformats.org/drawingml/2006/main">
            <a:r>
              <a:t>Cierre textual. No introducir mecanismos nuevos.</a:t>
            </a:r>
          </a:p>
          <a:p xmlns:a="http://schemas.openxmlformats.org/drawingml/2006/main">
            <a:r>
              <a:t/>
            </a:r>
          </a:p>
          <a:p xmlns:a="http://schemas.openxmlformats.org/drawingml/2006/main">
            <a:r>
              <a:t>LOCALIZADORES</a:t>
            </a:r>
          </a:p>
          <a:p xmlns:a="http://schemas.openxmlformats.org/drawingml/2006/main">
            <a:r>
              <a:t>S01 §§III,VI–VIII; S02 apéndice A; S04 capítulo 6; S09–S12, recuperación.</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S02. Voyager Electronic Parts Radiation Program Volume II. 1978-12-15</a:t>
            </a:r>
          </a:p>
          <a:p xmlns:a="http://schemas.openxmlformats.org/drawingml/2006/main">
            <a:r>
              <a:t>https://ntrs.nasa.gov/api/citations/19790006102/downloads/19790006102.pdf</a:t>
            </a:r>
          </a:p>
          <a:p xmlns:a="http://schemas.openxmlformats.org/drawingml/2006/main">
            <a:r>
              <a:t>Archivo local: citas/voyager_radiacion_vol2_1978.pdf</a:t>
            </a:r>
          </a:p>
          <a:p xmlns:a="http://schemas.openxmlformats.org/drawingml/2006/main">
            <a:r>
              <a:t/>
            </a:r>
          </a:p>
          <a:p xmlns:a="http://schemas.openxmlformats.org/drawingml/2006/main">
            <a:r>
              <a:t>S04. Computers in Spaceflight The NASA Experience. 1988</a:t>
            </a:r>
          </a:p>
          <a:p xmlns:a="http://schemas.openxmlformats.org/drawingml/2006/main">
            <a:r>
              <a:t>https://ntrs.nasa.gov/api/citations/19880069935/downloads/19880069935_Optimized.pdf</a:t>
            </a:r>
          </a:p>
          <a:p xmlns:a="http://schemas.openxmlformats.org/drawingml/2006/main">
            <a:r>
              <a:t>Archivo local: citas/computers_spaceflight_1988.pdf</a:t>
            </a:r>
          </a:p>
          <a:p xmlns:a="http://schemas.openxmlformats.org/drawingml/2006/main">
            <a:r>
              <a:t/>
            </a:r>
          </a:p>
          <a:p xmlns:a="http://schemas.openxmlformats.org/drawingml/2006/main">
            <a:r>
              <a:t>S09. Voyager CRS Instrument Problems. actualización indicada 2025-11-19</a:t>
            </a:r>
          </a:p>
          <a:p xmlns:a="http://schemas.openxmlformats.org/drawingml/2006/main">
            <a:r>
              <a:t>https://voyager.gsfc.nasa.gov/instrument_problems.html</a:t>
            </a:r>
          </a:p>
          <a:p xmlns:a="http://schemas.openxmlformats.org/drawingml/2006/main">
            <a:r>
              <a:t>Archivo local: citas/S09_crs_problemas.html</a:t>
            </a:r>
          </a:p>
          <a:p xmlns:a="http://schemas.openxmlformats.org/drawingml/2006/main">
            <a:r>
              <a:t/>
            </a:r>
          </a:p>
          <a:p xmlns:a="http://schemas.openxmlformats.org/drawingml/2006/main">
            <a:r>
              <a:t>S10. Voyager 2 FDS reset May 2010. 2010</a:t>
            </a:r>
          </a:p>
          <a:p xmlns:a="http://schemas.openxmlformats.org/drawingml/2006/main">
            <a:r>
              <a:t>https://voyager.gsfc.nasa.gov/Library/V2_FDS_reset.pdf</a:t>
            </a:r>
          </a:p>
          <a:p xmlns:a="http://schemas.openxmlformats.org/drawingml/2006/main">
            <a:r>
              <a:t>Archivo local: citas/S10_voyager2_memoria_2010.pdf</a:t>
            </a:r>
          </a:p>
          <a:p xmlns:a="http://schemas.openxmlformats.org/drawingml/2006/main">
            <a:r>
              <a:t/>
            </a:r>
          </a:p>
          <a:p xmlns:a="http://schemas.openxmlformats.org/drawingml/2006/main">
            <a:r>
              <a:t>S12. Voyager 1 Resumes Sending Engineering Updates. 2024-04-22</a:t>
            </a:r>
          </a:p>
          <a:p xmlns:a="http://schemas.openxmlformats.org/drawingml/2006/main">
            <a:r>
              <a:t>https://www.jpl.nasa.gov/news/nasas-voyager-1-resumes-sending-engineering-updates-to-earth/</a:t>
            </a:r>
          </a:p>
          <a:p xmlns:a="http://schemas.openxmlformats.org/drawingml/2006/main">
            <a:r>
              <a:t>Archivo local: citas/S12_lectura_web.txt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fuera del recorrido</a:t>
            </a:r>
          </a:p>
          <a:p xmlns:a="http://schemas.openxmlformats.org/drawingml/2006/main">
            <a:r>
              <a:t/>
            </a:r>
          </a:p>
          <a:p xmlns:a="http://schemas.openxmlformats.org/drawingml/2006/main">
            <a:r>
              <a:t>GUION ORAL</a:t>
            </a:r>
          </a:p>
          <a:p xmlns:a="http://schemas.openxmlformats.org/drawingml/2006/main">
            <a:r>
              <a:t>Esta diapositiva queda fuera de los 18 minutos. Los informes JPL respaldan los ensayos del programa; NASA describe arquitectura y operaciones; NEPP y el informe de Adell desarrollan mecanismos. La figura de fotodiodo procede de Hamamatsu y no identifica un componente de Voyager.</a:t>
            </a:r>
          </a:p>
          <a:p xmlns:a="http://schemas.openxmlformats.org/drawingml/2006/main">
            <a:r>
              <a:t/>
            </a:r>
          </a:p>
          <a:p xmlns:a="http://schemas.openxmlformats.org/drawingml/2006/main">
            <a:r>
              <a:t>LECTURA DE LA IMAGEN Y ALCANCE</a:t>
            </a:r>
          </a:p>
          <a:p xmlns:a="http://schemas.openxmlformats.org/drawingml/2006/main">
            <a:r>
              <a:t>Referencias identificables por documento, institución y año.</a:t>
            </a:r>
          </a:p>
          <a:p xmlns:a="http://schemas.openxmlformats.org/drawingml/2006/main">
            <a:r>
              <a:t/>
            </a:r>
          </a:p>
          <a:p xmlns:a="http://schemas.openxmlformats.org/drawingml/2006/main">
            <a:r>
              <a:t>LOCALIZADORES</a:t>
            </a:r>
          </a:p>
          <a:p xmlns:a="http://schemas.openxmlformats.org/drawingml/2006/main">
            <a:r>
              <a:t>Referencias completas y enlaces en notas. Las imágenes nuevas se registran en citas/presentacion_v3/README.md.</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S02. Voyager Electronic Parts Radiation Program Volume II. 1978-12-15</a:t>
            </a:r>
          </a:p>
          <a:p xmlns:a="http://schemas.openxmlformats.org/drawingml/2006/main">
            <a:r>
              <a:t>https://ntrs.nasa.gov/api/citations/19790006102/downloads/19790006102.pdf</a:t>
            </a:r>
          </a:p>
          <a:p xmlns:a="http://schemas.openxmlformats.org/drawingml/2006/main">
            <a:r>
              <a:t>Archivo local: citas/voyager_radiacion_vol2_1978.pdf</a:t>
            </a:r>
          </a:p>
          <a:p xmlns:a="http://schemas.openxmlformats.org/drawingml/2006/main">
            <a:r>
              <a:t/>
            </a:r>
          </a:p>
          <a:p xmlns:a="http://schemas.openxmlformats.org/drawingml/2006/main">
            <a:r>
              <a:t>S04. Computers in Spaceflight The NASA Experience. 1988</a:t>
            </a:r>
          </a:p>
          <a:p xmlns:a="http://schemas.openxmlformats.org/drawingml/2006/main">
            <a:r>
              <a:t>https://ntrs.nasa.gov/api/citations/19880069935/downloads/19880069935_Optimized.pdf</a:t>
            </a:r>
          </a:p>
          <a:p xmlns:a="http://schemas.openxmlformats.org/drawingml/2006/main">
            <a:r>
              <a:t>Archivo local: citas/computers_spaceflight_1988.pdf</a:t>
            </a:r>
          </a:p>
          <a:p xmlns:a="http://schemas.openxmlformats.org/drawingml/2006/main">
            <a:r>
              <a:t/>
            </a:r>
          </a:p>
          <a:p xmlns:a="http://schemas.openxmlformats.org/drawingml/2006/main">
            <a:r>
              <a:t>S08. A Plasma Wave Investigation for the Voyager Mission. 1977</a:t>
            </a:r>
          </a:p>
          <a:p xmlns:a="http://schemas.openxmlformats.org/drawingml/2006/main">
            <a:r>
              <a:t>https://pds.nasa.gov/data/vg1-j-spice-6-spk-v2.0/vg_1501/document/pws/pwsinst.htm</a:t>
            </a:r>
          </a:p>
          <a:p xmlns:a="http://schemas.openxmlformats.org/drawingml/2006/main">
            <a:r>
              <a:t>Archivo local: citas/S08_pws_instrumento_1977.html</a:t>
            </a:r>
          </a:p>
          <a:p xmlns:a="http://schemas.openxmlformats.org/drawingml/2006/main">
            <a:r>
              <a:t/>
            </a:r>
          </a:p>
          <a:p xmlns:a="http://schemas.openxmlformats.org/drawingml/2006/main">
            <a:r>
              <a:t>S09. Voyager CRS Instrument Problems. actualización indicada 2025-11-19</a:t>
            </a:r>
          </a:p>
          <a:p xmlns:a="http://schemas.openxmlformats.org/drawingml/2006/main">
            <a:r>
              <a:t>https://voyager.gsfc.nasa.gov/instrument_problems.html</a:t>
            </a:r>
          </a:p>
          <a:p xmlns:a="http://schemas.openxmlformats.org/drawingml/2006/main">
            <a:r>
              <a:t>Archivo local: citas/S09_crs_problemas.html</a:t>
            </a:r>
          </a:p>
          <a:p xmlns:a="http://schemas.openxmlformats.org/drawingml/2006/main">
            <a:r>
              <a:t/>
            </a:r>
          </a:p>
          <a:p xmlns:a="http://schemas.openxmlformats.org/drawingml/2006/main">
            <a:r>
              <a:t>S14. NASA Shuts Off Instrument on Voyager 1. 2026-04-17</a:t>
            </a:r>
          </a:p>
          <a:p xmlns:a="http://schemas.openxmlformats.org/drawingml/2006/main">
            <a:r>
              <a:t>https://science.nasa.gov/blogs/voyager/2026/04/17/nasa-shuts-off-instrument-on-voyager-1-to-keep-spacecraft-operating/</a:t>
            </a:r>
          </a:p>
          <a:p xmlns:a="http://schemas.openxmlformats.org/drawingml/2006/main">
            <a:r>
              <a:t>Archivo local: citas/S14_voyager1_2026.html</a:t>
            </a:r>
          </a:p>
          <a:p xmlns:a="http://schemas.openxmlformats.org/drawingml/2006/main">
            <a:r>
              <a:t/>
            </a:r>
          </a:p>
          <a:p xmlns:a="http://schemas.openxmlformats.org/drawingml/2006/main">
            <a:r>
              <a:t>S15. NASA Engineers Help Prolong Voyager 2 Science Mission. 2026-08-04</a:t>
            </a:r>
          </a:p>
          <a:p xmlns:a="http://schemas.openxmlformats.org/drawingml/2006/main">
            <a:r>
              <a:t>https://science.nasa.gov/blogs/voyager/2026/08/04/nasa-engineers-help-prolong-voyager-2s-science-mission/</a:t>
            </a:r>
          </a:p>
          <a:p xmlns:a="http://schemas.openxmlformats.org/drawingml/2006/main">
            <a:r>
              <a:t>Archivo local: citas/S15_voyager2_2026.html</a:t>
            </a:r>
          </a:p>
          <a:p xmlns:a="http://schemas.openxmlformats.org/drawingml/2006/main">
            <a:r>
              <a:t/>
            </a:r>
          </a:p>
          <a:p xmlns:a="http://schemas.openxmlformats.org/drawingml/2006/main">
            <a:r>
              <a:t>S21. Radiation Effects on Electronics 101 Kenneth LaBel. 2004-04-21</a:t>
            </a:r>
          </a:p>
          <a:p xmlns:a="http://schemas.openxmlformats.org/drawingml/2006/main">
            <a:r>
              <a:t>https://nepp.nasa.gov/DocUploads/392333B0-7A48-4A04-A3A72B0B1DD73343/Rad_Effects_101_WebEx.pdf</a:t>
            </a:r>
          </a:p>
          <a:p xmlns:a="http://schemas.openxmlformats.org/drawingml/2006/main">
            <a:r>
              <a:t>Archivo local: citas/radiation_effects_101.pdf</a:t>
            </a:r>
          </a:p>
          <a:p xmlns:a="http://schemas.openxmlformats.org/drawingml/2006/main">
            <a:r>
              <a:t/>
            </a:r>
          </a:p>
          <a:p xmlns:a="http://schemas.openxmlformats.org/drawingml/2006/main">
            <a:r>
              <a:t>S24. Radiation Effects and Analysis Lessons Wyrwas Wilcox. 2022-06</a:t>
            </a:r>
          </a:p>
          <a:p xmlns:a="http://schemas.openxmlformats.org/drawingml/2006/main">
            <a:r>
              <a:t>https://nepp.nasa.gov/docs/etw/2022/16-JUN-THU/1600-Wyrwas-20220002512.pdf</a:t>
            </a:r>
          </a:p>
          <a:p xmlns:a="http://schemas.openxmlformats.org/drawingml/2006/main">
            <a:r>
              <a:t>Archivo local: citas/nepp_radiation_lessons_2022.pdf</a:t>
            </a:r>
          </a:p>
          <a:p xmlns:a="http://schemas.openxmlformats.org/drawingml/2006/main">
            <a:r>
              <a:t/>
            </a:r>
          </a:p>
          <a:p xmlns:a="http://schemas.openxmlformats.org/drawingml/2006/main">
            <a:r>
              <a:t>S25. NASA HDBK 4002B Mitigating In Space Charging Effects. 2022-06-07</a:t>
            </a:r>
          </a:p>
          <a:p xmlns:a="http://schemas.openxmlformats.org/drawingml/2006/main">
            <a:r>
              <a:t>https://standards.nasa.gov/sites/default/files/standards/NASA/B/0/2022-06-07-NASA-HDBK-4002B-Approved.pdf</a:t>
            </a:r>
          </a:p>
          <a:p xmlns:a="http://schemas.openxmlformats.org/drawingml/2006/main">
            <a:r>
              <a:t>Archivo local: citas/nasa_hdbk_4002b_2022.pdf</a:t>
            </a:r>
          </a:p>
          <a:p xmlns:a="http://schemas.openxmlformats.org/drawingml/2006/main">
            <a:r>
              <a:t/>
            </a:r>
          </a:p>
          <a:p xmlns:a="http://schemas.openxmlformats.org/drawingml/2006/main">
            <a:r>
              <a:t>S26. MIL HDBK 978B NASA Parts Application Handbook Volume 4. 1988-03-01</a:t>
            </a:r>
          </a:p>
          <a:p xmlns:a="http://schemas.openxmlformats.org/drawingml/2006/main">
            <a:r>
              <a:t>https://nepp.nasa.gov/files/21544/MIL-HDBK-978B_vol4.pdf</a:t>
            </a:r>
          </a:p>
          <a:p xmlns:a="http://schemas.openxmlformats.org/drawingml/2006/main">
            <a:r>
              <a:t>Archivo local: citas/nasa_parts_handbook_vol4.pdf</a:t>
            </a:r>
          </a:p>
          <a:p xmlns:a="http://schemas.openxmlformats.org/drawingml/2006/main">
            <a:r>
              <a:t/>
            </a:r>
          </a:p>
          <a:p xmlns:a="http://schemas.openxmlformats.org/drawingml/2006/main">
            <a:r>
              <a:t>S35. Testing and Hardness Assurance Guidelines for Single Event Transients in Linear Devices. 2005-10-24</a:t>
            </a:r>
          </a:p>
          <a:p xmlns:a="http://schemas.openxmlformats.org/drawingml/2006/main">
            <a:r>
              <a:t>https://nepp.nasa.gov/docuploads/FE7A50F8-E974-462D-8642C727C445125F/SET_Linear05.pdf</a:t>
            </a:r>
          </a:p>
          <a:p xmlns:a="http://schemas.openxmlformats.org/drawingml/2006/main">
            <a:r>
              <a:t>Archivo local: citas/S35_SET_lineales_2005.pdf</a:t>
            </a:r>
          </a:p>
          <a:p xmlns:a="http://schemas.openxmlformats.org/drawingml/2006/main">
            <a:r>
              <a:t/>
            </a:r>
          </a:p>
          <a:p xmlns:a="http://schemas.openxmlformats.org/drawingml/2006/main">
            <a:r>
              <a:t>S36. Hydrogen Contamination and Its Correlation with Enhanced Low-Dose-Rate Sensitivity. 2012-12</a:t>
            </a:r>
          </a:p>
          <a:p xmlns:a="http://schemas.openxmlformats.org/drawingml/2006/main">
            <a:r>
              <a:t>https://nepp.nasa.gov/files/25742/12_162_JPL_Adell_Hydrogen%20Contamination%20rec%201%207%2014.pdf</a:t>
            </a:r>
          </a:p>
          <a:p xmlns:a="http://schemas.openxmlformats.org/drawingml/2006/main">
            <a:r>
              <a:t>Archivo local: citas/S36_bipolares_recombinacion.pdf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fuera del recorrido</a:t>
            </a:r>
          </a:p>
          <a:p xmlns:a="http://schemas.openxmlformats.org/drawingml/2006/main">
            <a:r>
              <a:t/>
            </a:r>
          </a:p>
          <a:p xmlns:a="http://schemas.openxmlformats.org/drawingml/2006/main">
            <a:r>
              <a:t>GUION ORAL</a:t>
            </a:r>
          </a:p>
          <a:p xmlns:a="http://schemas.openxmlformats.org/drawingml/2006/main">
            <a:r>
              <a:t>El eje vertical muestra el incremento de 1/hFE y el horizontal la corriente de colector. No es la ganancia absoluta. Se comparan fabricantes del 2N2222 con la fluencia indicada, 5 × 10¹² electrones/cm². El comportamiento depende del punto de trabajo y del proceso; la curva no identifica por sí sola una pieza instalada en vuelo.</a:t>
            </a:r>
          </a:p>
          <a:p xmlns:a="http://schemas.openxmlformats.org/drawingml/2006/main">
            <a:r>
              <a:t/>
            </a:r>
          </a:p>
          <a:p xmlns:a="http://schemas.openxmlformats.org/drawingml/2006/main">
            <a:r>
              <a:t>LECTURA DE LA IMAGEN Y ALCANCE</a:t>
            </a:r>
          </a:p>
          <a:p xmlns:a="http://schemas.openxmlformats.org/drawingml/2006/main">
            <a:r>
              <a:t>Conservar todos los ejes, leyendas y condiciones del recorte original.</a:t>
            </a:r>
          </a:p>
          <a:p xmlns:a="http://schemas.openxmlformats.org/drawingml/2006/main">
            <a:r>
              <a:t/>
            </a:r>
          </a:p>
          <a:p xmlns:a="http://schemas.openxmlformats.org/drawingml/2006/main">
            <a:r>
              <a:t>LOCALIZADORES</a:t>
            </a:r>
          </a:p>
          <a:p xmlns:a="http://schemas.openxmlformats.org/drawingml/2006/main">
            <a:r>
              <a:t>S01, fig.7-1 p.7-3, PDF101.</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fuera del recorrido</a:t>
            </a:r>
          </a:p>
          <a:p xmlns:a="http://schemas.openxmlformats.org/drawingml/2006/main">
            <a:r>
              <a:t/>
            </a:r>
          </a:p>
          <a:p xmlns:a="http://schemas.openxmlformats.org/drawingml/2006/main">
            <a:r>
              <a:t>GUION ORAL</a:t>
            </a:r>
          </a:p>
          <a:p xmlns:a="http://schemas.openxmlformats.org/drawingml/2006/main">
            <a:r>
              <a:t>Corriente de drenador en microamperios, escala logarítmica, frente a tensión de compuerta en voltios. La figura conserva NMOS y PMOS porque comparten ejes. Comparar el caso inicial con 150 krad según las etiquetas originales. No leer un umbral exacto del escaneo ni atribuir la curva a todos los CMOS o al estado actual de una sonda.</a:t>
            </a:r>
          </a:p>
          <a:p xmlns:a="http://schemas.openxmlformats.org/drawingml/2006/main">
            <a:r>
              <a:t/>
            </a:r>
          </a:p>
          <a:p xmlns:a="http://schemas.openxmlformats.org/drawingml/2006/main">
            <a:r>
              <a:t>LECTURA DE LA IMAGEN Y ALCANCE</a:t>
            </a:r>
          </a:p>
          <a:p xmlns:a="http://schemas.openxmlformats.org/drawingml/2006/main">
            <a:r>
              <a:t>El gráfico es evidencia de ensayo; no dosis acumulada de vuelo. Mantener ambos dispositivos y ejes compartidos.</a:t>
            </a:r>
          </a:p>
          <a:p xmlns:a="http://schemas.openxmlformats.org/drawingml/2006/main">
            <a:r>
              <a:t/>
            </a:r>
          </a:p>
          <a:p xmlns:a="http://schemas.openxmlformats.org/drawingml/2006/main">
            <a:r>
              <a:t>LOCALIZADORES</a:t>
            </a:r>
          </a:p>
          <a:p xmlns:a="http://schemas.openxmlformats.org/drawingml/2006/main">
            <a:r>
              <a:t>S01 fig.6-1 p.6-3, PDF83.</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fuera del recorrido</a:t>
            </a:r>
          </a:p>
          <a:p xmlns:a="http://schemas.openxmlformats.org/drawingml/2006/main">
            <a:r>
              <a:t/>
            </a:r>
          </a:p>
          <a:p xmlns:a="http://schemas.openxmlformats.org/drawingml/2006/main">
            <a:r>
              <a:t>GUION ORAL</a:t>
            </a:r>
          </a:p>
          <a:p xmlns:a="http://schemas.openxmlformats.org/drawingml/2006/main">
            <a:r>
              <a:t>Ejemplo medido de transitorio en circuito lineal, no un equipo Voyager. El eje vertical corresponde a tensión y el horizontal a tiempo; las marcas temporales son del orden de microsegundos. Condiciones: LET 9 MeV·cm²/mg, alimentación ±15 V y entrada positiva de 5 V. La salida retorna, pero eso no informa si otro circuito capturó un dato falso. No confundir la amplitud de este caso con una amplitud universal.</a:t>
            </a:r>
          </a:p>
          <a:p xmlns:a="http://schemas.openxmlformats.org/drawingml/2006/main">
            <a:r>
              <a:t/>
            </a:r>
          </a:p>
          <a:p xmlns:a="http://schemas.openxmlformats.org/drawingml/2006/main">
            <a:r>
              <a:t>LECTURA DE LA IMAGEN Y ALCANCE</a:t>
            </a:r>
          </a:p>
          <a:p xmlns:a="http://schemas.openxmlformats.org/drawingml/2006/main">
            <a:r>
              <a:t>Mostrar y explicar ejes antes de señalar la recuperación.</a:t>
            </a:r>
          </a:p>
          <a:p xmlns:a="http://schemas.openxmlformats.org/drawingml/2006/main">
            <a:r>
              <a:t/>
            </a:r>
          </a:p>
          <a:p xmlns:a="http://schemas.openxmlformats.org/drawingml/2006/main">
            <a:r>
              <a:t>LOCALIZADORES</a:t>
            </a:r>
          </a:p>
          <a:p xmlns:a="http://schemas.openxmlformats.org/drawingml/2006/main">
            <a:r>
              <a:t>S35 p.4 fig.1.</a:t>
            </a:r>
          </a:p>
          <a:p xmlns:a="http://schemas.openxmlformats.org/drawingml/2006/main">
            <a:r>
              <a:t/>
            </a:r>
          </a:p>
          <a:p xmlns:a="http://schemas.openxmlformats.org/drawingml/2006/main">
            <a:r>
              <a:t>FUENTES</a:t>
            </a:r>
          </a:p>
          <a:p xmlns:a="http://schemas.openxmlformats.org/drawingml/2006/main">
            <a:r>
              <a:t>S35. Testing and Hardness Assurance Guidelines for Single Event Transients in Linear Devices. 2005-10-24</a:t>
            </a:r>
          </a:p>
          <a:p xmlns:a="http://schemas.openxmlformats.org/drawingml/2006/main">
            <a:r>
              <a:t>https://nepp.nasa.gov/docuploads/FE7A50F8-E974-462D-8642C727C445125F/SET_Linear05.pdf</a:t>
            </a:r>
          </a:p>
          <a:p xmlns:a="http://schemas.openxmlformats.org/drawingml/2006/main">
            <a:r>
              <a:t>Archivo local: citas/S35_SET_lineales_2005.pdf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fuera del recorrido</a:t>
            </a:r>
          </a:p>
          <a:p xmlns:a="http://schemas.openxmlformats.org/drawingml/2006/main">
            <a:r>
              <a:t/>
            </a:r>
          </a:p>
          <a:p xmlns:a="http://schemas.openxmlformats.org/drawingml/2006/main">
            <a:r>
              <a:t>GUION ORAL</a:t>
            </a:r>
          </a:p>
          <a:p xmlns:a="http://schemas.openxmlformats.org/drawingml/2006/main">
            <a:r>
              <a:t>Las redes resistivas Dale son CDP16, CDP18, LDP16 y SDP16. El informe no detectó cambio de resistencia fuera de ±0,01 por ciento en el ensayo citado. Para B11B se estudiaron seis unidades de cada valor, con disminuciones medias de 5 y 12 pF. Al dividir por 20.000 y 50.000 pF se obtienen 0,025 y 0,024 por ciento. Estos datos son de parámetros posirradiación: no prueban ausencia de pulsos ni caracterizan todas las fugas durante exposición. No usar la errata de fluencia de S02 tabla A-2 como si fuera un dato confirmado.</a:t>
            </a:r>
          </a:p>
          <a:p xmlns:a="http://schemas.openxmlformats.org/drawingml/2006/main">
            <a:r>
              <a:t/>
            </a:r>
          </a:p>
          <a:p xmlns:a="http://schemas.openxmlformats.org/drawingml/2006/main">
            <a:r>
              <a:t>LECTURA DE LA IMAGEN Y ALCANCE</a:t>
            </a:r>
          </a:p>
          <a:p xmlns:a="http://schemas.openxmlformats.org/drawingml/2006/main">
            <a:r>
              <a:t>Respaldo textual con unidades. Los dos valores B11B se corresponden en el orden escrito.</a:t>
            </a:r>
          </a:p>
          <a:p xmlns:a="http://schemas.openxmlformats.org/drawingml/2006/main">
            <a:r>
              <a:t/>
            </a:r>
          </a:p>
          <a:p xmlns:a="http://schemas.openxmlformats.org/drawingml/2006/main">
            <a:r>
              <a:t>LOCALIZADORES</a:t>
            </a:r>
          </a:p>
          <a:p xmlns:a="http://schemas.openxmlformats.org/drawingml/2006/main">
            <a:r>
              <a:t>S01 p.7-53, PDF151; S02 apéndice A y errata tabla A-2 documentada en dossier.</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S02. Voyager Electronic Parts Radiation Program Volume II. 1978-12-15</a:t>
            </a:r>
          </a:p>
          <a:p xmlns:a="http://schemas.openxmlformats.org/drawingml/2006/main">
            <a:r>
              <a:t>https://ntrs.nasa.gov/api/citations/19790006102/downloads/19790006102.pdf</a:t>
            </a:r>
          </a:p>
          <a:p xmlns:a="http://schemas.openxmlformats.org/drawingml/2006/main">
            <a:r>
              <a:t>Archivo local: citas/voyager_radiacion_vol2_1978.pdf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1d8f0e15e14df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88866f45bb34a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ae14c0eb974bc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d96fe45b51549a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06a87e83f5e454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e452b174cf549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5E04C2-B967-4771-A6AD-3032A68B6D9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9694B11-9EB0-4145-B19B-489162C3BE1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4A5F043-C8C7-46D0-B9D4-63B8169B783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DC54AD-CC43-40C4-9350-339CC41631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922D48-B3D4-4151-9070-11B7AFCD0CE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DC53909-2951-43EA-AB4D-3DE69D7CD1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FC6281-8960-4B9B-B04B-894842DCA6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F496A21-A7E0-4821-8C9E-ECBDE06C125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1F5CF7-0AD2-4F56-AC73-23924506EB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EA93915-899E-417E-B0A7-58356D8794A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60087dfd58429f" /><Relationship Type="http://schemas.openxmlformats.org/officeDocument/2006/relationships/slideLayout" Target="/ppt/slideLayouts/slideLayout1.xml" Id="R37cac3e3c6bc46d8" /><Relationship Type="http://schemas.openxmlformats.org/officeDocument/2006/relationships/slideLayout" Target="/ppt/slideLayouts/slideLayout2.xml" Id="R052ac80e504e44b5" /><Relationship Type="http://schemas.openxmlformats.org/officeDocument/2006/relationships/slideLayout" Target="/ppt/slideLayouts/slideLayout3.xml" Id="R063f11c7453e4147" /><Relationship Type="http://schemas.openxmlformats.org/officeDocument/2006/relationships/slideLayout" Target="/ppt/slideLayouts/slideLayout4.xml" Id="Rce4cf458a4364b58" /><Relationship Type="http://schemas.openxmlformats.org/officeDocument/2006/relationships/slideLayout" Target="/ppt/slideLayouts/slideLayout5.xml" Id="Rc22aa00a66ab4fc4" /><Relationship Type="http://schemas.openxmlformats.org/officeDocument/2006/relationships/slideLayout" Target="/ppt/slideLayouts/slideLayout6.xml" Id="Ra5fda83e161941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cac3e3c6bc46d8"/>
    <p:sldLayoutId xmlns:r="http://schemas.openxmlformats.org/officeDocument/2006/relationships" id="2147483650" r:id="R052ac80e504e44b5"/>
    <p:sldLayoutId xmlns:r="http://schemas.openxmlformats.org/officeDocument/2006/relationships" id="2147483651" r:id="R063f11c7453e4147"/>
    <p:sldLayoutId xmlns:r="http://schemas.openxmlformats.org/officeDocument/2006/relationships" id="2147483652" r:id="Rce4cf458a4364b58"/>
    <p:sldLayoutId xmlns:r="http://schemas.openxmlformats.org/officeDocument/2006/relationships" id="2147483653" r:id="Rc22aa00a66ab4fc4"/>
    <p:sldLayoutId xmlns:r="http://schemas.openxmlformats.org/officeDocument/2006/relationships" id="2147483654" r:id="Ra5fda83e161941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85cab4b8b414742" /><Relationship Type="http://schemas.openxmlformats.org/officeDocument/2006/relationships/image" Target="/ppt/media/image.jpeg" Id="Rc18f399c7e8a4387" /><Relationship Type="http://schemas.openxmlformats.org/officeDocument/2006/relationships/notesSlide" Target="/ppt/notesSlides/notesSlide1.xml" Id="R9e7c2187657543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c911e78b1f344ec" /><Relationship Type="http://schemas.openxmlformats.org/officeDocument/2006/relationships/notesSlide" Target="/ppt/notesSlides/notesSlide2.xml" Id="Rfda371d2d38f43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f1d04a298f24548" /><Relationship Type="http://schemas.openxmlformats.org/officeDocument/2006/relationships/image" Target="/ppt/media/image.png" Id="R2fd92e3dc3c743a3" /><Relationship Type="http://schemas.openxmlformats.org/officeDocument/2006/relationships/notesSlide" Target="/ppt/notesSlides/notesSlide3.xml" Id="R8d5e5e0c79d74c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5263d80db1a4d2c" /><Relationship Type="http://schemas.openxmlformats.org/officeDocument/2006/relationships/image" Target="/ppt/media/image2.png" Id="R5f077a90ab6e4a1f" /><Relationship Type="http://schemas.openxmlformats.org/officeDocument/2006/relationships/notesSlide" Target="/ppt/notesSlides/notesSlide4.xml" Id="R4431e32e9f3f45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6fdca02c6ce4e76" /><Relationship Type="http://schemas.openxmlformats.org/officeDocument/2006/relationships/image" Target="/ppt/media/image2.jpeg" Id="Rbffb97f3c9ad4c6a" /><Relationship Type="http://schemas.openxmlformats.org/officeDocument/2006/relationships/notesSlide" Target="/ppt/notesSlides/notesSlide5.xml" Id="R0123956892d649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7974e5846544e05" /><Relationship Type="http://schemas.openxmlformats.org/officeDocument/2006/relationships/image" Target="/ppt/media/image3.jpeg" Id="R01d8cb0760c840b5" /><Relationship Type="http://schemas.openxmlformats.org/officeDocument/2006/relationships/notesSlide" Target="/ppt/notesSlides/notesSlide6.xml" Id="R04dd32b2cb4246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6af4b6462084563" /><Relationship Type="http://schemas.openxmlformats.org/officeDocument/2006/relationships/image" Target="/ppt/media/image3.png" Id="R2a6bba52eff44920" /><Relationship Type="http://schemas.openxmlformats.org/officeDocument/2006/relationships/notesSlide" Target="/ppt/notesSlides/notesSlide7.xml" Id="R9209c1d0d5d14c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f0299e9f09040c0" /><Relationship Type="http://schemas.openxmlformats.org/officeDocument/2006/relationships/notesSlide" Target="/ppt/notesSlides/notesSlide8.xml" Id="R84d2a70d87d04b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544f9d669704f2b" /><Relationship Type="http://schemas.openxmlformats.org/officeDocument/2006/relationships/notesSlide" Target="/ppt/notesSlides/notesSlide9.xml" Id="Rd6a06d07a5914a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3edc707f6a643f1" /><Relationship Type="http://schemas.openxmlformats.org/officeDocument/2006/relationships/notesSlide" Target="/ppt/notesSlides/notesSlide10.xml" Id="R419561f5595f44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9cd885a400a42cd" /><Relationship Type="http://schemas.openxmlformats.org/officeDocument/2006/relationships/image" Target="/ppt/media/image4.png" Id="R250e67d011bd4d78" /><Relationship Type="http://schemas.openxmlformats.org/officeDocument/2006/relationships/notesSlide" Target="/ppt/notesSlides/notesSlide11.xml" Id="Rae8f7a7b1ece4f6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df44b5cc4e94470" /><Relationship Type="http://schemas.openxmlformats.org/officeDocument/2006/relationships/image" Target="/ppt/media/image5.png" Id="R08236cd36e9c45ec" /><Relationship Type="http://schemas.openxmlformats.org/officeDocument/2006/relationships/notesSlide" Target="/ppt/notesSlides/notesSlide12.xml" Id="Rbfb946d609504b2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3fff96a0b9e4e84" /><Relationship Type="http://schemas.openxmlformats.org/officeDocument/2006/relationships/image" Target="/ppt/media/image6.png" Id="Raac4d43a924047bb" /><Relationship Type="http://schemas.openxmlformats.org/officeDocument/2006/relationships/notesSlide" Target="/ppt/notesSlides/notesSlide13.xml" Id="Rb037ee65d1ae458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8b99d64d9ef4247" /><Relationship Type="http://schemas.openxmlformats.org/officeDocument/2006/relationships/notesSlide" Target="/ppt/notesSlides/notesSlide14.xml" Id="Rfa3723bddeee448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f94c164c59f4514" /><Relationship Type="http://schemas.openxmlformats.org/officeDocument/2006/relationships/notesSlide" Target="/ppt/notesSlides/notesSlide15.xml" Id="R83e310d5754a424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d37a22378124fde" /><Relationship Type="http://schemas.openxmlformats.org/officeDocument/2006/relationships/notesSlide" Target="/ppt/notesSlides/notesSlide16.xml" Id="R24345bc286e740a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91d67f113dd4090" /><Relationship Type="http://schemas.openxmlformats.org/officeDocument/2006/relationships/notesSlide" Target="/ppt/notesSlides/notesSlide17.xml" Id="Ra9f853f4c96e49e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9558b2273844326" /><Relationship Type="http://schemas.openxmlformats.org/officeDocument/2006/relationships/notesSlide" Target="/ppt/notesSlides/notesSlide18.xml" Id="R9888dc2177cc4bd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1a657c8425146d9" /><Relationship Type="http://schemas.openxmlformats.org/officeDocument/2006/relationships/notesSlide" Target="/ppt/notesSlides/notesSlide19.xml" Id="Rb90d12bda280492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adad85f04834367" /><Relationship Type="http://schemas.openxmlformats.org/officeDocument/2006/relationships/image" Target="/ppt/media/image7.png" Id="R7757549d695a42e4" /><Relationship Type="http://schemas.openxmlformats.org/officeDocument/2006/relationships/notesSlide" Target="/ppt/notesSlides/notesSlide20.xml" Id="R0d95d41053bd4bd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6fb44983fc74013" /><Relationship Type="http://schemas.openxmlformats.org/officeDocument/2006/relationships/image" Target="/ppt/media/image8.png" Id="R672062e0cdae4d5d" /><Relationship Type="http://schemas.openxmlformats.org/officeDocument/2006/relationships/notesSlide" Target="/ppt/notesSlides/notesSlide21.xml" Id="Rd698c51b13d84ca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59e229e18d84d31" /><Relationship Type="http://schemas.openxmlformats.org/officeDocument/2006/relationships/image" Target="/ppt/media/image9.png" Id="R1a2beebb060b4a6a" /><Relationship Type="http://schemas.openxmlformats.org/officeDocument/2006/relationships/notesSlide" Target="/ppt/notesSlides/notesSlide22.xml" Id="Ra5a77429d05647a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60e45ad656f48a7" /><Relationship Type="http://schemas.openxmlformats.org/officeDocument/2006/relationships/notesSlide" Target="/ppt/notesSlides/notesSlide23.xml" Id="R53242ea431614a5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7CEE99-4164-4FEA-9171-34352CDB4C08}"/>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F63A599F-5031-44F4-91AF-3A695F84E099}"/>
              </a:ext>
            </a:extLst>
          </p:cNvPr>
          <p:cNvSpPr>
            <a:spLocks xmlns:a="http://schemas.openxmlformats.org/drawingml/2006/main" noGrp="1"/>
          </p:cNvSpPr>
          <p:nvPr/>
        </p:nvSpPr>
        <p:spPr>
          <a:xfrm xmlns:a="http://schemas.openxmlformats.org/drawingml/2006/main">
            <a:off x="609600" y="533400"/>
            <a:ext cx="1076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050" b="1">
                <a:solidFill>
                  <a:srgbClr val="172B3A"/>
                </a:solidFill>
                <a:latin typeface="Arial"/>
                <a:ea typeface="Arial"/>
                <a:cs typeface="Arial"/>
              </a:defRPr>
            </a:defPPr>
          </a:lstStyle>
          <a:p xmlns:a="http://schemas.openxmlformats.org/drawingml/2006/main">
            <a:pPr>
              <a:defRPr sz="4050" b="1">
                <a:solidFill>
                  <a:srgbClr val="172B3A"/>
                </a:solidFill>
                <a:latin typeface="Arial"/>
                <a:ea typeface="Arial"/>
                <a:cs typeface="Arial"/>
              </a:defRPr>
            </a:pPr>
            <a:r>
              <a:rPr sz="4050" b="1">
                <a:solidFill>
                  <a:srgbClr val="172B3A"/>
                </a:solidFill>
                <a:latin typeface="Arial"/>
                <a:ea typeface="Arial"/>
                <a:cs typeface="Arial"/>
              </a:rPr>
              <a:t>Radiación y electrónica</a:t>
            </a:r>
          </a:p>
          <a:p xmlns:a="http://schemas.openxmlformats.org/drawingml/2006/main">
            <a:pPr>
              <a:defRPr sz="4050" b="1">
                <a:solidFill>
                  <a:srgbClr val="172B3A"/>
                </a:solidFill>
                <a:latin typeface="Arial"/>
                <a:ea typeface="Arial"/>
                <a:cs typeface="Arial"/>
              </a:defRPr>
            </a:pPr>
            <a:r>
              <a:rPr sz="4050" b="1">
                <a:solidFill>
                  <a:srgbClr val="172B3A"/>
                </a:solidFill>
                <a:latin typeface="Arial"/>
                <a:ea typeface="Arial"/>
                <a:cs typeface="Arial"/>
              </a:rPr>
              <a:t>de Voyager</a:t>
            </a:r>
          </a:p>
        </p:txBody>
      </p:sp>
      <p:sp>
        <p:nvSpPr>
          <p:cNvPr id="3" name="">
            <a:extLst xmlns:a="http://schemas.openxmlformats.org/drawingml/2006/main">
              <a:ext uri="{FF2B5EF4-FFF2-40B4-BE49-F238E27FC236}">
                <a16:creationId xmlns:a16="http://schemas.microsoft.com/office/drawing/2014/main" id="{14180716-326F-40B7-9577-CB9AFF47C8F6}"/>
              </a:ext>
            </a:extLst>
          </p:cNvPr>
          <p:cNvSpPr>
            <a:spLocks xmlns:a="http://schemas.openxmlformats.org/drawingml/2006/main" noGrp="1"/>
          </p:cNvSpPr>
          <p:nvPr/>
        </p:nvSpPr>
        <p:spPr>
          <a:xfrm xmlns:a="http://schemas.openxmlformats.org/drawingml/2006/main">
            <a:off x="609600" y="255270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26FA1"/>
                </a:solidFill>
                <a:latin typeface="Arial"/>
                <a:ea typeface="Arial"/>
                <a:cs typeface="Arial"/>
              </a:defRPr>
            </a:defPPr>
          </a:lstStyle>
          <a:p xmlns:a="http://schemas.openxmlformats.org/drawingml/2006/main">
            <a:pPr>
              <a:defRPr sz="2700" b="0">
                <a:solidFill>
                  <a:srgbClr val="126FA1"/>
                </a:solidFill>
                <a:latin typeface="Arial"/>
                <a:ea typeface="Arial"/>
                <a:cs typeface="Arial"/>
              </a:defRPr>
            </a:pPr>
            <a:r>
              <a:rPr sz="2700" b="0">
                <a:solidFill>
                  <a:srgbClr val="126FA1"/>
                </a:solidFill>
                <a:latin typeface="Arial"/>
                <a:ea typeface="Arial"/>
                <a:cs typeface="Arial"/>
              </a:rPr>
              <a:t>Ignacio Cavicchioli</a:t>
            </a:r>
          </a:p>
        </p:txBody>
      </p:sp>
      <p:sp>
        <p:nvSpPr>
          <p:cNvPr id="4" name="">
            <a:extLst xmlns:a="http://schemas.openxmlformats.org/drawingml/2006/main">
              <a:ext uri="{FF2B5EF4-FFF2-40B4-BE49-F238E27FC236}">
                <a16:creationId xmlns:a16="http://schemas.microsoft.com/office/drawing/2014/main" id="{BD0113CA-F964-4E89-AAB7-4124ED2A0046}"/>
              </a:ext>
            </a:extLst>
          </p:cNvPr>
          <p:cNvSpPr>
            <a:spLocks xmlns:a="http://schemas.openxmlformats.org/drawingml/2006/main" noGrp="1"/>
          </p:cNvSpPr>
          <p:nvPr/>
        </p:nvSpPr>
        <p:spPr>
          <a:xfrm xmlns:a="http://schemas.openxmlformats.org/drawingml/2006/main">
            <a:off x="609600" y="3714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Objetivo: explicar efectos</a:t>
            </a:r>
          </a:p>
        </p:txBody>
      </p:sp>
      <p:sp>
        <p:nvSpPr>
          <p:cNvPr id="5" name="">
            <a:extLst xmlns:a="http://schemas.openxmlformats.org/drawingml/2006/main">
              <a:ext uri="{FF2B5EF4-FFF2-40B4-BE49-F238E27FC236}">
                <a16:creationId xmlns:a16="http://schemas.microsoft.com/office/drawing/2014/main" id="{079BC6D9-C04F-4D7F-8B50-30FADC386873}"/>
              </a:ext>
            </a:extLst>
          </p:cNvPr>
          <p:cNvSpPr>
            <a:spLocks xmlns:a="http://schemas.openxmlformats.org/drawingml/2006/main" noGrp="1"/>
          </p:cNvSpPr>
          <p:nvPr/>
        </p:nvSpPr>
        <p:spPr>
          <a:xfrm xmlns:a="http://schemas.openxmlformats.org/drawingml/2006/main">
            <a:off x="609600" y="42100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y mitigaciones.</a:t>
            </a:r>
          </a:p>
        </p:txBody>
      </p:sp>
      <p:pic>
        <p:nvPicPr>
          <p:cNvPr id="6" name="">
            <a:extLst xmlns:a="http://schemas.openxmlformats.org/drawingml/2006/main">
              <a:ext uri="{FF2B5EF4-FFF2-40B4-BE49-F238E27FC236}">
                <a16:creationId xmlns:a16="http://schemas.microsoft.com/office/drawing/2014/main" id="{708C0E12-E8AD-47DD-9DE8-56B8BB5C367C}"/>
              </a:ext>
            </a:extLst>
          </p:cNvPr>
          <p:cNvPicPr>
            <a:picLocks xmlns:a="http://schemas.openxmlformats.org/drawingml/2006/main" noChangeAspect="1"/>
          </p:cNvPicPr>
          <p:nvPr/>
        </p:nvPicPr>
        <p:blipFill>
          <a:blip xmlns:r="http://schemas.openxmlformats.org/officeDocument/2006/relationships" xmlns:a="http://schemas.openxmlformats.org/drawingml/2006/main" r:embed="Rc18f399c7e8a4387"/>
          <a:stretch xmlns:a="http://schemas.openxmlformats.org/drawingml/2006/main"/>
        </p:blipFill>
        <p:spPr>
          <a:xfrm xmlns:a="http://schemas.openxmlformats.org/drawingml/2006/main">
            <a:off x="6286500" y="2505730"/>
            <a:ext cx="5286375" cy="2894290"/>
          </a:xfrm>
          <a:prstGeom xmlns:a="http://schemas.openxmlformats.org/drawingml/2006/main" prst="rect">
            <a:avLst/>
          </a:prstGeom>
        </p:spPr>
      </p:pic>
    </p:spTree>
    <p:extLst>
      <p:ext uri="{BB962C8B-B14F-4D97-AF65-F5344CB8AC3E}">
        <p14:creationId xmlns:p14="http://schemas.microsoft.com/office/powerpoint/2010/main" val="2322381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BEA3F07-6B85-49FC-8D46-A4088EF4E315}"/>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3C269AB3-619E-48F4-8BD6-3F6E1E4E8C95}"/>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Qué es la radiación</a:t>
            </a:r>
          </a:p>
        </p:txBody>
      </p:sp>
      <p:sp>
        <p:nvSpPr>
          <p:cNvPr id="3" name="">
            <a:extLst xmlns:a="http://schemas.openxmlformats.org/drawingml/2006/main">
              <a:ext uri="{FF2B5EF4-FFF2-40B4-BE49-F238E27FC236}">
                <a16:creationId xmlns:a16="http://schemas.microsoft.com/office/drawing/2014/main" id="{5A2600E4-5509-4598-93E1-6DA20BD51F9A}"/>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Transporta energía mediante partículas o fotones.</a:t>
            </a:r>
          </a:p>
        </p:txBody>
      </p:sp>
      <p:sp>
        <p:nvSpPr>
          <p:cNvPr id="4" name="">
            <a:extLst xmlns:a="http://schemas.openxmlformats.org/drawingml/2006/main">
              <a:ext uri="{FF2B5EF4-FFF2-40B4-BE49-F238E27FC236}">
                <a16:creationId xmlns:a16="http://schemas.microsoft.com/office/drawing/2014/main" id="{1413EC83-D8B0-4014-AC7A-EFF509099A01}"/>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ionización libera cargas en el material.</a:t>
            </a:r>
          </a:p>
        </p:txBody>
      </p:sp>
      <p:sp>
        <p:nvSpPr>
          <p:cNvPr id="5" name="">
            <a:extLst xmlns:a="http://schemas.openxmlformats.org/drawingml/2006/main">
              <a:ext uri="{FF2B5EF4-FFF2-40B4-BE49-F238E27FC236}">
                <a16:creationId xmlns:a16="http://schemas.microsoft.com/office/drawing/2014/main" id="{C5C8EBAA-4F89-40F2-9738-6F3FC0473149}"/>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Energía: cuánto lleva cada partícula.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Flujo: cuántas llegan por área y tiempo.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Dosis: energía depositada por unidad de masa.</a:t>
            </a:r>
          </a:p>
        </p:txBody>
      </p:sp>
    </p:spTree>
    <p:extLst>
      <p:ext uri="{BB962C8B-B14F-4D97-AF65-F5344CB8AC3E}">
        <p14:creationId xmlns:p14="http://schemas.microsoft.com/office/powerpoint/2010/main" val="18359965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51AD83-E3DD-4AF2-9E26-25EAB99A6603}"/>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21C6A222-BE32-4027-B4B7-C300588D9B88}"/>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El ambiente solar</a:t>
            </a:r>
          </a:p>
        </p:txBody>
      </p:sp>
      <p:sp>
        <p:nvSpPr>
          <p:cNvPr id="3" name="">
            <a:extLst xmlns:a="http://schemas.openxmlformats.org/drawingml/2006/main">
              <a:ext uri="{FF2B5EF4-FFF2-40B4-BE49-F238E27FC236}">
                <a16:creationId xmlns:a16="http://schemas.microsoft.com/office/drawing/2014/main" id="{90CFDD55-409E-4D03-BF34-747249A9C111}"/>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El Sol puede acelerar protones, electrones e iones.</a:t>
            </a:r>
          </a:p>
        </p:txBody>
      </p:sp>
      <p:sp>
        <p:nvSpPr>
          <p:cNvPr id="4" name="">
            <a:extLst xmlns:a="http://schemas.openxmlformats.org/drawingml/2006/main">
              <a:ext uri="{FF2B5EF4-FFF2-40B4-BE49-F238E27FC236}">
                <a16:creationId xmlns:a16="http://schemas.microsoft.com/office/drawing/2014/main" id="{E4990477-A075-4B81-97EC-B67F14ED870D}"/>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Su intensidad cambia con la actividad solar.</a:t>
            </a:r>
          </a:p>
        </p:txBody>
      </p:sp>
      <p:sp>
        <p:nvSpPr>
          <p:cNvPr id="5" name="">
            <a:extLst xmlns:a="http://schemas.openxmlformats.org/drawingml/2006/main">
              <a:ext uri="{FF2B5EF4-FFF2-40B4-BE49-F238E27FC236}">
                <a16:creationId xmlns:a16="http://schemas.microsoft.com/office/drawing/2014/main" id="{7B165228-7760-4D69-A50D-338199050069}"/>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Pueden causar pulsos y errores.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También pueden dejar degradación.</a:t>
            </a:r>
          </a:p>
        </p:txBody>
      </p:sp>
      <p:pic>
        <p:nvPicPr>
          <p:cNvPr id="6" name="">
            <a:extLst xmlns:a="http://schemas.openxmlformats.org/drawingml/2006/main">
              <a:ext uri="{FF2B5EF4-FFF2-40B4-BE49-F238E27FC236}">
                <a16:creationId xmlns:a16="http://schemas.microsoft.com/office/drawing/2014/main" id="{C4E21D1A-287A-4048-82AA-BFB4DDB96D91}"/>
              </a:ext>
            </a:extLst>
          </p:cNvPr>
          <p:cNvPicPr>
            <a:picLocks xmlns:a="http://schemas.openxmlformats.org/drawingml/2006/main" noChangeAspect="1"/>
          </p:cNvPicPr>
          <p:nvPr/>
        </p:nvPicPr>
        <p:blipFill>
          <a:blip xmlns:r="http://schemas.openxmlformats.org/officeDocument/2006/relationships" xmlns:a="http://schemas.openxmlformats.org/drawingml/2006/main" r:embed="R2fd92e3dc3c743a3"/>
          <a:stretch xmlns:a="http://schemas.openxmlformats.org/drawingml/2006/main"/>
        </p:blipFill>
        <p:spPr>
          <a:xfrm xmlns:a="http://schemas.openxmlformats.org/drawingml/2006/main">
            <a:off x="6267450" y="3291775"/>
            <a:ext cx="5305425" cy="179844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72A478A-41B7-4893-87F5-26743A8D88D2}"/>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SOHO, julio de 1996</a:t>
            </a:r>
          </a:p>
        </p:txBody>
      </p:sp>
    </p:spTree>
    <p:extLst>
      <p:ext uri="{BB962C8B-B14F-4D97-AF65-F5344CB8AC3E}">
        <p14:creationId xmlns:p14="http://schemas.microsoft.com/office/powerpoint/2010/main" val="17988242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39B002-9BBF-442A-B17C-AD165A2E7E29}"/>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EFF9E153-6594-4758-A184-1ED992838CEC}"/>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Los cinturones de Júpiter</a:t>
            </a:r>
          </a:p>
        </p:txBody>
      </p:sp>
      <p:sp>
        <p:nvSpPr>
          <p:cNvPr id="3" name="">
            <a:extLst xmlns:a="http://schemas.openxmlformats.org/drawingml/2006/main">
              <a:ext uri="{FF2B5EF4-FFF2-40B4-BE49-F238E27FC236}">
                <a16:creationId xmlns:a16="http://schemas.microsoft.com/office/drawing/2014/main" id="{9CD8DA34-0084-47AC-B74B-7A1009D608EC}"/>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Ambas Voyager atravesaron estos cinturones en 1979.</a:t>
            </a:r>
          </a:p>
        </p:txBody>
      </p:sp>
      <p:sp>
        <p:nvSpPr>
          <p:cNvPr id="4" name="">
            <a:extLst xmlns:a="http://schemas.openxmlformats.org/drawingml/2006/main">
              <a:ext uri="{FF2B5EF4-FFF2-40B4-BE49-F238E27FC236}">
                <a16:creationId xmlns:a16="http://schemas.microsoft.com/office/drawing/2014/main" id="{B1E58F6B-9928-4771-8513-005AC647259D}"/>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Electrones y protones energéticos.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Dosis y señales espurias.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Ensayos, márgenes y blindaje.</a:t>
            </a:r>
          </a:p>
        </p:txBody>
      </p:sp>
      <p:pic>
        <p:nvPicPr>
          <p:cNvPr id="5" name="">
            <a:extLst xmlns:a="http://schemas.openxmlformats.org/drawingml/2006/main">
              <a:ext uri="{FF2B5EF4-FFF2-40B4-BE49-F238E27FC236}">
                <a16:creationId xmlns:a16="http://schemas.microsoft.com/office/drawing/2014/main" id="{134EADB5-586A-4CC7-9C3A-A47D22756BCA}"/>
              </a:ext>
            </a:extLst>
          </p:cNvPr>
          <p:cNvPicPr>
            <a:picLocks xmlns:a="http://schemas.openxmlformats.org/drawingml/2006/main" noChangeAspect="1"/>
          </p:cNvPicPr>
          <p:nvPr/>
        </p:nvPicPr>
        <p:blipFill>
          <a:blip xmlns:r="http://schemas.openxmlformats.org/officeDocument/2006/relationships" xmlns:a="http://schemas.openxmlformats.org/drawingml/2006/main" r:embed="R5f077a90ab6e4a1f"/>
          <a:stretch xmlns:a="http://schemas.openxmlformats.org/drawingml/2006/main"/>
        </p:blipFill>
        <p:spPr>
          <a:xfrm xmlns:a="http://schemas.openxmlformats.org/drawingml/2006/main">
            <a:off x="6267450" y="2942665"/>
            <a:ext cx="5305425" cy="249667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4C8ECE4-F6B0-4808-A9BE-FC6DA2120DCA}"/>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Cinturones observados por Cassini</a:t>
            </a:r>
          </a:p>
        </p:txBody>
      </p:sp>
    </p:spTree>
    <p:extLst>
      <p:ext uri="{BB962C8B-B14F-4D97-AF65-F5344CB8AC3E}">
        <p14:creationId xmlns:p14="http://schemas.microsoft.com/office/powerpoint/2010/main" val="8045330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2539757-1892-40A8-B802-DF8DDE114972}"/>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4C7A3966-D655-4394-A01E-1B5D3AE7420A}"/>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El espacio interestelar</a:t>
            </a:r>
          </a:p>
        </p:txBody>
      </p:sp>
      <p:sp>
        <p:nvSpPr>
          <p:cNvPr id="3" name="">
            <a:extLst xmlns:a="http://schemas.openxmlformats.org/drawingml/2006/main">
              <a:ext uri="{FF2B5EF4-FFF2-40B4-BE49-F238E27FC236}">
                <a16:creationId xmlns:a16="http://schemas.microsoft.com/office/drawing/2014/main" id="{E74B3E3B-10D3-4875-88D5-A1AA0D02C807}"/>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Fuera de la heliopausa continúa la exposición.</a:t>
            </a:r>
          </a:p>
        </p:txBody>
      </p:sp>
      <p:sp>
        <p:nvSpPr>
          <p:cNvPr id="4" name="">
            <a:extLst xmlns:a="http://schemas.openxmlformats.org/drawingml/2006/main">
              <a:ext uri="{FF2B5EF4-FFF2-40B4-BE49-F238E27FC236}">
                <a16:creationId xmlns:a16="http://schemas.microsoft.com/office/drawing/2014/main" id="{2B2442EF-E0F5-4CEE-9A53-1D4657D656AB}"/>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Los rayos cósmicos incluyen protones y núcleos.</a:t>
            </a:r>
          </a:p>
        </p:txBody>
      </p:sp>
      <p:sp>
        <p:nvSpPr>
          <p:cNvPr id="5" name="">
            <a:extLst xmlns:a="http://schemas.openxmlformats.org/drawingml/2006/main">
              <a:ext uri="{FF2B5EF4-FFF2-40B4-BE49-F238E27FC236}">
                <a16:creationId xmlns:a16="http://schemas.microsoft.com/office/drawing/2014/main" id="{481A51FC-D14C-475D-9D7F-279FB5247CB0}"/>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Cruces: V1, 2012; V2, 2018.</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Puede alterarse una señal o estado.</a:t>
            </a:r>
          </a:p>
        </p:txBody>
      </p:sp>
      <p:pic>
        <p:nvPicPr>
          <p:cNvPr id="6" name="">
            <a:extLst xmlns:a="http://schemas.openxmlformats.org/drawingml/2006/main">
              <a:ext uri="{FF2B5EF4-FFF2-40B4-BE49-F238E27FC236}">
                <a16:creationId xmlns:a16="http://schemas.microsoft.com/office/drawing/2014/main" id="{3CF9C9D5-C0BE-4342-95A4-1435C922AE79}"/>
              </a:ext>
            </a:extLst>
          </p:cNvPr>
          <p:cNvPicPr>
            <a:picLocks xmlns:a="http://schemas.openxmlformats.org/drawingml/2006/main" noChangeAspect="1"/>
          </p:cNvPicPr>
          <p:nvPr/>
        </p:nvPicPr>
        <p:blipFill>
          <a:blip xmlns:r="http://schemas.openxmlformats.org/officeDocument/2006/relationships" xmlns:a="http://schemas.openxmlformats.org/drawingml/2006/main" r:embed="Rbffb97f3c9ad4c6a"/>
          <a:stretch xmlns:a="http://schemas.openxmlformats.org/drawingml/2006/main"/>
        </p:blipFill>
        <p:spPr>
          <a:xfrm xmlns:a="http://schemas.openxmlformats.org/drawingml/2006/main">
            <a:off x="6671023" y="2857500"/>
            <a:ext cx="4498279" cy="2667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1D3A2BA-EA3A-498E-8F64-A4081C99EC8B}"/>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Ilustración NASA de la heliosfera</a:t>
            </a:r>
          </a:p>
        </p:txBody>
      </p:sp>
    </p:spTree>
    <p:extLst>
      <p:ext uri="{BB962C8B-B14F-4D97-AF65-F5344CB8AC3E}">
        <p14:creationId xmlns:p14="http://schemas.microsoft.com/office/powerpoint/2010/main" val="3408162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8DD98E0-15AB-45E4-8AE8-07BEAACAC699}"/>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809FB099-DAD1-461F-956E-A5A63F13F38C}"/>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La construcción de Voyager</a:t>
            </a:r>
          </a:p>
        </p:txBody>
      </p:sp>
      <p:sp>
        <p:nvSpPr>
          <p:cNvPr id="3" name="">
            <a:extLst xmlns:a="http://schemas.openxmlformats.org/drawingml/2006/main">
              <a:ext uri="{FF2B5EF4-FFF2-40B4-BE49-F238E27FC236}">
                <a16:creationId xmlns:a16="http://schemas.microsoft.com/office/drawing/2014/main" id="{4B2F21F3-90C1-4235-83E1-95670E57D01F}"/>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Equipos diseñados y construidos en los setenta.</a:t>
            </a:r>
          </a:p>
        </p:txBody>
      </p:sp>
      <p:sp>
        <p:nvSpPr>
          <p:cNvPr id="4" name="">
            <a:extLst xmlns:a="http://schemas.openxmlformats.org/drawingml/2006/main">
              <a:ext uri="{FF2B5EF4-FFF2-40B4-BE49-F238E27FC236}">
                <a16:creationId xmlns:a16="http://schemas.microsoft.com/office/drawing/2014/main" id="{58265D02-8924-43D9-B97B-8D5D4807617F}"/>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Las dos sondas se lanzaron en 1977.</a:t>
            </a:r>
          </a:p>
        </p:txBody>
      </p:sp>
      <p:sp>
        <p:nvSpPr>
          <p:cNvPr id="5" name="">
            <a:extLst xmlns:a="http://schemas.openxmlformats.org/drawingml/2006/main">
              <a:ext uri="{FF2B5EF4-FFF2-40B4-BE49-F238E27FC236}">
                <a16:creationId xmlns:a16="http://schemas.microsoft.com/office/drawing/2014/main" id="{E8D3CCF2-C5C1-472C-AFAB-E640805A2745}"/>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2: 20 de agosto.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1: 5 de septiembre.</a:t>
            </a:r>
          </a:p>
        </p:txBody>
      </p:sp>
      <p:pic>
        <p:nvPicPr>
          <p:cNvPr id="6" name="">
            <a:extLst xmlns:a="http://schemas.openxmlformats.org/drawingml/2006/main">
              <a:ext uri="{FF2B5EF4-FFF2-40B4-BE49-F238E27FC236}">
                <a16:creationId xmlns:a16="http://schemas.microsoft.com/office/drawing/2014/main" id="{3FCB35CF-A754-41C5-995C-23B2D2535174}"/>
              </a:ext>
            </a:extLst>
          </p:cNvPr>
          <p:cNvPicPr>
            <a:picLocks xmlns:a="http://schemas.openxmlformats.org/drawingml/2006/main" noChangeAspect="1"/>
          </p:cNvPicPr>
          <p:nvPr/>
        </p:nvPicPr>
        <p:blipFill>
          <a:blip xmlns:r="http://schemas.openxmlformats.org/officeDocument/2006/relationships" xmlns:a="http://schemas.openxmlformats.org/drawingml/2006/main" r:embed="R01d8cb0760c840b5"/>
          <a:stretch xmlns:a="http://schemas.openxmlformats.org/drawingml/2006/main"/>
        </p:blipFill>
        <p:spPr>
          <a:xfrm xmlns:a="http://schemas.openxmlformats.org/drawingml/2006/main">
            <a:off x="7244158" y="2857500"/>
            <a:ext cx="3352010" cy="2667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4F9583F-1B6B-4612-92F7-DC7D774924B7}"/>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Voyager 2 en pruebas, marzo de 1977</a:t>
            </a:r>
          </a:p>
        </p:txBody>
      </p:sp>
    </p:spTree>
    <p:extLst>
      <p:ext uri="{BB962C8B-B14F-4D97-AF65-F5344CB8AC3E}">
        <p14:creationId xmlns:p14="http://schemas.microsoft.com/office/powerpoint/2010/main" val="10370409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CC15AC-4F54-4521-81F9-9ADDE02CCA40}"/>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07</a:t>
            </a:r>
          </a:p>
        </p:txBody>
      </p:sp>
      <p:sp>
        <p:nvSpPr>
          <p:cNvPr id="2" name="">
            <a:extLst xmlns:a="http://schemas.openxmlformats.org/drawingml/2006/main">
              <a:ext uri="{FF2B5EF4-FFF2-40B4-BE49-F238E27FC236}">
                <a16:creationId xmlns:a16="http://schemas.microsoft.com/office/drawing/2014/main" id="{D8AA105E-A751-4FDE-B0F9-96CD8DBB4B77}"/>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Computadoras y tecnologías</a:t>
            </a:r>
          </a:p>
        </p:txBody>
      </p:sp>
      <p:sp>
        <p:nvSpPr>
          <p:cNvPr id="3" name="">
            <a:extLst xmlns:a="http://schemas.openxmlformats.org/drawingml/2006/main">
              <a:ext uri="{FF2B5EF4-FFF2-40B4-BE49-F238E27FC236}">
                <a16:creationId xmlns:a16="http://schemas.microsoft.com/office/drawing/2014/main" id="{9E690B77-62E3-4E62-AF69-159CDC560A80}"/>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CCS: comandos. AACS: orientación. FDS: datos.</a:t>
            </a:r>
          </a:p>
        </p:txBody>
      </p:sp>
      <p:sp>
        <p:nvSpPr>
          <p:cNvPr id="4" name="">
            <a:extLst xmlns:a="http://schemas.openxmlformats.org/drawingml/2006/main">
              <a:ext uri="{FF2B5EF4-FFF2-40B4-BE49-F238E27FC236}">
                <a16:creationId xmlns:a16="http://schemas.microsoft.com/office/drawing/2014/main" id="{3D73EDAF-807F-478F-AFF1-0243C8F2E805}"/>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Prototipo FDS: tecnología TTL.</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FDS de vuelo: tecnología CMOS.</a:t>
            </a:r>
          </a:p>
        </p:txBody>
      </p:sp>
      <p:pic>
        <p:nvPicPr>
          <p:cNvPr id="5" name="">
            <a:extLst xmlns:a="http://schemas.openxmlformats.org/drawingml/2006/main">
              <a:ext uri="{FF2B5EF4-FFF2-40B4-BE49-F238E27FC236}">
                <a16:creationId xmlns:a16="http://schemas.microsoft.com/office/drawing/2014/main" id="{4B6FD740-5141-4A38-BFE8-9F4104F242FF}"/>
              </a:ext>
            </a:extLst>
          </p:cNvPr>
          <p:cNvPicPr>
            <a:picLocks xmlns:a="http://schemas.openxmlformats.org/drawingml/2006/main" noChangeAspect="1"/>
          </p:cNvPicPr>
          <p:nvPr/>
        </p:nvPicPr>
        <p:blipFill>
          <a:blip xmlns:r="http://schemas.openxmlformats.org/officeDocument/2006/relationships" xmlns:a="http://schemas.openxmlformats.org/drawingml/2006/main" r:embed="R2a6bba52eff44920"/>
          <a:stretch xmlns:a="http://schemas.openxmlformats.org/drawingml/2006/main"/>
        </p:blipFill>
        <p:spPr>
          <a:xfrm xmlns:a="http://schemas.openxmlformats.org/drawingml/2006/main">
            <a:off x="7007013" y="2857500"/>
            <a:ext cx="3826299" cy="2667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ED0291F-1B60-470D-A404-75BD36D0BF8C}"/>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Hardware FDS, fotografía JPL</a:t>
            </a:r>
          </a:p>
        </p:txBody>
      </p:sp>
    </p:spTree>
    <p:extLst>
      <p:ext uri="{BB962C8B-B14F-4D97-AF65-F5344CB8AC3E}">
        <p14:creationId xmlns:p14="http://schemas.microsoft.com/office/powerpoint/2010/main" val="89754808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5964F0F-5E51-400A-8165-244F6EEE0ADF}"/>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08</a:t>
            </a:r>
          </a:p>
        </p:txBody>
      </p:sp>
      <p:sp>
        <p:nvSpPr>
          <p:cNvPr id="2" name="">
            <a:extLst xmlns:a="http://schemas.openxmlformats.org/drawingml/2006/main">
              <a:ext uri="{FF2B5EF4-FFF2-40B4-BE49-F238E27FC236}">
                <a16:creationId xmlns:a16="http://schemas.microsoft.com/office/drawing/2014/main" id="{E2EEF224-3ACD-4965-9229-E677E865489F}"/>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Los componentes del equipo</a:t>
            </a:r>
          </a:p>
        </p:txBody>
      </p:sp>
      <p:sp>
        <p:nvSpPr>
          <p:cNvPr id="3" name="">
            <a:extLst xmlns:a="http://schemas.openxmlformats.org/drawingml/2006/main">
              <a:ext uri="{FF2B5EF4-FFF2-40B4-BE49-F238E27FC236}">
                <a16:creationId xmlns:a16="http://schemas.microsoft.com/office/drawing/2014/main" id="{3807A07C-F158-413E-84F1-7D8A5692EB66}"/>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El programa evaluó distintas tecnologías y materiales.</a:t>
            </a:r>
          </a:p>
        </p:txBody>
      </p:sp>
      <p:sp>
        <p:nvSpPr>
          <p:cNvPr id="4" name="">
            <a:extLst xmlns:a="http://schemas.openxmlformats.org/drawingml/2006/main">
              <a:ext uri="{FF2B5EF4-FFF2-40B4-BE49-F238E27FC236}">
                <a16:creationId xmlns:a16="http://schemas.microsoft.com/office/drawing/2014/main" id="{BD241A13-A280-4B5E-997A-76EFE154844E}"/>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Una pieza ensayada no prueba su instalación.</a:t>
            </a:r>
          </a:p>
        </p:txBody>
      </p:sp>
      <p:sp>
        <p:nvSpPr>
          <p:cNvPr id="5" name="">
            <a:extLst xmlns:a="http://schemas.openxmlformats.org/drawingml/2006/main">
              <a:ext uri="{FF2B5EF4-FFF2-40B4-BE49-F238E27FC236}">
                <a16:creationId xmlns:a16="http://schemas.microsoft.com/office/drawing/2014/main" id="{035D2AE7-6079-4CB4-8791-2583B1BF4918}"/>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Resistencias: redes Dale de película metálica.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Capacitores: B11B de teflón entre los ensayados.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Semiconductores: diodos, BJT y lógica CMOS.</a:t>
            </a:r>
          </a:p>
        </p:txBody>
      </p:sp>
    </p:spTree>
    <p:extLst>
      <p:ext uri="{BB962C8B-B14F-4D97-AF65-F5344CB8AC3E}">
        <p14:creationId xmlns:p14="http://schemas.microsoft.com/office/powerpoint/2010/main" val="19615633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583E69-120D-4F0F-A6DA-6A79564B5545}"/>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09</a:t>
            </a:r>
          </a:p>
        </p:txBody>
      </p:sp>
      <p:sp>
        <p:nvSpPr>
          <p:cNvPr id="2" name="">
            <a:extLst xmlns:a="http://schemas.openxmlformats.org/drawingml/2006/main">
              <a:ext uri="{FF2B5EF4-FFF2-40B4-BE49-F238E27FC236}">
                <a16:creationId xmlns:a16="http://schemas.microsoft.com/office/drawing/2014/main" id="{C8C0FE0E-7A9B-4084-AA93-48EAC935478B}"/>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Resistencias</a:t>
            </a:r>
          </a:p>
        </p:txBody>
      </p:sp>
      <p:sp>
        <p:nvSpPr>
          <p:cNvPr id="3" name="">
            <a:extLst xmlns:a="http://schemas.openxmlformats.org/drawingml/2006/main">
              <a:ext uri="{FF2B5EF4-FFF2-40B4-BE49-F238E27FC236}">
                <a16:creationId xmlns:a16="http://schemas.microsoft.com/office/drawing/2014/main" id="{039BB343-0398-4B90-97EF-9D51EB30655F}"/>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Puede cambiar el valor o conducir el aislamiento.</a:t>
            </a:r>
          </a:p>
        </p:txBody>
      </p:sp>
      <p:sp>
        <p:nvSpPr>
          <p:cNvPr id="4" name="">
            <a:extLst xmlns:a="http://schemas.openxmlformats.org/drawingml/2006/main">
              <a:ext uri="{FF2B5EF4-FFF2-40B4-BE49-F238E27FC236}">
                <a16:creationId xmlns:a16="http://schemas.microsoft.com/office/drawing/2014/main" id="{9A48F64E-31F8-4A70-9762-51179212F102}"/>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Una corriente no deseada puede falsear una tensión.</a:t>
            </a:r>
          </a:p>
        </p:txBody>
      </p:sp>
      <p:sp>
        <p:nvSpPr>
          <p:cNvPr id="5" name="">
            <a:extLst xmlns:a="http://schemas.openxmlformats.org/drawingml/2006/main">
              <a:ext uri="{FF2B5EF4-FFF2-40B4-BE49-F238E27FC236}">
                <a16:creationId xmlns:a16="http://schemas.microsoft.com/office/drawing/2014/main" id="{4A239CAA-DAA2-4E27-893B-C8B286C53E3E}"/>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Dale: valor estable en el ensayo publicado.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PWS: una resistencia evacuaba carga de antena.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La estabilidad de R no garantiza aislamiento.</a:t>
            </a:r>
          </a:p>
        </p:txBody>
      </p:sp>
    </p:spTree>
    <p:extLst>
      <p:ext uri="{BB962C8B-B14F-4D97-AF65-F5344CB8AC3E}">
        <p14:creationId xmlns:p14="http://schemas.microsoft.com/office/powerpoint/2010/main" val="7722009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514A4DA-409C-43B1-B6F2-B82D518611A7}"/>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10</a:t>
            </a:r>
          </a:p>
        </p:txBody>
      </p:sp>
      <p:sp>
        <p:nvSpPr>
          <p:cNvPr id="2" name="">
            <a:extLst xmlns:a="http://schemas.openxmlformats.org/drawingml/2006/main">
              <a:ext uri="{FF2B5EF4-FFF2-40B4-BE49-F238E27FC236}">
                <a16:creationId xmlns:a16="http://schemas.microsoft.com/office/drawing/2014/main" id="{AB5B1A9B-552D-44A9-B52A-DFDDF2A94A45}"/>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Capacitores</a:t>
            </a:r>
          </a:p>
        </p:txBody>
      </p:sp>
      <p:sp>
        <p:nvSpPr>
          <p:cNvPr id="3" name="">
            <a:extLst xmlns:a="http://schemas.openxmlformats.org/drawingml/2006/main">
              <a:ext uri="{FF2B5EF4-FFF2-40B4-BE49-F238E27FC236}">
                <a16:creationId xmlns:a16="http://schemas.microsoft.com/office/drawing/2014/main" id="{E0F3FA71-9AD3-40D1-92DA-190F36715752}"/>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ionización puede aumentar la conducción del dieléctrico.</a:t>
            </a:r>
          </a:p>
        </p:txBody>
      </p:sp>
      <p:sp>
        <p:nvSpPr>
          <p:cNvPr id="4" name="">
            <a:extLst xmlns:a="http://schemas.openxmlformats.org/drawingml/2006/main">
              <a:ext uri="{FF2B5EF4-FFF2-40B4-BE49-F238E27FC236}">
                <a16:creationId xmlns:a16="http://schemas.microsoft.com/office/drawing/2014/main" id="{CC3FF79C-F531-43AF-BE5C-A2ACE511B3D4}"/>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Perder carga altera tiempos o señales.</a:t>
            </a:r>
          </a:p>
        </p:txBody>
      </p:sp>
      <p:sp>
        <p:nvSpPr>
          <p:cNvPr id="5" name="">
            <a:extLst xmlns:a="http://schemas.openxmlformats.org/drawingml/2006/main">
              <a:ext uri="{FF2B5EF4-FFF2-40B4-BE49-F238E27FC236}">
                <a16:creationId xmlns:a16="http://schemas.microsoft.com/office/drawing/2014/main" id="{DADFEB25-F5F6-4FA3-A5F1-AEC58F4D7370}"/>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B11B: pequeños cambios de capacidad en ensayo.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PWS: tensiones nominales según el potencial previsto.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Criterio general: verificar capacidad y aislamiento.</a:t>
            </a:r>
          </a:p>
        </p:txBody>
      </p:sp>
    </p:spTree>
    <p:extLst>
      <p:ext uri="{BB962C8B-B14F-4D97-AF65-F5344CB8AC3E}">
        <p14:creationId xmlns:p14="http://schemas.microsoft.com/office/powerpoint/2010/main" val="51838503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301A7E2-729D-442E-8672-E9809566703D}"/>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11</a:t>
            </a:r>
          </a:p>
        </p:txBody>
      </p:sp>
      <p:sp>
        <p:nvSpPr>
          <p:cNvPr id="2" name="">
            <a:extLst xmlns:a="http://schemas.openxmlformats.org/drawingml/2006/main">
              <a:ext uri="{FF2B5EF4-FFF2-40B4-BE49-F238E27FC236}">
                <a16:creationId xmlns:a16="http://schemas.microsoft.com/office/drawing/2014/main" id="{BA31FC18-9C21-422D-A64C-811357A39932}"/>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Diodos</a:t>
            </a:r>
          </a:p>
        </p:txBody>
      </p:sp>
      <p:sp>
        <p:nvSpPr>
          <p:cNvPr id="3" name="">
            <a:extLst xmlns:a="http://schemas.openxmlformats.org/drawingml/2006/main">
              <a:ext uri="{FF2B5EF4-FFF2-40B4-BE49-F238E27FC236}">
                <a16:creationId xmlns:a16="http://schemas.microsoft.com/office/drawing/2014/main" id="{E37992A7-BD7D-4AE5-9D7D-96678548E558}"/>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radiación genera cargas cerca de uniones.</a:t>
            </a:r>
          </a:p>
        </p:txBody>
      </p:sp>
      <p:sp>
        <p:nvSpPr>
          <p:cNvPr id="4" name="">
            <a:extLst xmlns:a="http://schemas.openxmlformats.org/drawingml/2006/main">
              <a:ext uri="{FF2B5EF4-FFF2-40B4-BE49-F238E27FC236}">
                <a16:creationId xmlns:a16="http://schemas.microsoft.com/office/drawing/2014/main" id="{940A2665-5788-4CE5-8302-7D0765D1A270}"/>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Puede aparecer corriente espuria.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Los defectos pueden dejar fugas.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diodos caracterizados.</a:t>
            </a:r>
          </a:p>
        </p:txBody>
      </p:sp>
      <p:pic>
        <p:nvPicPr>
          <p:cNvPr id="5" name="">
            <a:extLst xmlns:a="http://schemas.openxmlformats.org/drawingml/2006/main">
              <a:ext uri="{FF2B5EF4-FFF2-40B4-BE49-F238E27FC236}">
                <a16:creationId xmlns:a16="http://schemas.microsoft.com/office/drawing/2014/main" id="{AD576406-0B53-49A5-8391-6982F38510DC}"/>
              </a:ext>
            </a:extLst>
          </p:cNvPr>
          <p:cNvPicPr>
            <a:picLocks xmlns:a="http://schemas.openxmlformats.org/drawingml/2006/main" noChangeAspect="1"/>
          </p:cNvPicPr>
          <p:nvPr/>
        </p:nvPicPr>
        <p:blipFill>
          <a:blip xmlns:r="http://schemas.openxmlformats.org/officeDocument/2006/relationships" xmlns:a="http://schemas.openxmlformats.org/drawingml/2006/main" r:embed="R250e67d011bd4d78"/>
          <a:stretch xmlns:a="http://schemas.openxmlformats.org/drawingml/2006/main"/>
        </p:blipFill>
        <p:spPr>
          <a:xfrm xmlns:a="http://schemas.openxmlformats.org/drawingml/2006/main">
            <a:off x="6608062" y="2857500"/>
            <a:ext cx="4624200" cy="2667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698BA9-5164-4611-9831-04A2484627F2}"/>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Fotodiodo: ejemplo equivalente</a:t>
            </a:r>
          </a:p>
        </p:txBody>
      </p:sp>
    </p:spTree>
    <p:extLst>
      <p:ext uri="{BB962C8B-B14F-4D97-AF65-F5344CB8AC3E}">
        <p14:creationId xmlns:p14="http://schemas.microsoft.com/office/powerpoint/2010/main" val="145084590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CFD07B1-7841-42A1-A258-A058C2DB8090}"/>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12</a:t>
            </a:r>
          </a:p>
        </p:txBody>
      </p:sp>
      <p:sp>
        <p:nvSpPr>
          <p:cNvPr id="2" name="">
            <a:extLst xmlns:a="http://schemas.openxmlformats.org/drawingml/2006/main">
              <a:ext uri="{FF2B5EF4-FFF2-40B4-BE49-F238E27FC236}">
                <a16:creationId xmlns:a16="http://schemas.microsoft.com/office/drawing/2014/main" id="{9F4E3008-256F-496F-8437-CADA8FC43A05}"/>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Transistores bipolares</a:t>
            </a:r>
          </a:p>
        </p:txBody>
      </p:sp>
      <p:sp>
        <p:nvSpPr>
          <p:cNvPr id="3" name="">
            <a:extLst xmlns:a="http://schemas.openxmlformats.org/drawingml/2006/main">
              <a:ext uri="{FF2B5EF4-FFF2-40B4-BE49-F238E27FC236}">
                <a16:creationId xmlns:a16="http://schemas.microsoft.com/office/drawing/2014/main" id="{6FEF0A37-3647-40E4-BE0B-A25ACC56B2A9}"/>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Los defectos favorecen recombinación y reducen ganancia.</a:t>
            </a:r>
          </a:p>
        </p:txBody>
      </p:sp>
      <p:sp>
        <p:nvSpPr>
          <p:cNvPr id="4" name="">
            <a:extLst xmlns:a="http://schemas.openxmlformats.org/drawingml/2006/main">
              <a:ext uri="{FF2B5EF4-FFF2-40B4-BE49-F238E27FC236}">
                <a16:creationId xmlns:a16="http://schemas.microsoft.com/office/drawing/2014/main" id="{CD19E53B-DAB6-44E8-B518-B4652AB05F71}"/>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Sostener IC puede exigir más IB.</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También pueden producir pulsos.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ensayos y selección.</a:t>
            </a:r>
          </a:p>
        </p:txBody>
      </p:sp>
      <p:pic>
        <p:nvPicPr>
          <p:cNvPr id="5" name="">
            <a:extLst xmlns:a="http://schemas.openxmlformats.org/drawingml/2006/main">
              <a:ext uri="{FF2B5EF4-FFF2-40B4-BE49-F238E27FC236}">
                <a16:creationId xmlns:a16="http://schemas.microsoft.com/office/drawing/2014/main" id="{33C0A283-3E1B-4D2F-BAC4-3A0585CC1285}"/>
              </a:ext>
            </a:extLst>
          </p:cNvPr>
          <p:cNvPicPr>
            <a:picLocks xmlns:a="http://schemas.openxmlformats.org/drawingml/2006/main" noChangeAspect="1"/>
          </p:cNvPicPr>
          <p:nvPr/>
        </p:nvPicPr>
        <p:blipFill>
          <a:blip xmlns:r="http://schemas.openxmlformats.org/officeDocument/2006/relationships" xmlns:a="http://schemas.openxmlformats.org/drawingml/2006/main" r:embed="R08236cd36e9c45ec"/>
          <a:stretch xmlns:a="http://schemas.openxmlformats.org/drawingml/2006/main"/>
        </p:blipFill>
        <p:spPr>
          <a:xfrm xmlns:a="http://schemas.openxmlformats.org/drawingml/2006/main">
            <a:off x="6267450" y="3238199"/>
            <a:ext cx="5305425" cy="190560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E16DBC1-4B7D-4EC6-8489-0413734D350B}"/>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Sección de BJT NPN, JPL</a:t>
            </a:r>
          </a:p>
        </p:txBody>
      </p:sp>
    </p:spTree>
    <p:extLst>
      <p:ext uri="{BB962C8B-B14F-4D97-AF65-F5344CB8AC3E}">
        <p14:creationId xmlns:p14="http://schemas.microsoft.com/office/powerpoint/2010/main" val="157533265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9ED33D-B510-4F18-8EBB-9E5ADAAFA577}"/>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13</a:t>
            </a:r>
          </a:p>
        </p:txBody>
      </p:sp>
      <p:sp>
        <p:nvSpPr>
          <p:cNvPr id="2" name="">
            <a:extLst xmlns:a="http://schemas.openxmlformats.org/drawingml/2006/main">
              <a:ext uri="{FF2B5EF4-FFF2-40B4-BE49-F238E27FC236}">
                <a16:creationId xmlns:a16="http://schemas.microsoft.com/office/drawing/2014/main" id="{26628A4E-A8F9-45A3-A742-7399B263CB4F}"/>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MOS y CMOS</a:t>
            </a:r>
          </a:p>
        </p:txBody>
      </p:sp>
      <p:sp>
        <p:nvSpPr>
          <p:cNvPr id="3" name="">
            <a:extLst xmlns:a="http://schemas.openxmlformats.org/drawingml/2006/main">
              <a:ext uri="{FF2B5EF4-FFF2-40B4-BE49-F238E27FC236}">
                <a16:creationId xmlns:a16="http://schemas.microsoft.com/office/drawing/2014/main" id="{3F39CF1C-1A92-48B4-8354-1090D2858A89}"/>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carga atrapada altera el control del transistor.</a:t>
            </a:r>
          </a:p>
        </p:txBody>
      </p:sp>
      <p:sp>
        <p:nvSpPr>
          <p:cNvPr id="4" name="">
            <a:extLst xmlns:a="http://schemas.openxmlformats.org/drawingml/2006/main">
              <a:ext uri="{FF2B5EF4-FFF2-40B4-BE49-F238E27FC236}">
                <a16:creationId xmlns:a16="http://schemas.microsoft.com/office/drawing/2014/main" id="{45E711A4-D523-49ED-93B4-0EA20091E954}"/>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Cambian el umbral y las fugas.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La carga recogida genera pulsos.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RCA modificó el proceso del óxido.</a:t>
            </a:r>
          </a:p>
        </p:txBody>
      </p:sp>
      <p:pic>
        <p:nvPicPr>
          <p:cNvPr id="5" name="">
            <a:extLst xmlns:a="http://schemas.openxmlformats.org/drawingml/2006/main">
              <a:ext uri="{FF2B5EF4-FFF2-40B4-BE49-F238E27FC236}">
                <a16:creationId xmlns:a16="http://schemas.microsoft.com/office/drawing/2014/main" id="{AAB20A9E-D1A8-4D92-BEF1-5A3CFE5C51CF}"/>
              </a:ext>
            </a:extLst>
          </p:cNvPr>
          <p:cNvPicPr>
            <a:picLocks xmlns:a="http://schemas.openxmlformats.org/drawingml/2006/main" noChangeAspect="1"/>
          </p:cNvPicPr>
          <p:nvPr/>
        </p:nvPicPr>
        <p:blipFill>
          <a:blip xmlns:r="http://schemas.openxmlformats.org/officeDocument/2006/relationships" xmlns:a="http://schemas.openxmlformats.org/drawingml/2006/main" r:embed="Raac4d43a924047bb"/>
          <a:stretch xmlns:a="http://schemas.openxmlformats.org/drawingml/2006/main"/>
        </p:blipFill>
        <p:spPr>
          <a:xfrm xmlns:a="http://schemas.openxmlformats.org/drawingml/2006/main">
            <a:off x="7106306" y="2857500"/>
            <a:ext cx="3627713" cy="2667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8E43FE2-E4A6-40A8-A3CA-13092B01903B}"/>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Sección NMOS, ejemplo JPL</a:t>
            </a:r>
          </a:p>
        </p:txBody>
      </p:sp>
    </p:spTree>
    <p:extLst>
      <p:ext uri="{BB962C8B-B14F-4D97-AF65-F5344CB8AC3E}">
        <p14:creationId xmlns:p14="http://schemas.microsoft.com/office/powerpoint/2010/main" val="62468002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96BB8A-C4CB-44D9-A60A-113A1653D466}"/>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14</a:t>
            </a:r>
          </a:p>
        </p:txBody>
      </p:sp>
      <p:sp>
        <p:nvSpPr>
          <p:cNvPr id="2" name="">
            <a:extLst xmlns:a="http://schemas.openxmlformats.org/drawingml/2006/main">
              <a:ext uri="{FF2B5EF4-FFF2-40B4-BE49-F238E27FC236}">
                <a16:creationId xmlns:a16="http://schemas.microsoft.com/office/drawing/2014/main" id="{62D1F61D-246F-4958-B951-3274F9C15794}"/>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Analógico, lógica y memorias</a:t>
            </a:r>
          </a:p>
        </p:txBody>
      </p:sp>
      <p:sp>
        <p:nvSpPr>
          <p:cNvPr id="3" name="">
            <a:extLst xmlns:a="http://schemas.openxmlformats.org/drawingml/2006/main">
              <a:ext uri="{FF2B5EF4-FFF2-40B4-BE49-F238E27FC236}">
                <a16:creationId xmlns:a16="http://schemas.microsoft.com/office/drawing/2014/main" id="{DE313F27-B4B7-4B80-B624-75A7A8A9DD37}"/>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Un pulso breve puede dejar un estado incorrecto.</a:t>
            </a:r>
          </a:p>
        </p:txBody>
      </p:sp>
      <p:sp>
        <p:nvSpPr>
          <p:cNvPr id="4" name="">
            <a:extLst xmlns:a="http://schemas.openxmlformats.org/drawingml/2006/main">
              <a:ext uri="{FF2B5EF4-FFF2-40B4-BE49-F238E27FC236}">
                <a16:creationId xmlns:a16="http://schemas.microsoft.com/office/drawing/2014/main" id="{1ADFE217-FEEB-4758-BEC3-B1B716B577BA}"/>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El dispositivo puede seguir físicamente sano.</a:t>
            </a:r>
          </a:p>
        </p:txBody>
      </p:sp>
      <p:sp>
        <p:nvSpPr>
          <p:cNvPr id="5" name="">
            <a:extLst xmlns:a="http://schemas.openxmlformats.org/drawingml/2006/main">
              <a:ext uri="{FF2B5EF4-FFF2-40B4-BE49-F238E27FC236}">
                <a16:creationId xmlns:a16="http://schemas.microsoft.com/office/drawing/2014/main" id="{913B3B56-C42A-4168-AA0D-DA2D2138A264}"/>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Analógico: salida o lectura espuria.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Lógica y memoria: conmutación o dato alterado.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2: restauración de un bit en 2010.</a:t>
            </a:r>
          </a:p>
        </p:txBody>
      </p:sp>
    </p:spTree>
    <p:extLst>
      <p:ext uri="{BB962C8B-B14F-4D97-AF65-F5344CB8AC3E}">
        <p14:creationId xmlns:p14="http://schemas.microsoft.com/office/powerpoint/2010/main" val="61740767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759099-B8F0-4E77-A1F0-25FE55CC155C}"/>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15</a:t>
            </a:r>
          </a:p>
        </p:txBody>
      </p:sp>
      <p:sp>
        <p:nvSpPr>
          <p:cNvPr id="2" name="">
            <a:extLst xmlns:a="http://schemas.openxmlformats.org/drawingml/2006/main">
              <a:ext uri="{FF2B5EF4-FFF2-40B4-BE49-F238E27FC236}">
                <a16:creationId xmlns:a16="http://schemas.microsoft.com/office/drawing/2014/main" id="{94C15EB7-BB3A-41BD-82AC-BB8757441FC2}"/>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Bobinados, relés y conexiones</a:t>
            </a:r>
          </a:p>
        </p:txBody>
      </p:sp>
      <p:sp>
        <p:nvSpPr>
          <p:cNvPr id="3" name="">
            <a:extLst xmlns:a="http://schemas.openxmlformats.org/drawingml/2006/main">
              <a:ext uri="{FF2B5EF4-FFF2-40B4-BE49-F238E27FC236}">
                <a16:creationId xmlns:a16="http://schemas.microsoft.com/office/drawing/2014/main" id="{C66F13E6-E46F-4BCB-B001-71ACA53C43FE}"/>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El aislamiento también puede acumular carga o conducir.</a:t>
            </a:r>
          </a:p>
        </p:txBody>
      </p:sp>
      <p:sp>
        <p:nvSpPr>
          <p:cNvPr id="4" name="">
            <a:extLst xmlns:a="http://schemas.openxmlformats.org/drawingml/2006/main">
              <a:ext uri="{FF2B5EF4-FFF2-40B4-BE49-F238E27FC236}">
                <a16:creationId xmlns:a16="http://schemas.microsoft.com/office/drawing/2014/main" id="{22519D91-ECD5-401A-99ED-9B7D70CD686F}"/>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Una descarga puede perturbar una línea cercana.</a:t>
            </a:r>
          </a:p>
        </p:txBody>
      </p:sp>
      <p:sp>
        <p:nvSpPr>
          <p:cNvPr id="5" name="">
            <a:extLst xmlns:a="http://schemas.openxmlformats.org/drawingml/2006/main">
              <a:ext uri="{FF2B5EF4-FFF2-40B4-BE49-F238E27FC236}">
                <a16:creationId xmlns:a16="http://schemas.microsoft.com/office/drawing/2014/main" id="{24106E99-ACA8-4BE1-B627-D51AB30BF310}"/>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Una orden espuria puede accionar un relé sano.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Criterio general: calificar materiales y aislamientos.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materiales particulares no siempre identificados.</a:t>
            </a:r>
          </a:p>
        </p:txBody>
      </p:sp>
    </p:spTree>
    <p:extLst>
      <p:ext uri="{BB962C8B-B14F-4D97-AF65-F5344CB8AC3E}">
        <p14:creationId xmlns:p14="http://schemas.microsoft.com/office/powerpoint/2010/main" val="154639429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C26B64-2C35-4F9B-811D-5961EFF05B5F}"/>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16</a:t>
            </a:r>
          </a:p>
        </p:txBody>
      </p:sp>
      <p:sp>
        <p:nvSpPr>
          <p:cNvPr id="2" name="">
            <a:extLst xmlns:a="http://schemas.openxmlformats.org/drawingml/2006/main">
              <a:ext uri="{FF2B5EF4-FFF2-40B4-BE49-F238E27FC236}">
                <a16:creationId xmlns:a16="http://schemas.microsoft.com/office/drawing/2014/main" id="{85C06237-9733-4E10-A595-25863E423FF2}"/>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Detectores y cuarzo</a:t>
            </a:r>
          </a:p>
        </p:txBody>
      </p:sp>
      <p:sp>
        <p:nvSpPr>
          <p:cNvPr id="3" name="">
            <a:extLst xmlns:a="http://schemas.openxmlformats.org/drawingml/2006/main">
              <a:ext uri="{FF2B5EF4-FFF2-40B4-BE49-F238E27FC236}">
                <a16:creationId xmlns:a16="http://schemas.microsoft.com/office/drawing/2014/main" id="{7B699887-21B5-440F-8483-2B48F0397F26}"/>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En detectores, generar carga permite medir partículas.</a:t>
            </a:r>
          </a:p>
        </p:txBody>
      </p:sp>
      <p:sp>
        <p:nvSpPr>
          <p:cNvPr id="4" name="">
            <a:extLst xmlns:a="http://schemas.openxmlformats.org/drawingml/2006/main">
              <a:ext uri="{FF2B5EF4-FFF2-40B4-BE49-F238E27FC236}">
                <a16:creationId xmlns:a16="http://schemas.microsoft.com/office/drawing/2014/main" id="{EBA95A90-9831-4A81-89EF-67A1EE97F96A}"/>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Los defectos pueden cambiar su respuesta.</a:t>
            </a:r>
          </a:p>
        </p:txBody>
      </p:sp>
      <p:sp>
        <p:nvSpPr>
          <p:cNvPr id="5" name="">
            <a:extLst xmlns:a="http://schemas.openxmlformats.org/drawingml/2006/main">
              <a:ext uri="{FF2B5EF4-FFF2-40B4-BE49-F238E27FC236}">
                <a16:creationId xmlns:a16="http://schemas.microsoft.com/office/drawing/2014/main" id="{C755ACE1-4468-4F03-BCF0-3DCD8103E288}"/>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CRS: daño tras Júpiter y recalibración.</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Cuarzo: selección mediante ensayos de irradiación.</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El reloj también depende de su electrónica.</a:t>
            </a:r>
          </a:p>
        </p:txBody>
      </p:sp>
    </p:spTree>
    <p:extLst>
      <p:ext uri="{BB962C8B-B14F-4D97-AF65-F5344CB8AC3E}">
        <p14:creationId xmlns:p14="http://schemas.microsoft.com/office/powerpoint/2010/main" val="176581433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0A609CC-95B4-43D2-87AB-DF077BA4412F}"/>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17</a:t>
            </a:r>
          </a:p>
        </p:txBody>
      </p:sp>
      <p:sp>
        <p:nvSpPr>
          <p:cNvPr id="2" name="">
            <a:extLst xmlns:a="http://schemas.openxmlformats.org/drawingml/2006/main">
              <a:ext uri="{FF2B5EF4-FFF2-40B4-BE49-F238E27FC236}">
                <a16:creationId xmlns:a16="http://schemas.microsoft.com/office/drawing/2014/main" id="{50282D33-5EBC-4340-AA5D-1EEC049B9869}"/>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Cómo funcionan actualmente</a:t>
            </a:r>
          </a:p>
        </p:txBody>
      </p:sp>
      <p:sp>
        <p:nvSpPr>
          <p:cNvPr id="3" name="">
            <a:extLst xmlns:a="http://schemas.openxmlformats.org/drawingml/2006/main">
              <a:ext uri="{FF2B5EF4-FFF2-40B4-BE49-F238E27FC236}">
                <a16:creationId xmlns:a16="http://schemas.microsoft.com/office/drawing/2014/main" id="{544C0F5C-F3C9-4420-B594-73F8534CEBE3}"/>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Siguen produciendo ciencia con capacidades reducidas.</a:t>
            </a:r>
          </a:p>
        </p:txBody>
      </p:sp>
      <p:sp>
        <p:nvSpPr>
          <p:cNvPr id="4" name="">
            <a:extLst xmlns:a="http://schemas.openxmlformats.org/drawingml/2006/main">
              <a:ext uri="{FF2B5EF4-FFF2-40B4-BE49-F238E27FC236}">
                <a16:creationId xmlns:a16="http://schemas.microsoft.com/office/drawing/2014/main" id="{0D74C850-FD08-45C3-89E1-4DC051635EC1}"/>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Estado documentado al 14 de octubre de 2026.</a:t>
            </a:r>
          </a:p>
        </p:txBody>
      </p:sp>
      <p:sp>
        <p:nvSpPr>
          <p:cNvPr id="5" name="">
            <a:extLst xmlns:a="http://schemas.openxmlformats.org/drawingml/2006/main">
              <a:ext uri="{FF2B5EF4-FFF2-40B4-BE49-F238E27FC236}">
                <a16:creationId xmlns:a16="http://schemas.microsoft.com/office/drawing/2014/main" id="{CABA1824-96E4-4234-9F9B-AA674DBDB758}"/>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1: magnetómetro y ondas de plasma.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2: los anteriores y rayos cósmicos.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La energía disponible también limita la misión.</a:t>
            </a:r>
          </a:p>
        </p:txBody>
      </p:sp>
    </p:spTree>
    <p:extLst>
      <p:ext uri="{BB962C8B-B14F-4D97-AF65-F5344CB8AC3E}">
        <p14:creationId xmlns:p14="http://schemas.microsoft.com/office/powerpoint/2010/main" val="94775803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D88FD9B-7020-4BD5-8554-2FFDE045A6E1}"/>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18</a:t>
            </a:r>
          </a:p>
        </p:txBody>
      </p:sp>
      <p:sp>
        <p:nvSpPr>
          <p:cNvPr id="2" name="">
            <a:extLst xmlns:a="http://schemas.openxmlformats.org/drawingml/2006/main">
              <a:ext uri="{FF2B5EF4-FFF2-40B4-BE49-F238E27FC236}">
                <a16:creationId xmlns:a16="http://schemas.microsoft.com/office/drawing/2014/main" id="{C8DDBE88-DB13-41CD-8149-901735E160D2}"/>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Buenas prácticas y conclusión</a:t>
            </a:r>
          </a:p>
        </p:txBody>
      </p:sp>
      <p:sp>
        <p:nvSpPr>
          <p:cNvPr id="3" name="">
            <a:extLst xmlns:a="http://schemas.openxmlformats.org/drawingml/2006/main">
              <a:ext uri="{FF2B5EF4-FFF2-40B4-BE49-F238E27FC236}">
                <a16:creationId xmlns:a16="http://schemas.microsoft.com/office/drawing/2014/main" id="{1D9522FF-A3D5-4210-8215-A7893155CE22}"/>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tolerancia se construye en varios niveles.</a:t>
            </a:r>
          </a:p>
        </p:txBody>
      </p:sp>
      <p:sp>
        <p:nvSpPr>
          <p:cNvPr id="4" name="">
            <a:extLst xmlns:a="http://schemas.openxmlformats.org/drawingml/2006/main">
              <a:ext uri="{FF2B5EF4-FFF2-40B4-BE49-F238E27FC236}">
                <a16:creationId xmlns:a16="http://schemas.microsoft.com/office/drawing/2014/main" id="{EAE87D90-1675-4669-87C8-03406785C9BD}"/>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Cada medida reduce un problema diferente.</a:t>
            </a:r>
          </a:p>
        </p:txBody>
      </p:sp>
      <p:sp>
        <p:nvSpPr>
          <p:cNvPr id="5" name="">
            <a:extLst xmlns:a="http://schemas.openxmlformats.org/drawingml/2006/main">
              <a:ext uri="{FF2B5EF4-FFF2-40B4-BE49-F238E27FC236}">
                <a16:creationId xmlns:a16="http://schemas.microsoft.com/office/drawing/2014/main" id="{38301194-7C55-4336-B93B-ED8D402968A0}"/>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Seleccionar y ensayar con condiciones representativas.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Combinar fabricación, blindaje y márgenes eléctricos.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Prever redundancia, diagnóstico y recuperación operacional.</a:t>
            </a:r>
          </a:p>
        </p:txBody>
      </p:sp>
    </p:spTree>
    <p:extLst>
      <p:ext uri="{BB962C8B-B14F-4D97-AF65-F5344CB8AC3E}">
        <p14:creationId xmlns:p14="http://schemas.microsoft.com/office/powerpoint/2010/main" val="171480612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D251104-B167-4DA5-89CC-1B5DD9FA95AE}"/>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19</a:t>
            </a:r>
          </a:p>
        </p:txBody>
      </p:sp>
      <p:sp>
        <p:nvSpPr>
          <p:cNvPr id="2" name="">
            <a:extLst xmlns:a="http://schemas.openxmlformats.org/drawingml/2006/main">
              <a:ext uri="{FF2B5EF4-FFF2-40B4-BE49-F238E27FC236}">
                <a16:creationId xmlns:a16="http://schemas.microsoft.com/office/drawing/2014/main" id="{D2A47094-4525-4852-A33F-3038ACDD99D4}"/>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Bibliografía principal</a:t>
            </a:r>
          </a:p>
        </p:txBody>
      </p:sp>
      <p:sp>
        <p:nvSpPr>
          <p:cNvPr id="3" name="">
            <a:extLst xmlns:a="http://schemas.openxmlformats.org/drawingml/2006/main">
              <a:ext uri="{FF2B5EF4-FFF2-40B4-BE49-F238E27FC236}">
                <a16:creationId xmlns:a16="http://schemas.microsoft.com/office/drawing/2014/main" id="{37A7B290-4085-4AA4-83D1-64FD39DFF01F}"/>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JPL 77-41: programa de radiación, 1977–1978.</a:t>
            </a:r>
          </a:p>
        </p:txBody>
      </p:sp>
      <p:sp>
        <p:nvSpPr>
          <p:cNvPr id="4" name="">
            <a:extLst xmlns:a="http://schemas.openxmlformats.org/drawingml/2006/main">
              <a:ext uri="{FF2B5EF4-FFF2-40B4-BE49-F238E27FC236}">
                <a16:creationId xmlns:a16="http://schemas.microsoft.com/office/drawing/2014/main" id="{97C86644-0A04-498C-B3D2-1138AC8A58B5}"/>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NASA: Computers in Spaceflight, 1988.</a:t>
            </a:r>
          </a:p>
        </p:txBody>
      </p:sp>
      <p:sp>
        <p:nvSpPr>
          <p:cNvPr id="5" name="">
            <a:extLst xmlns:a="http://schemas.openxmlformats.org/drawingml/2006/main">
              <a:ext uri="{FF2B5EF4-FFF2-40B4-BE49-F238E27FC236}">
                <a16:creationId xmlns:a16="http://schemas.microsoft.com/office/drawing/2014/main" id="{3480C643-AF6B-468A-B016-5DE8DA5A337D}"/>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Scarf y Gurnett: instrumento PWS, 1977.</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NASA/NEPP: transitorios y dispositivos, 2005–2012.</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NASA: estado de Voyager, consulta 14/10/2026.</a:t>
            </a:r>
          </a:p>
        </p:txBody>
      </p:sp>
    </p:spTree>
    <p:extLst>
      <p:ext uri="{BB962C8B-B14F-4D97-AF65-F5344CB8AC3E}">
        <p14:creationId xmlns:p14="http://schemas.microsoft.com/office/powerpoint/2010/main" val="139430684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EF3B91-4BB9-4A31-B321-343E9EC9F4EA}"/>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20</a:t>
            </a:r>
          </a:p>
        </p:txBody>
      </p:sp>
      <p:sp>
        <p:nvSpPr>
          <p:cNvPr id="2" name="">
            <a:extLst xmlns:a="http://schemas.openxmlformats.org/drawingml/2006/main">
              <a:ext uri="{FF2B5EF4-FFF2-40B4-BE49-F238E27FC236}">
                <a16:creationId xmlns:a16="http://schemas.microsoft.com/office/drawing/2014/main" id="{06892FBE-E859-46BD-9ED2-DAF54964E7FA}"/>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Respaldo: curvas de BJT</a:t>
            </a:r>
          </a:p>
        </p:txBody>
      </p:sp>
      <p:sp>
        <p:nvSpPr>
          <p:cNvPr id="3" name="">
            <a:extLst xmlns:a="http://schemas.openxmlformats.org/drawingml/2006/main">
              <a:ext uri="{FF2B5EF4-FFF2-40B4-BE49-F238E27FC236}">
                <a16:creationId xmlns:a16="http://schemas.microsoft.com/office/drawing/2014/main" id="{D61A832E-0B1C-42D9-A47F-3B238682AADE}"/>
              </a:ext>
            </a:extLst>
          </p:cNvPr>
          <p:cNvSpPr>
            <a:spLocks xmlns:a="http://schemas.openxmlformats.org/drawingml/2006/main" noGrp="1"/>
          </p:cNvSpPr>
          <p:nvPr/>
        </p:nvSpPr>
        <p:spPr>
          <a:xfrm xmlns:a="http://schemas.openxmlformats.org/drawingml/2006/main">
            <a:off x="609600" y="13525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Aumentar Δ(1/hFE) significa perder ganancia.</a:t>
            </a:r>
          </a:p>
        </p:txBody>
      </p:sp>
      <p:pic>
        <p:nvPicPr>
          <p:cNvPr id="4" name="">
            <a:extLst xmlns:a="http://schemas.openxmlformats.org/drawingml/2006/main">
              <a:ext uri="{FF2B5EF4-FFF2-40B4-BE49-F238E27FC236}">
                <a16:creationId xmlns:a16="http://schemas.microsoft.com/office/drawing/2014/main" id="{C54369E7-5050-4255-B882-7035D9BB462A}"/>
              </a:ext>
            </a:extLst>
          </p:cNvPr>
          <p:cNvPicPr>
            <a:picLocks xmlns:a="http://schemas.openxmlformats.org/drawingml/2006/main" noChangeAspect="1"/>
          </p:cNvPicPr>
          <p:nvPr/>
        </p:nvPicPr>
        <p:blipFill>
          <a:blip xmlns:r="http://schemas.openxmlformats.org/officeDocument/2006/relationships" xmlns:a="http://schemas.openxmlformats.org/drawingml/2006/main" r:embed="R7757549d695a42e4"/>
          <a:stretch xmlns:a="http://schemas.openxmlformats.org/drawingml/2006/main"/>
        </p:blipFill>
        <p:spPr>
          <a:xfrm xmlns:a="http://schemas.openxmlformats.org/drawingml/2006/main">
            <a:off x="4818338" y="1971675"/>
            <a:ext cx="4079324" cy="3762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3C67698-1D8F-421A-A41F-F4C65526AA37}"/>
              </a:ext>
            </a:extLst>
          </p:cNvPr>
          <p:cNvSpPr>
            <a:spLocks xmlns:a="http://schemas.openxmlformats.org/drawingml/2006/main" noGrp="1"/>
          </p:cNvSpPr>
          <p:nvPr/>
        </p:nvSpPr>
        <p:spPr>
          <a:xfrm xmlns:a="http://schemas.openxmlformats.org/drawingml/2006/main">
            <a:off x="609600" y="309562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Δ(1/hFE)</a:t>
            </a:r>
          </a:p>
        </p:txBody>
      </p:sp>
      <p:sp>
        <p:nvSpPr>
          <p:cNvPr id="6" name="">
            <a:extLst xmlns:a="http://schemas.openxmlformats.org/drawingml/2006/main">
              <a:ext uri="{FF2B5EF4-FFF2-40B4-BE49-F238E27FC236}">
                <a16:creationId xmlns:a16="http://schemas.microsoft.com/office/drawing/2014/main" id="{C92281FE-93E6-4FD1-9CD3-6A0C75FFE02C}"/>
              </a:ext>
            </a:extLst>
          </p:cNvPr>
          <p:cNvSpPr>
            <a:spLocks xmlns:a="http://schemas.openxmlformats.org/drawingml/2006/main" noGrp="1"/>
          </p:cNvSpPr>
          <p:nvPr/>
        </p:nvSpPr>
        <p:spPr>
          <a:xfrm xmlns:a="http://schemas.openxmlformats.org/drawingml/2006/main">
            <a:off x="609600" y="37623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IC en mA</a:t>
            </a:r>
          </a:p>
        </p:txBody>
      </p:sp>
      <p:sp>
        <p:nvSpPr>
          <p:cNvPr id="7" name="">
            <a:extLst xmlns:a="http://schemas.openxmlformats.org/drawingml/2006/main">
              <a:ext uri="{FF2B5EF4-FFF2-40B4-BE49-F238E27FC236}">
                <a16:creationId xmlns:a16="http://schemas.microsoft.com/office/drawing/2014/main" id="{D488718E-E586-43BC-80D7-15EF67360FFD}"/>
              </a:ext>
            </a:extLst>
          </p:cNvPr>
          <p:cNvSpPr>
            <a:spLocks xmlns:a="http://schemas.openxmlformats.org/drawingml/2006/main" noGrp="1"/>
          </p:cNvSpPr>
          <p:nvPr/>
        </p:nvSpPr>
        <p:spPr>
          <a:xfrm xmlns:a="http://schemas.openxmlformats.org/drawingml/2006/main">
            <a:off x="609600" y="5791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Ensayo del programa Voyager, JPL 77-41</a:t>
            </a:r>
          </a:p>
        </p:txBody>
      </p:sp>
    </p:spTree>
    <p:extLst>
      <p:ext uri="{BB962C8B-B14F-4D97-AF65-F5344CB8AC3E}">
        <p14:creationId xmlns:p14="http://schemas.microsoft.com/office/powerpoint/2010/main" val="55503261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3AD119B-80D7-43AB-91A2-56D13E2D2CEE}"/>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21</a:t>
            </a:r>
          </a:p>
        </p:txBody>
      </p:sp>
      <p:sp>
        <p:nvSpPr>
          <p:cNvPr id="2" name="">
            <a:extLst xmlns:a="http://schemas.openxmlformats.org/drawingml/2006/main">
              <a:ext uri="{FF2B5EF4-FFF2-40B4-BE49-F238E27FC236}">
                <a16:creationId xmlns:a16="http://schemas.microsoft.com/office/drawing/2014/main" id="{80A70B87-1A3A-441D-928F-C52CEBFE7F1C}"/>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Respaldo: ensayo MOS</a:t>
            </a:r>
          </a:p>
        </p:txBody>
      </p:sp>
      <p:sp>
        <p:nvSpPr>
          <p:cNvPr id="3" name="">
            <a:extLst xmlns:a="http://schemas.openxmlformats.org/drawingml/2006/main">
              <a:ext uri="{FF2B5EF4-FFF2-40B4-BE49-F238E27FC236}">
                <a16:creationId xmlns:a16="http://schemas.microsoft.com/office/drawing/2014/main" id="{9ED748F7-9905-44B0-90BF-1D3AE15129EB}"/>
              </a:ext>
            </a:extLst>
          </p:cNvPr>
          <p:cNvSpPr>
            <a:spLocks xmlns:a="http://schemas.openxmlformats.org/drawingml/2006/main" noGrp="1"/>
          </p:cNvSpPr>
          <p:nvPr/>
        </p:nvSpPr>
        <p:spPr>
          <a:xfrm xmlns:a="http://schemas.openxmlformats.org/drawingml/2006/main">
            <a:off x="609600" y="13525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La irradiación modifica la característica de conducción.</a:t>
            </a:r>
          </a:p>
        </p:txBody>
      </p:sp>
      <p:pic>
        <p:nvPicPr>
          <p:cNvPr id="4" name="">
            <a:extLst xmlns:a="http://schemas.openxmlformats.org/drawingml/2006/main">
              <a:ext uri="{FF2B5EF4-FFF2-40B4-BE49-F238E27FC236}">
                <a16:creationId xmlns:a16="http://schemas.microsoft.com/office/drawing/2014/main" id="{6DADCBA3-4D8E-4B95-97C8-7C86C4CD94C8}"/>
              </a:ext>
            </a:extLst>
          </p:cNvPr>
          <p:cNvPicPr>
            <a:picLocks xmlns:a="http://schemas.openxmlformats.org/drawingml/2006/main" noChangeAspect="1"/>
          </p:cNvPicPr>
          <p:nvPr/>
        </p:nvPicPr>
        <p:blipFill>
          <a:blip xmlns:r="http://schemas.openxmlformats.org/officeDocument/2006/relationships" xmlns:a="http://schemas.openxmlformats.org/drawingml/2006/main" r:embed="R672062e0cdae4d5d"/>
          <a:stretch xmlns:a="http://schemas.openxmlformats.org/drawingml/2006/main"/>
        </p:blipFill>
        <p:spPr>
          <a:xfrm xmlns:a="http://schemas.openxmlformats.org/drawingml/2006/main">
            <a:off x="5756979" y="1971675"/>
            <a:ext cx="2202041" cy="3762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D2B21BB-651D-427D-B730-A3C5E67226DE}"/>
              </a:ext>
            </a:extLst>
          </p:cNvPr>
          <p:cNvSpPr>
            <a:spLocks xmlns:a="http://schemas.openxmlformats.org/drawingml/2006/main" noGrp="1"/>
          </p:cNvSpPr>
          <p:nvPr/>
        </p:nvSpPr>
        <p:spPr>
          <a:xfrm xmlns:a="http://schemas.openxmlformats.org/drawingml/2006/main">
            <a:off x="609600" y="309562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ID en µA</a:t>
            </a:r>
          </a:p>
        </p:txBody>
      </p:sp>
      <p:sp>
        <p:nvSpPr>
          <p:cNvPr id="6" name="">
            <a:extLst xmlns:a="http://schemas.openxmlformats.org/drawingml/2006/main">
              <a:ext uri="{FF2B5EF4-FFF2-40B4-BE49-F238E27FC236}">
                <a16:creationId xmlns:a16="http://schemas.microsoft.com/office/drawing/2014/main" id="{B42DDF83-A299-4CAE-9A16-DB7B6305E8E4}"/>
              </a:ext>
            </a:extLst>
          </p:cNvPr>
          <p:cNvSpPr>
            <a:spLocks xmlns:a="http://schemas.openxmlformats.org/drawingml/2006/main" noGrp="1"/>
          </p:cNvSpPr>
          <p:nvPr/>
        </p:nvSpPr>
        <p:spPr>
          <a:xfrm xmlns:a="http://schemas.openxmlformats.org/drawingml/2006/main">
            <a:off x="609600" y="37623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VG en V</a:t>
            </a:r>
          </a:p>
        </p:txBody>
      </p:sp>
      <p:sp>
        <p:nvSpPr>
          <p:cNvPr id="7" name="">
            <a:extLst xmlns:a="http://schemas.openxmlformats.org/drawingml/2006/main">
              <a:ext uri="{FF2B5EF4-FFF2-40B4-BE49-F238E27FC236}">
                <a16:creationId xmlns:a16="http://schemas.microsoft.com/office/drawing/2014/main" id="{DFB1C811-E838-4A2D-AF3C-A40A6C2E7D31}"/>
              </a:ext>
            </a:extLst>
          </p:cNvPr>
          <p:cNvSpPr>
            <a:spLocks xmlns:a="http://schemas.openxmlformats.org/drawingml/2006/main" noGrp="1"/>
          </p:cNvSpPr>
          <p:nvPr/>
        </p:nvSpPr>
        <p:spPr>
          <a:xfrm xmlns:a="http://schemas.openxmlformats.org/drawingml/2006/main">
            <a:off x="8858250" y="309562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Antes / 150 krad</a:t>
            </a:r>
          </a:p>
        </p:txBody>
      </p:sp>
      <p:sp>
        <p:nvSpPr>
          <p:cNvPr id="8" name="">
            <a:extLst xmlns:a="http://schemas.openxmlformats.org/drawingml/2006/main">
              <a:ext uri="{FF2B5EF4-FFF2-40B4-BE49-F238E27FC236}">
                <a16:creationId xmlns:a16="http://schemas.microsoft.com/office/drawing/2014/main" id="{09D1B9A4-9E86-469C-92BD-0734C072C855}"/>
              </a:ext>
            </a:extLst>
          </p:cNvPr>
          <p:cNvSpPr>
            <a:spLocks xmlns:a="http://schemas.openxmlformats.org/drawingml/2006/main" noGrp="1"/>
          </p:cNvSpPr>
          <p:nvPr/>
        </p:nvSpPr>
        <p:spPr>
          <a:xfrm xmlns:a="http://schemas.openxmlformats.org/drawingml/2006/main">
            <a:off x="609600" y="5791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Ensayo del programa Voyager, JPL 77-41</a:t>
            </a:r>
          </a:p>
        </p:txBody>
      </p:sp>
    </p:spTree>
    <p:extLst>
      <p:ext uri="{BB962C8B-B14F-4D97-AF65-F5344CB8AC3E}">
        <p14:creationId xmlns:p14="http://schemas.microsoft.com/office/powerpoint/2010/main" val="207319323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4A7B9B-18EE-4ABF-8564-3D4976B59344}"/>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22</a:t>
            </a:r>
          </a:p>
        </p:txBody>
      </p:sp>
      <p:sp>
        <p:nvSpPr>
          <p:cNvPr id="2" name="">
            <a:extLst xmlns:a="http://schemas.openxmlformats.org/drawingml/2006/main">
              <a:ext uri="{FF2B5EF4-FFF2-40B4-BE49-F238E27FC236}">
                <a16:creationId xmlns:a16="http://schemas.microsoft.com/office/drawing/2014/main" id="{F78F4F3B-A24D-4BF8-B3E1-698E74A58479}"/>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Respaldo: transitorio medido</a:t>
            </a:r>
          </a:p>
        </p:txBody>
      </p:sp>
      <p:sp>
        <p:nvSpPr>
          <p:cNvPr id="3" name="">
            <a:extLst xmlns:a="http://schemas.openxmlformats.org/drawingml/2006/main">
              <a:ext uri="{FF2B5EF4-FFF2-40B4-BE49-F238E27FC236}">
                <a16:creationId xmlns:a16="http://schemas.microsoft.com/office/drawing/2014/main" id="{4664FCFD-D832-45AC-AD67-561883078E8E}"/>
              </a:ext>
            </a:extLst>
          </p:cNvPr>
          <p:cNvSpPr>
            <a:spLocks xmlns:a="http://schemas.openxmlformats.org/drawingml/2006/main" noGrp="1"/>
          </p:cNvSpPr>
          <p:nvPr/>
        </p:nvSpPr>
        <p:spPr>
          <a:xfrm xmlns:a="http://schemas.openxmlformats.org/drawingml/2006/main">
            <a:off x="609600" y="13525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La salida puede recuperarse después del pulso.</a:t>
            </a:r>
          </a:p>
        </p:txBody>
      </p:sp>
      <p:pic>
        <p:nvPicPr>
          <p:cNvPr id="4" name="">
            <a:extLst xmlns:a="http://schemas.openxmlformats.org/drawingml/2006/main">
              <a:ext uri="{FF2B5EF4-FFF2-40B4-BE49-F238E27FC236}">
                <a16:creationId xmlns:a16="http://schemas.microsoft.com/office/drawing/2014/main" id="{CE41C679-B3AC-4605-B291-8D3BA81F5EA3}"/>
              </a:ext>
            </a:extLst>
          </p:cNvPr>
          <p:cNvPicPr>
            <a:picLocks xmlns:a="http://schemas.openxmlformats.org/drawingml/2006/main" noChangeAspect="1"/>
          </p:cNvPicPr>
          <p:nvPr/>
        </p:nvPicPr>
        <p:blipFill>
          <a:blip xmlns:r="http://schemas.openxmlformats.org/officeDocument/2006/relationships" xmlns:a="http://schemas.openxmlformats.org/drawingml/2006/main" r:embed="R1a2beebb060b4a6a"/>
          <a:stretch xmlns:a="http://schemas.openxmlformats.org/drawingml/2006/main"/>
        </p:blipFill>
        <p:spPr>
          <a:xfrm xmlns:a="http://schemas.openxmlformats.org/drawingml/2006/main">
            <a:off x="4123911" y="1971675"/>
            <a:ext cx="5468177" cy="3762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16A4539-23E3-4ADE-AA80-DF302571CF7C}"/>
              </a:ext>
            </a:extLst>
          </p:cNvPr>
          <p:cNvSpPr>
            <a:spLocks xmlns:a="http://schemas.openxmlformats.org/drawingml/2006/main" noGrp="1"/>
          </p:cNvSpPr>
          <p:nvPr/>
        </p:nvSpPr>
        <p:spPr>
          <a:xfrm xmlns:a="http://schemas.openxmlformats.org/drawingml/2006/main">
            <a:off x="609600" y="309562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Salida en V</a:t>
            </a:r>
          </a:p>
        </p:txBody>
      </p:sp>
      <p:sp>
        <p:nvSpPr>
          <p:cNvPr id="6" name="">
            <a:extLst xmlns:a="http://schemas.openxmlformats.org/drawingml/2006/main">
              <a:ext uri="{FF2B5EF4-FFF2-40B4-BE49-F238E27FC236}">
                <a16:creationId xmlns:a16="http://schemas.microsoft.com/office/drawing/2014/main" id="{F659E1B8-1540-477E-A5E5-F80F1262FFB7}"/>
              </a:ext>
            </a:extLst>
          </p:cNvPr>
          <p:cNvSpPr>
            <a:spLocks xmlns:a="http://schemas.openxmlformats.org/drawingml/2006/main" noGrp="1"/>
          </p:cNvSpPr>
          <p:nvPr/>
        </p:nvSpPr>
        <p:spPr>
          <a:xfrm xmlns:a="http://schemas.openxmlformats.org/drawingml/2006/main">
            <a:off x="609600" y="376237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Tiempo en s</a:t>
            </a:r>
          </a:p>
        </p:txBody>
      </p:sp>
      <p:sp>
        <p:nvSpPr>
          <p:cNvPr id="7" name="">
            <a:extLst xmlns:a="http://schemas.openxmlformats.org/drawingml/2006/main">
              <a:ext uri="{FF2B5EF4-FFF2-40B4-BE49-F238E27FC236}">
                <a16:creationId xmlns:a16="http://schemas.microsoft.com/office/drawing/2014/main" id="{FCD8B36D-DB65-41BE-A15C-E07037CE516A}"/>
              </a:ext>
            </a:extLst>
          </p:cNvPr>
          <p:cNvSpPr>
            <a:spLocks xmlns:a="http://schemas.openxmlformats.org/drawingml/2006/main" noGrp="1"/>
          </p:cNvSpPr>
          <p:nvPr/>
        </p:nvSpPr>
        <p:spPr>
          <a:xfrm xmlns:a="http://schemas.openxmlformats.org/drawingml/2006/main">
            <a:off x="609600" y="5791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NASA/NEPP, circuito lineal ajeno a Voyager</a:t>
            </a:r>
          </a:p>
        </p:txBody>
      </p:sp>
    </p:spTree>
    <p:extLst>
      <p:ext uri="{BB962C8B-B14F-4D97-AF65-F5344CB8AC3E}">
        <p14:creationId xmlns:p14="http://schemas.microsoft.com/office/powerpoint/2010/main" val="166585329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1771FC-DCC5-4026-8D04-3BE12EC427E9}"/>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23</a:t>
            </a:r>
          </a:p>
        </p:txBody>
      </p:sp>
      <p:sp>
        <p:nvSpPr>
          <p:cNvPr id="2" name="">
            <a:extLst xmlns:a="http://schemas.openxmlformats.org/drawingml/2006/main">
              <a:ext uri="{FF2B5EF4-FFF2-40B4-BE49-F238E27FC236}">
                <a16:creationId xmlns:a16="http://schemas.microsoft.com/office/drawing/2014/main" id="{A262452C-A12D-4911-8237-319217AB372A}"/>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Respaldo: condiciones de ensayo</a:t>
            </a:r>
          </a:p>
        </p:txBody>
      </p:sp>
      <p:sp>
        <p:nvSpPr>
          <p:cNvPr id="3" name="">
            <a:extLst xmlns:a="http://schemas.openxmlformats.org/drawingml/2006/main">
              <a:ext uri="{FF2B5EF4-FFF2-40B4-BE49-F238E27FC236}">
                <a16:creationId xmlns:a16="http://schemas.microsoft.com/office/drawing/2014/main" id="{5140BD91-997C-453B-972E-BA92839B5351}"/>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Los resultados corresponden a muestras y condiciones concretas.</a:t>
            </a:r>
          </a:p>
        </p:txBody>
      </p:sp>
      <p:sp>
        <p:nvSpPr>
          <p:cNvPr id="4" name="">
            <a:extLst xmlns:a="http://schemas.openxmlformats.org/drawingml/2006/main">
              <a:ext uri="{FF2B5EF4-FFF2-40B4-BE49-F238E27FC236}">
                <a16:creationId xmlns:a16="http://schemas.microsoft.com/office/drawing/2014/main" id="{A2BB1B63-E977-48CA-A7BE-466AFF271D34}"/>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Fluencia y dosis no son la misma magnitud.</a:t>
            </a:r>
          </a:p>
        </p:txBody>
      </p:sp>
      <p:sp>
        <p:nvSpPr>
          <p:cNvPr id="5" name="">
            <a:extLst xmlns:a="http://schemas.openxmlformats.org/drawingml/2006/main">
              <a:ext uri="{FF2B5EF4-FFF2-40B4-BE49-F238E27FC236}">
                <a16:creationId xmlns:a16="http://schemas.microsoft.com/office/drawing/2014/main" id="{64C75AD3-7ADB-4203-AD6E-7E6ECE0DBD17}"/>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Dale: ±0,01 % tras 10¹³ electrones/cm².</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B11B: −5/−12 pF tras 5 × 10¹² electrones/cm².</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Valores iniciales B11B: 0,02 y 0,05 µF.</a:t>
            </a:r>
          </a:p>
        </p:txBody>
      </p:sp>
    </p:spTree>
    <p:extLst>
      <p:ext uri="{BB962C8B-B14F-4D97-AF65-F5344CB8AC3E}">
        <p14:creationId xmlns:p14="http://schemas.microsoft.com/office/powerpoint/2010/main" val="21183052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2026-10-15T13:17:17.0360000Z</dcterms:created>
  <dcterms:modified xsi:type="dcterms:W3CDTF">2026-10-15T13:17:17.0360000Z</dcterms:modified>
</coreProperties>
</file>