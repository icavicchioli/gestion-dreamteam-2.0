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cb832aea024d94" /><Relationship Type="http://schemas.openxmlformats.org/officeDocument/2006/relationships/extended-properties" Target="/docProps/app.xml" Id="R345eb1ad36914009" /><Relationship Type="http://schemas.openxmlformats.org/officeDocument/2006/relationships/officeDocument" Target="/ppt/presentation.xml" Id="R6f3b1043862f480d" /></Relationships>
</file>

<file path=ppt/presentation.xml><?xml version="1.0" encoding="utf-8"?>
<p:presentation xmlns:p="http://schemas.openxmlformats.org/presentationml/2006/main">
  <p:sldMasterIdLst>
    <p:sldMasterId xmlns:r="http://schemas.openxmlformats.org/officeDocument/2006/relationships" id="2147483648" r:id="R2c02e1a7a3b74b71"/>
  </p:sldMasterIdLst>
  <p:notesMasterIdLst>
    <p:notesMasterId xmlns:r="http://schemas.openxmlformats.org/officeDocument/2006/relationships" r:id="Rdbb010c271bc4846"/>
  </p:notesMasterIdLst>
  <p:sldIdLst>
    <p:sldId xmlns:r="http://schemas.openxmlformats.org/officeDocument/2006/relationships" id="256" r:id="R128f5f7317674961"/>
    <p:sldId xmlns:r="http://schemas.openxmlformats.org/officeDocument/2006/relationships" id="257" r:id="R898d563bdc8f488a"/>
    <p:sldId xmlns:r="http://schemas.openxmlformats.org/officeDocument/2006/relationships" id="258" r:id="R6bdcfe9a65c045ab"/>
    <p:sldId xmlns:r="http://schemas.openxmlformats.org/officeDocument/2006/relationships" id="259" r:id="R46937b145c454eaf"/>
    <p:sldId xmlns:r="http://schemas.openxmlformats.org/officeDocument/2006/relationships" id="260" r:id="R8592d4a55f884f33"/>
    <p:sldId xmlns:r="http://schemas.openxmlformats.org/officeDocument/2006/relationships" id="261" r:id="R50dbd6416f1e4dd7"/>
    <p:sldId xmlns:r="http://schemas.openxmlformats.org/officeDocument/2006/relationships" id="262" r:id="Rd951325230e64695"/>
    <p:sldId xmlns:r="http://schemas.openxmlformats.org/officeDocument/2006/relationships" id="263" r:id="R9a0b171eac8347cf"/>
    <p:sldId xmlns:r="http://schemas.openxmlformats.org/officeDocument/2006/relationships" id="264" r:id="R770aa950e39e4b9c"/>
    <p:sldId xmlns:r="http://schemas.openxmlformats.org/officeDocument/2006/relationships" id="265" r:id="R568be4644e644092"/>
    <p:sldId xmlns:r="http://schemas.openxmlformats.org/officeDocument/2006/relationships" id="266" r:id="Rbfc23241b1984c8a"/>
    <p:sldId xmlns:r="http://schemas.openxmlformats.org/officeDocument/2006/relationships" id="267" r:id="Rbad7133c64bd47e1"/>
    <p:sldId xmlns:r="http://schemas.openxmlformats.org/officeDocument/2006/relationships" id="268" r:id="R2367a37380ba406c"/>
    <p:sldId xmlns:r="http://schemas.openxmlformats.org/officeDocument/2006/relationships" id="269" r:id="R0823117cba24410f"/>
    <p:sldId xmlns:r="http://schemas.openxmlformats.org/officeDocument/2006/relationships" id="270" r:id="R0c584479d0244f7f"/>
    <p:sldId xmlns:r="http://schemas.openxmlformats.org/officeDocument/2006/relationships" id="271" r:id="R8b4f63ca98ab414d"/>
    <p:sldId xmlns:r="http://schemas.openxmlformats.org/officeDocument/2006/relationships" id="272" r:id="Rca9471f602c849b9"/>
    <p:sldId xmlns:r="http://schemas.openxmlformats.org/officeDocument/2006/relationships" id="273" r:id="Rcc4f7b53a0844c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95ebbdf4db40b3" /><Relationship Type="http://schemas.openxmlformats.org/officeDocument/2006/relationships/slideMaster" Target="/ppt/slideMasters/slideMaster1.xml" Id="R2c02e1a7a3b74b71" /><Relationship Type="http://schemas.openxmlformats.org/officeDocument/2006/relationships/notesMaster" Target="/ppt/notesMasters/notesMaster1.xml" Id="Rdbb010c271bc4846" /><Relationship Type="http://schemas.openxmlformats.org/officeDocument/2006/relationships/presProps" Target="/ppt/presProps.xml" Id="Rf879e286cdd24bed" /><Relationship Type="http://schemas.openxmlformats.org/officeDocument/2006/relationships/tableStyles" Target="/ppt/tableStyles.xml" Id="R834b6f44a53e4c58" /><Relationship Type="http://schemas.openxmlformats.org/officeDocument/2006/relationships/slide" Target="/ppt/slides/slide1.xml" Id="R128f5f7317674961" /><Relationship Type="http://schemas.openxmlformats.org/officeDocument/2006/relationships/slide" Target="/ppt/slides/slide2.xml" Id="R898d563bdc8f488a" /><Relationship Type="http://schemas.openxmlformats.org/officeDocument/2006/relationships/slide" Target="/ppt/slides/slide3.xml" Id="R6bdcfe9a65c045ab" /><Relationship Type="http://schemas.openxmlformats.org/officeDocument/2006/relationships/slide" Target="/ppt/slides/slide4.xml" Id="R46937b145c454eaf" /><Relationship Type="http://schemas.openxmlformats.org/officeDocument/2006/relationships/slide" Target="/ppt/slides/slide5.xml" Id="R8592d4a55f884f33" /><Relationship Type="http://schemas.openxmlformats.org/officeDocument/2006/relationships/slide" Target="/ppt/slides/slide6.xml" Id="R50dbd6416f1e4dd7" /><Relationship Type="http://schemas.openxmlformats.org/officeDocument/2006/relationships/slide" Target="/ppt/slides/slide7.xml" Id="Rd951325230e64695" /><Relationship Type="http://schemas.openxmlformats.org/officeDocument/2006/relationships/slide" Target="/ppt/slides/slide8.xml" Id="R9a0b171eac8347cf" /><Relationship Type="http://schemas.openxmlformats.org/officeDocument/2006/relationships/slide" Target="/ppt/slides/slide9.xml" Id="R770aa950e39e4b9c" /><Relationship Type="http://schemas.openxmlformats.org/officeDocument/2006/relationships/slide" Target="/ppt/slides/slide10.xml" Id="R568be4644e644092" /><Relationship Type="http://schemas.openxmlformats.org/officeDocument/2006/relationships/slide" Target="/ppt/slides/slide11.xml" Id="Rbfc23241b1984c8a" /><Relationship Type="http://schemas.openxmlformats.org/officeDocument/2006/relationships/slide" Target="/ppt/slides/slide12.xml" Id="Rbad7133c64bd47e1" /><Relationship Type="http://schemas.openxmlformats.org/officeDocument/2006/relationships/slide" Target="/ppt/slides/slide13.xml" Id="R2367a37380ba406c" /><Relationship Type="http://schemas.openxmlformats.org/officeDocument/2006/relationships/slide" Target="/ppt/slides/slide14.xml" Id="R0823117cba24410f" /><Relationship Type="http://schemas.openxmlformats.org/officeDocument/2006/relationships/slide" Target="/ppt/slides/slide15.xml" Id="R0c584479d0244f7f" /><Relationship Type="http://schemas.openxmlformats.org/officeDocument/2006/relationships/slide" Target="/ppt/slides/slide16.xml" Id="R8b4f63ca98ab414d" /><Relationship Type="http://schemas.openxmlformats.org/officeDocument/2006/relationships/slide" Target="/ppt/slides/slide17.xml" Id="Rca9471f602c849b9" /><Relationship Type="http://schemas.openxmlformats.org/officeDocument/2006/relationships/slide" Target="/ppt/slides/slide18.xml" Id="Rcc4f7b53a0844c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2fe38422ba40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c3595667ac43bc" /><Relationship Type="http://schemas.openxmlformats.org/officeDocument/2006/relationships/notesMaster" Target="/ppt/notesMasters/notesMaster1.xml" Id="Rbd6e5f8caffd4c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5d8994fe7847e4" /><Relationship Type="http://schemas.openxmlformats.org/officeDocument/2006/relationships/notesMaster" Target="/ppt/notesMasters/notesMaster1.xml" Id="R44b1439c43ac46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10f7683d21456a" /><Relationship Type="http://schemas.openxmlformats.org/officeDocument/2006/relationships/notesMaster" Target="/ppt/notesMasters/notesMaster1.xml" Id="R786dab9bcf6344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4481e6a41343ee" /><Relationship Type="http://schemas.openxmlformats.org/officeDocument/2006/relationships/notesMaster" Target="/ppt/notesMasters/notesMaster1.xml" Id="R95054b53fa1f4b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9e41faf88548b5" /><Relationship Type="http://schemas.openxmlformats.org/officeDocument/2006/relationships/notesMaster" Target="/ppt/notesMasters/notesMaster1.xml" Id="R2c0cf249100946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1259dbba2448a8" /><Relationship Type="http://schemas.openxmlformats.org/officeDocument/2006/relationships/notesMaster" Target="/ppt/notesMasters/notesMaster1.xml" Id="Re7c0068f11844b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e0dcb83f094de5" /><Relationship Type="http://schemas.openxmlformats.org/officeDocument/2006/relationships/notesMaster" Target="/ppt/notesMasters/notesMaster1.xml" Id="R7df74a00d52146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6088c0e02a40d2" /><Relationship Type="http://schemas.openxmlformats.org/officeDocument/2006/relationships/notesMaster" Target="/ppt/notesMasters/notesMaster1.xml" Id="Rdefbb0a2b46846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2551af878f4fe3" /><Relationship Type="http://schemas.openxmlformats.org/officeDocument/2006/relationships/notesMaster" Target="/ppt/notesMasters/notesMaster1.xml" Id="R8e4fc2ea916c431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5a76e4a4dd40c8" /><Relationship Type="http://schemas.openxmlformats.org/officeDocument/2006/relationships/notesMaster" Target="/ppt/notesMasters/notesMaster1.xml" Id="R9ace8ada588c42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9246a39d684388" /><Relationship Type="http://schemas.openxmlformats.org/officeDocument/2006/relationships/notesMaster" Target="/ppt/notesMasters/notesMaster1.xml" Id="Rb884e44d4ae149f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82296e209b49b0" /><Relationship Type="http://schemas.openxmlformats.org/officeDocument/2006/relationships/notesMaster" Target="/ppt/notesMasters/notesMaster1.xml" Id="R42d289910fcf42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8a46ddff33410d" /><Relationship Type="http://schemas.openxmlformats.org/officeDocument/2006/relationships/notesMaster" Target="/ppt/notesMasters/notesMaster1.xml" Id="R4cc6770b384f4ea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5685777ad4e42b4" /><Relationship Type="http://schemas.openxmlformats.org/officeDocument/2006/relationships/notesMaster" Target="/ppt/notesMasters/notesMaster1.xml" Id="R731295655fdc471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3f96c95131c49e5" /><Relationship Type="http://schemas.openxmlformats.org/officeDocument/2006/relationships/notesMaster" Target="/ppt/notesMasters/notesMaster1.xml" Id="Rc53cec5b9c9b4e6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06b8c5215f54fb4" /><Relationship Type="http://schemas.openxmlformats.org/officeDocument/2006/relationships/notesMaster" Target="/ppt/notesMasters/notesMaster1.xml" Id="R618a1d4464d4490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fc960b2b3b24a4c" /><Relationship Type="http://schemas.openxmlformats.org/officeDocument/2006/relationships/notesMaster" Target="/ppt/notesMasters/notesMaster1.xml" Id="R45d7b7e535dd476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9a6170c36d646cc" /><Relationship Type="http://schemas.openxmlformats.org/officeDocument/2006/relationships/notesMaster" Target="/ppt/notesMasters/notesMaster1.xml" Id="R95e678b3fd2546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0:30</a:t>
            </a:r>
          </a:p>
          <a:p xmlns:a="http://schemas.openxmlformats.org/drawingml/2006/main">
            <a:r>
              <a:t/>
            </a:r>
          </a:p>
          <a:p xmlns:a="http://schemas.openxmlformats.org/drawingml/2006/main">
            <a:r>
              <a:t>APOYO ORAL</a:t>
            </a:r>
          </a:p>
          <a:p xmlns:a="http://schemas.openxmlformats.org/drawingml/2006/main">
            <a:r>
              <a:t>La pregunta es qué decisiones ayudaron a que la electrónica pudiera continuar funcionando. Vamos a seguir un informe real del JPL: el programa de radiación de componentes de Voyager, publicado en 1977. Nos interesa entender el problema, la respuesta del componente y la decisión que tomaron. El documento explica la preparación de la misión; su longevidad posterior nos sirve como punto de partida.</a:t>
            </a:r>
          </a:p>
          <a:p xmlns:a="http://schemas.openxmlformats.org/drawingml/2006/main">
            <a:r>
              <a:t/>
            </a:r>
          </a:p>
          <a:p xmlns:a="http://schemas.openxmlformats.org/drawingml/2006/main">
            <a:r>
              <a:t>FIGURA Y ALCANCE</a:t>
            </a:r>
          </a:p>
          <a:p xmlns:a="http://schemas.openxmlformats.org/drawingml/2006/main">
            <a:r>
              <a:t>Vista de Voyager · NASA/JPL</a:t>
            </a:r>
          </a:p>
          <a:p xmlns:a="http://schemas.openxmlformats.org/drawingml/2006/main">
            <a:r>
              <a:t>Vista de Voyager · NASA/JPL</a:t>
            </a:r>
          </a:p>
          <a:p xmlns:a="http://schemas.openxmlformats.org/drawingml/2006/main">
            <a:r>
              <a:t>NASA/JPL, spacecraft-profile-3</a:t>
            </a:r>
          </a:p>
          <a:p xmlns:a="http://schemas.openxmlformats.org/drawingml/2006/main">
            <a:r>
              <a:t>https://science.nasa.gov/image-detail/spacecraft-profile-3/</a:t>
            </a:r>
          </a:p>
          <a:p xmlns:a="http://schemas.openxmlformats.org/drawingml/2006/main">
            <a:r>
              <a:t/>
            </a:r>
          </a:p>
          <a:p xmlns:a="http://schemas.openxmlformats.org/drawingml/2006/main">
            <a:r>
              <a:t>FUENTES Y LOCALIZADORES</a:t>
            </a:r>
          </a:p>
          <a:p xmlns:a="http://schemas.openxmlformats.org/drawingml/2006/main">
            <a:r>
              <a:t>§I, p. 1-1 / PDF 24; portada y ficha bibliográfica.</a:t>
            </a:r>
          </a:p>
          <a:p xmlns:a="http://schemas.openxmlformats.org/drawingml/2006/main">
            <a:r>
              <a:t/>
            </a:r>
          </a:p>
          <a:p xmlns:a="http://schemas.openxmlformats.org/drawingml/2006/main">
            <a:r>
              <a:t>JPL: Voyager Electronic Parts Radiation Program, Volume I: Final Report</a:t>
            </a:r>
          </a:p>
          <a:p xmlns:a="http://schemas.openxmlformats.org/drawingml/2006/main">
            <a:r>
              <a:t>https://ntrs.nasa.gov/api/citations/19780007219/downloads/19780007219.pdf</a:t>
            </a:r>
          </a:p>
          <a:p xmlns:a="http://schemas.openxmlformats.org/drawingml/2006/main">
            <a:r>
              <a:t/>
            </a:r>
          </a:p>
          <a:p xmlns:a="http://schemas.openxmlformats.org/drawingml/2006/main">
            <a:r>
              <a:t>H1: 45 Years Ago: Voyager 1 Begins its Epic Journey to the Outer Planets and Beyond</a:t>
            </a:r>
          </a:p>
          <a:p xmlns:a="http://schemas.openxmlformats.org/drawingml/2006/main">
            <a:r>
              <a:t>https://www.nasa.gov/history/45-years-ago-voyager-1-begins-its-epic-journey-to-the-outer-planets-and-beyond/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1:05</a:t>
            </a:r>
          </a:p>
          <a:p xmlns:a="http://schemas.openxmlformats.org/drawingml/2006/main">
            <a:r>
              <a:t/>
            </a:r>
          </a:p>
          <a:p xmlns:a="http://schemas.openxmlformats.org/drawingml/2006/main">
            <a:r>
              <a:t>APOYO ORAL</a:t>
            </a:r>
          </a:p>
          <a:p xmlns:a="http://schemas.openxmlformats.org/drawingml/2006/main">
            <a:r>
              <a:t>La aprobación del proyecto fue en 1972, unos cinco años antes de los lanzamientos, con estudios previos que venían de antes. Las dos llevan 49 años desde el lanzamiento al 16 de octubre de 2026. El mapa muestra los encuentros, no sus posiciones actuales. Para la escala de distancia usamos un comunicado fechado: más de 25.000 millones de kilómetros a la Tierra para Voyager 1 y más de 21.000 millones para Voyager 2, en marzo de 2025. Distancia a la Tierra no es recorrido acumulado.</a:t>
            </a:r>
          </a:p>
          <a:p xmlns:a="http://schemas.openxmlformats.org/drawingml/2006/main">
            <a:r>
              <a:t/>
            </a:r>
          </a:p>
          <a:p xmlns:a="http://schemas.openxmlformats.org/drawingml/2006/main">
            <a:r>
              <a:t>FIGURA Y ALCANCE</a:t>
            </a:r>
          </a:p>
          <a:p xmlns:a="http://schemas.openxmlformats.org/drawingml/2006/main">
            <a:r>
              <a:t>Trayectorias históricas · NASA. No muestra posiciones actuales.</a:t>
            </a:r>
          </a:p>
          <a:p xmlns:a="http://schemas.openxmlformats.org/drawingml/2006/main">
            <a:r>
              <a:t>Trayectorias históricas · NASA. No muestra posiciones actuales.</a:t>
            </a:r>
          </a:p>
          <a:p xmlns:a="http://schemas.openxmlformats.org/drawingml/2006/main">
            <a:r>
              <a:t>NASA, historia de Voyager 1 (S37)</a:t>
            </a:r>
          </a:p>
          <a:p xmlns:a="http://schemas.openxmlformats.org/drawingml/2006/main">
            <a:r>
              <a:t>https://www.nasa.gov/wp-content/uploads/2022/09/voyager_1_6_trajectories_lightened.png</a:t>
            </a:r>
          </a:p>
          <a:p xmlns:a="http://schemas.openxmlformats.org/drawingml/2006/main">
            <a:r>
              <a:t/>
            </a:r>
          </a:p>
          <a:p xmlns:a="http://schemas.openxmlformats.org/drawingml/2006/main">
            <a:r>
              <a:t>FUENTES Y LOCALIZADORES</a:t>
            </a:r>
          </a:p>
          <a:p xmlns:a="http://schemas.openxmlformats.org/drawingml/2006/main">
            <a:r>
              <a:t>H1: historia NASA; H2: comunicado de 05/03/2025.</a:t>
            </a:r>
          </a:p>
          <a:p xmlns:a="http://schemas.openxmlformats.org/drawingml/2006/main">
            <a:r>
              <a:t/>
            </a:r>
          </a:p>
          <a:p xmlns:a="http://schemas.openxmlformats.org/drawingml/2006/main">
            <a:r>
              <a:t>H1: 45 Years Ago: Voyager 1 Begins its Epic Journey to the Outer Planets and Beyond</a:t>
            </a:r>
          </a:p>
          <a:p xmlns:a="http://schemas.openxmlformats.org/drawingml/2006/main">
            <a:r>
              <a:t>https://www.nasa.gov/history/45-years-ago-voyager-1-begins-its-epic-journey-to-the-outer-planets-and-beyond/</a:t>
            </a:r>
          </a:p>
          <a:p xmlns:a="http://schemas.openxmlformats.org/drawingml/2006/main">
            <a:r>
              <a:t/>
            </a:r>
          </a:p>
          <a:p xmlns:a="http://schemas.openxmlformats.org/drawingml/2006/main">
            <a:r>
              <a:t>H2: NASA Turns Off 2 Voyager Science Instruments to Extend Mission</a:t>
            </a:r>
          </a:p>
          <a:p xmlns:a="http://schemas.openxmlformats.org/drawingml/2006/main">
            <a:r>
              <a:t>https://science.nasa.gov/blogs/voyager/2025/03/05/nasa-turns-off-2-voyager-science-instruments-to-extend-mission/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0:55</a:t>
            </a:r>
          </a:p>
          <a:p xmlns:a="http://schemas.openxmlformats.org/drawingml/2006/main">
            <a:r>
              <a:t/>
            </a:r>
          </a:p>
          <a:p xmlns:a="http://schemas.openxmlformats.org/drawingml/2006/main">
            <a:r>
              <a:t>APOYO ORAL</a:t>
            </a:r>
          </a:p>
          <a:p xmlns:a="http://schemas.openxmlformats.org/drawingml/2006/main">
            <a:r>
              <a:t>Las sondas anteriores eran Pioneer 10 y 11. Midieron poblaciones de electrones y protones atrapadas en el campo de Júpiter. El informe cuenta que hubo que endurecer el diseño heredado de Mariner con poco tiempo disponible. Cumplir los requisitos de vacío o vibración no aseguraba que los parámetros eléctricos resistieran esa exposición. No hace falta dramatizarlo como una sentencia de destrucción: el documento habla de un riesgo capaz de comprometer la electrónica y de un programa para resolverlo.</a:t>
            </a:r>
          </a:p>
          <a:p xmlns:a="http://schemas.openxmlformats.org/drawingml/2006/main">
            <a:r>
              <a:t/>
            </a:r>
          </a:p>
          <a:p xmlns:a="http://schemas.openxmlformats.org/drawingml/2006/main">
            <a:r>
              <a:t>FIGURA Y ALCANCE</a:t>
            </a:r>
          </a:p>
          <a:p xmlns:a="http://schemas.openxmlformats.org/drawingml/2006/main">
            <a:r>
              <a:t>Cinturones internos de Júpiter · imagen de contexto NASA/JPL, posterior al informe.</a:t>
            </a:r>
          </a:p>
          <a:p xmlns:a="http://schemas.openxmlformats.org/drawingml/2006/main">
            <a:r>
              <a:t>Cinturones internos de Júpiter · imagen de contexto NASA/JPL, posterior al informe.</a:t>
            </a:r>
          </a:p>
          <a:p xmlns:a="http://schemas.openxmlformats.org/drawingml/2006/main">
            <a:r>
              <a:t>Recorte ya existente de imagen NASA/JPL/Cassini</a:t>
            </a:r>
          </a:p>
          <a:p xmlns:a="http://schemas.openxmlformats.org/drawingml/2006/main">
            <a:r>
              <a:t>https://science.nasa.gov/photojournal/inner-radiation-belts-of-jupiter/</a:t>
            </a:r>
          </a:p>
          <a:p xmlns:a="http://schemas.openxmlformats.org/drawingml/2006/main">
            <a:r>
              <a:t/>
            </a:r>
          </a:p>
          <a:p xmlns:a="http://schemas.openxmlformats.org/drawingml/2006/main">
            <a:r>
              <a:t>FUENTES Y LOCALIZADORES</a:t>
            </a:r>
          </a:p>
          <a:p xmlns:a="http://schemas.openxmlformats.org/drawingml/2006/main">
            <a:r>
              <a:t>§I; §III.A-B; §VI.A, p. 6-1 / PDF 81; §IX.A.</a:t>
            </a:r>
          </a:p>
          <a:p xmlns:a="http://schemas.openxmlformats.org/drawingml/2006/main">
            <a:r>
              <a:t/>
            </a:r>
          </a:p>
          <a:p xmlns:a="http://schemas.openxmlformats.org/drawingml/2006/main">
            <a:r>
              <a:t>JPL: Voyager Electronic Parts Radiation Program, Volume I: Final Report</a:t>
            </a:r>
          </a:p>
          <a:p xmlns:a="http://schemas.openxmlformats.org/drawingml/2006/main">
            <a:r>
              <a:t>https://ntrs.nasa.gov/api/citations/19780007219/downloads/19780007219.pdf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1:00</a:t>
            </a:r>
          </a:p>
          <a:p xmlns:a="http://schemas.openxmlformats.org/drawingml/2006/main">
            <a:r>
              <a:t/>
            </a:r>
          </a:p>
          <a:p xmlns:a="http://schemas.openxmlformats.org/drawingml/2006/main">
            <a:r>
              <a:t>APOYO ORAL</a:t>
            </a:r>
          </a:p>
          <a:p xmlns:a="http://schemas.openxmlformats.org/drawingml/2006/main">
            <a:r>
              <a:t>La sonda atraviesa ambientes diferentes, pero las poblaciones se superponen. No hay una zona con un solo tipo de radiación. El informe distingue el ambiente exterior sin blindaje del que llega a cada componente después de atravesar la estructura. En ese modelo interno, el daño por desplazamiento de protones y neutrones era secundario frente a la ionización por electrones. Esta jerarquía vale para el caso estudiado, no para cualquier misión espacial.</a:t>
            </a:r>
          </a:p>
          <a:p xmlns:a="http://schemas.openxmlformats.org/drawingml/2006/main">
            <a:r>
              <a:t/>
            </a:r>
          </a:p>
          <a:p xmlns:a="http://schemas.openxmlformats.org/drawingml/2006/main">
            <a:r>
              <a:t>FIGURA Y ALCANCE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LOCALIZADORES</a:t>
            </a:r>
          </a:p>
          <a:p xmlns:a="http://schemas.openxmlformats.org/drawingml/2006/main">
            <a:r>
              <a:t>§II, pp. 2-1 a 2-4 / PDF 25-28; §III.C, p. 3-6 / PDF 34.</a:t>
            </a:r>
          </a:p>
          <a:p xmlns:a="http://schemas.openxmlformats.org/drawingml/2006/main">
            <a:r>
              <a:t/>
            </a:r>
          </a:p>
          <a:p xmlns:a="http://schemas.openxmlformats.org/drawingml/2006/main">
            <a:r>
              <a:t>JPL: Voyager Electronic Parts Radiation Program, Volume I: Final Report</a:t>
            </a:r>
          </a:p>
          <a:p xmlns:a="http://schemas.openxmlformats.org/drawingml/2006/main">
            <a:r>
              <a:t>https://ntrs.nasa.gov/api/citations/19780007219/downloads/19780007219.pdf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0:45</a:t>
            </a:r>
          </a:p>
          <a:p xmlns:a="http://schemas.openxmlformats.org/drawingml/2006/main">
            <a:r>
              <a:t/>
            </a:r>
          </a:p>
          <a:p xmlns:a="http://schemas.openxmlformats.org/drawingml/2006/main">
            <a:r>
              <a:t>APOYO ORAL</a:t>
            </a:r>
          </a:p>
          <a:p xmlns:a="http://schemas.openxmlformats.org/drawingml/2006/main">
            <a:r>
              <a:t>Un electrón y un protón tienen carga; un neutrón y un fotón no. Eso no hace inocuos a los últimos: transfieren energía y generan secundarios. Alfa significa núcleo de helio y beta se refiere a electrones o positrones de determinados decaimientos. No llamamos beta a todo electrón de los cinturones. En esta charla nos interesan especialmente los electrones que el informe identifica como dominantes y las cargas que pueden dejar en aislantes e interfaces.</a:t>
            </a:r>
          </a:p>
          <a:p xmlns:a="http://schemas.openxmlformats.org/drawingml/2006/main">
            <a:r>
              <a:t/>
            </a:r>
          </a:p>
          <a:p xmlns:a="http://schemas.openxmlformats.org/drawingml/2006/main">
            <a:r>
              <a:t>FIGURA Y ALCANCE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LOCALIZADORES</a:t>
            </a:r>
          </a:p>
          <a:p xmlns:a="http://schemas.openxmlformats.org/drawingml/2006/main">
            <a:r>
              <a:t>§II; §III.D, pp. 3-7 a 3-8 / PDF 35-36; §VI.B, p. 6-2 / PDF 82.</a:t>
            </a:r>
          </a:p>
          <a:p xmlns:a="http://schemas.openxmlformats.org/drawingml/2006/main">
            <a:r>
              <a:t/>
            </a:r>
          </a:p>
          <a:p xmlns:a="http://schemas.openxmlformats.org/drawingml/2006/main">
            <a:r>
              <a:t>JPL: Voyager Electronic Parts Radiation Program, Volume I: Final Report</a:t>
            </a:r>
          </a:p>
          <a:p xmlns:a="http://schemas.openxmlformats.org/drawingml/2006/main">
            <a:r>
              <a:t>https://ntrs.nasa.gov/api/citations/19780007219/downloads/19780007219.pdf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0:50</a:t>
            </a:r>
          </a:p>
          <a:p xmlns:a="http://schemas.openxmlformats.org/drawingml/2006/main">
            <a:r>
              <a:t/>
            </a:r>
          </a:p>
          <a:p xmlns:a="http://schemas.openxmlformats.org/drawingml/2006/main">
            <a:r>
              <a:t>APOYO ORAL</a:t>
            </a:r>
          </a:p>
          <a:p xmlns:a="http://schemas.openxmlformats.org/drawingml/2006/main">
            <a:r>
              <a:t>Integrar el flujo en el tiempo da fluencia, no dosis. Para pasar de partículas incidentes a energía absorbida hay que conocer especie, energía y transporte en los materiales. Rad de silicio especifica el material de referencia. No vamos a explicar los instrumentos de dosimetría; solo vamos a usar las unidades necesarias para leer los ejemplos. Más energía no permite comparar sin más la penetración de partículas distintas, y esto no es el efecto túnel de una barrera electrónica.</a:t>
            </a:r>
          </a:p>
          <a:p xmlns:a="http://schemas.openxmlformats.org/drawingml/2006/main">
            <a:r>
              <a:t/>
            </a:r>
          </a:p>
          <a:p xmlns:a="http://schemas.openxmlformats.org/drawingml/2006/main">
            <a:r>
              <a:t>FIGURA Y ALCANCE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LOCALIZADORES</a:t>
            </a:r>
          </a:p>
          <a:p xmlns:a="http://schemas.openxmlformats.org/drawingml/2006/main">
            <a:r>
              <a:t>Tablas 2-1, 2-2 y 5-3; §III.C-D; §VII.F.3.</a:t>
            </a:r>
          </a:p>
          <a:p xmlns:a="http://schemas.openxmlformats.org/drawingml/2006/main">
            <a:r>
              <a:t/>
            </a:r>
          </a:p>
          <a:p xmlns:a="http://schemas.openxmlformats.org/drawingml/2006/main">
            <a:r>
              <a:t>JPL: Voyager Electronic Parts Radiation Program, Volume I: Final Report</a:t>
            </a:r>
          </a:p>
          <a:p xmlns:a="http://schemas.openxmlformats.org/drawingml/2006/main">
            <a:r>
              <a:t>https://ntrs.nasa.gov/api/citations/19780007219/downloads/19780007219.pdf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0:45</a:t>
            </a:r>
          </a:p>
          <a:p xmlns:a="http://schemas.openxmlformats.org/drawingml/2006/main">
            <a:r>
              <a:t/>
            </a:r>
          </a:p>
          <a:p xmlns:a="http://schemas.openxmlformats.org/drawingml/2006/main">
            <a:r>
              <a:t>APOYO ORAL</a:t>
            </a:r>
          </a:p>
          <a:p xmlns:a="http://schemas.openxmlformats.org/drawingml/2006/main">
            <a:r>
              <a:t>La nave contiene alimentación, instrumentos, control y almacenamiento de datos. Ahí aparecen resistencias, capacitores, bobinados, diodos, transistores y circuitos integrados. El informe no es una lista completa de materiales de cada placa. Su pregunta es si un dispositivo, en su aplicación, mantiene lo que el circuito necesita. Characterization mide cómo responde, hardening modifica su resistencia y screening decide qué lotes o unidades aceptar.</a:t>
            </a:r>
          </a:p>
          <a:p xmlns:a="http://schemas.openxmlformats.org/drawingml/2006/main">
            <a:r>
              <a:t/>
            </a:r>
          </a:p>
          <a:p xmlns:a="http://schemas.openxmlformats.org/drawingml/2006/main">
            <a:r>
              <a:t>FIGURA Y ALCANCE</a:t>
            </a:r>
          </a:p>
          <a:p xmlns:a="http://schemas.openxmlformats.org/drawingml/2006/main">
            <a:r>
              <a:t>Ubicación de instrumentos · NASA. Vista de contexto, no inventario de piezas.</a:t>
            </a:r>
          </a:p>
          <a:p xmlns:a="http://schemas.openxmlformats.org/drawingml/2006/main">
            <a:r>
              <a:t>Ubicación de instrumentos · NASA. Vista de contexto, no inventario de piezas.</a:t>
            </a:r>
          </a:p>
          <a:p xmlns:a="http://schemas.openxmlformats.org/drawingml/2006/main">
            <a:r>
              <a:t>NASA, historia de Voyager 1 (S37)</a:t>
            </a:r>
          </a:p>
          <a:p xmlns:a="http://schemas.openxmlformats.org/drawingml/2006/main">
            <a:r>
              <a:t>https://www.nasa.gov/wp-content/uploads/2022/09/voyager_1_5_instruments.jpg</a:t>
            </a:r>
          </a:p>
          <a:p xmlns:a="http://schemas.openxmlformats.org/drawingml/2006/main">
            <a:r>
              <a:t/>
            </a:r>
          </a:p>
          <a:p xmlns:a="http://schemas.openxmlformats.org/drawingml/2006/main">
            <a:r>
              <a:t>FUENTES Y LOCALIZADORES</a:t>
            </a:r>
          </a:p>
          <a:p xmlns:a="http://schemas.openxmlformats.org/drawingml/2006/main">
            <a:r>
              <a:t>§III.A; §IV.A.2-3; §IV.B.5; §VI.B; §VII.K. H3 solo para arquitectura.</a:t>
            </a:r>
          </a:p>
          <a:p xmlns:a="http://schemas.openxmlformats.org/drawingml/2006/main">
            <a:r>
              <a:t/>
            </a:r>
          </a:p>
          <a:p xmlns:a="http://schemas.openxmlformats.org/drawingml/2006/main">
            <a:r>
              <a:t>JPL: Voyager Electronic Parts Radiation Program, Volume I: Final Report</a:t>
            </a:r>
          </a:p>
          <a:p xmlns:a="http://schemas.openxmlformats.org/drawingml/2006/main">
            <a:r>
              <a:t>https://ntrs.nasa.gov/api/citations/19780007219/downloads/19780007219.pdf</a:t>
            </a:r>
          </a:p>
          <a:p xmlns:a="http://schemas.openxmlformats.org/drawingml/2006/main">
            <a:r>
              <a:t/>
            </a:r>
          </a:p>
          <a:p xmlns:a="http://schemas.openxmlformats.org/drawingml/2006/main">
            <a:r>
              <a:t>H3: Computers in Spaceflight: The NASA Experience</a:t>
            </a:r>
          </a:p>
          <a:p xmlns:a="http://schemas.openxmlformats.org/drawingml/2006/main">
            <a:r>
              <a:t>https://ntrs.nasa.gov/api/citations/19880069935/downloads/19880069935_Optimized.pdf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1:00</a:t>
            </a:r>
          </a:p>
          <a:p xmlns:a="http://schemas.openxmlformats.org/drawingml/2006/main">
            <a:r>
              <a:t/>
            </a:r>
          </a:p>
          <a:p xmlns:a="http://schemas.openxmlformats.org/drawingml/2006/main">
            <a:r>
              <a:t>APOYO ORAL</a:t>
            </a:r>
          </a:p>
          <a:p xmlns:a="http://schemas.openxmlformats.org/drawingml/2006/main">
            <a:r>
              <a:t>En resistencias de película metálica Dale no midieron cambios dentro del error de más o menos 0,01 por ciento, para la fluencia indicada. En capacitores de teflón B11B los cambios medios fueron de unas centésimas de por ciento. Son piezas y parámetros concretos. En inductores, transformadores y conexiones vamos a mencionar su función, pero este informe no nos da una caracterización equivalente que permita inventar qué mitigación eligieron.</a:t>
            </a:r>
          </a:p>
          <a:p xmlns:a="http://schemas.openxmlformats.org/drawingml/2006/main">
            <a:r>
              <a:t/>
            </a:r>
          </a:p>
          <a:p xmlns:a="http://schemas.openxmlformats.org/drawingml/2006/main">
            <a:r>
              <a:t>FIGURA Y ALCANCE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LOCALIZADORES</a:t>
            </a:r>
          </a:p>
          <a:p xmlns:a="http://schemas.openxmlformats.org/drawingml/2006/main">
            <a:r>
              <a:t>§VII.H, p. 7-53 / PDF 151. Cálculos porcentuales y modelos RC: explicación didáctica.</a:t>
            </a:r>
          </a:p>
          <a:p xmlns:a="http://schemas.openxmlformats.org/drawingml/2006/main">
            <a:r>
              <a:t/>
            </a:r>
          </a:p>
          <a:p xmlns:a="http://schemas.openxmlformats.org/drawingml/2006/main">
            <a:r>
              <a:t>JPL: Voyager Electronic Parts Radiation Program, Volume I: Final Report</a:t>
            </a:r>
          </a:p>
          <a:p xmlns:a="http://schemas.openxmlformats.org/drawingml/2006/main">
            <a:r>
              <a:t>https://ntrs.nasa.gov/api/citations/19780007219/downloads/19780007219.pdf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0:50</a:t>
            </a:r>
          </a:p>
          <a:p xmlns:a="http://schemas.openxmlformats.org/drawingml/2006/main">
            <a:r>
              <a:t/>
            </a:r>
          </a:p>
          <a:p xmlns:a="http://schemas.openxmlformats.org/drawingml/2006/main">
            <a:r>
              <a:t>APOYO ORAL</a:t>
            </a:r>
          </a:p>
          <a:p xmlns:a="http://schemas.openxmlformats.org/drawingml/2006/main">
            <a:r>
              <a:t>La figura corresponde al ensayo con emisor TIL24, detector LS600 y un transistor 2N2222A en la salida. Tras irradiación no observaron un cambio significativo de esa salida. Los autores explican que todavía llegaba suficiente señal para accionar el transistor, aunque esperaban degradación de los dispositivos ópticos. El mensaje es que una salida digital correcta no prueba que todos los elementos internos sigan como nuevos.</a:t>
            </a:r>
          </a:p>
          <a:p xmlns:a="http://schemas.openxmlformats.org/drawingml/2006/main">
            <a:r>
              <a:t/>
            </a:r>
          </a:p>
          <a:p xmlns:a="http://schemas.openxmlformats.org/drawingml/2006/main">
            <a:r>
              <a:t>FIGURA Y ALCANCE</a:t>
            </a:r>
          </a:p>
          <a:p xmlns:a="http://schemas.openxmlformats.org/drawingml/2006/main">
            <a:r>
              <a:t>Figura 7-9 del informe: circuito de ensayo óptico, no esquema de una placa de vuelo.</a:t>
            </a:r>
          </a:p>
          <a:p xmlns:a="http://schemas.openxmlformats.org/drawingml/2006/main">
            <a:r>
              <a:t>Figura 7-9 del informe: circuito de ensayo óptico, no esquema de una placa de vuelo.</a:t>
            </a:r>
          </a:p>
          <a:p xmlns:a="http://schemas.openxmlformats.org/drawingml/2006/main">
            <a:r>
              <a:t>JPL 77-41, vol. I, 7-9, PDF 155</a:t>
            </a:r>
          </a:p>
          <a:p xmlns:a="http://schemas.openxmlformats.org/drawingml/2006/main">
            <a:r>
              <a:t>https://ntrs.nasa.gov/api/citations/19780007219/downloads/19780007219.pdf</a:t>
            </a:r>
          </a:p>
          <a:p xmlns:a="http://schemas.openxmlformats.org/drawingml/2006/main">
            <a:r>
              <a:t/>
            </a:r>
          </a:p>
          <a:p xmlns:a="http://schemas.openxmlformats.org/drawingml/2006/main">
            <a:r>
              <a:t>FUENTES Y LOCALIZADORES</a:t>
            </a:r>
          </a:p>
          <a:p xmlns:a="http://schemas.openxmlformats.org/drawingml/2006/main">
            <a:r>
              <a:t>§VII.G; §VII.I, pp. 7-54 a 7-61 / PDF 152-159; figura 7-9.</a:t>
            </a:r>
          </a:p>
          <a:p xmlns:a="http://schemas.openxmlformats.org/drawingml/2006/main">
            <a:r>
              <a:t/>
            </a:r>
          </a:p>
          <a:p xmlns:a="http://schemas.openxmlformats.org/drawingml/2006/main">
            <a:r>
              <a:t>JPL: Voyager Electronic Parts Radiation Program, Volume I: Final Report</a:t>
            </a:r>
          </a:p>
          <a:p xmlns:a="http://schemas.openxmlformats.org/drawingml/2006/main">
            <a:r>
              <a:t>https://ntrs.nasa.gov/api/citations/19780007219/downloads/19780007219.pdf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1:05</a:t>
            </a:r>
          </a:p>
          <a:p xmlns:a="http://schemas.openxmlformats.org/drawingml/2006/main">
            <a:r>
              <a:t/>
            </a:r>
          </a:p>
          <a:p xmlns:a="http://schemas.openxmlformats.org/drawingml/2006/main">
            <a:r>
              <a:t>APOYO ORAL</a:t>
            </a:r>
          </a:p>
          <a:p xmlns:a="http://schemas.openxmlformats.org/drawingml/2006/main">
            <a:r>
              <a:t>Usamos la definición beta igual a corriente de colector dividida por corriente de base. Si para sostener el mismo colector hace falta más corriente de base, beta baja. El documento da un ejemplo numérico que podemos seguir: una beta inicial de cien pasa a aproximadamente 76,9 con el cambio de ganancia inversa indicado. La consecuencia depende del circuito: una etapa puede perder margen de excitación o desplazar su punto de trabajo.</a:t>
            </a:r>
          </a:p>
          <a:p xmlns:a="http://schemas.openxmlformats.org/drawingml/2006/main">
            <a:r>
              <a:t/>
            </a:r>
          </a:p>
          <a:p xmlns:a="http://schemas.openxmlformats.org/drawingml/2006/main">
            <a:r>
              <a:t>FIGURA Y ALCANCE</a:t>
            </a:r>
          </a:p>
          <a:p xmlns:a="http://schemas.openxmlformats.org/drawingml/2006/main">
            <a:r>
              <a:t>Figura 7-1: cambio de ganancia inversa frente a corriente. La dosis y el fabricante condicionan la comparación.</a:t>
            </a:r>
          </a:p>
          <a:p xmlns:a="http://schemas.openxmlformats.org/drawingml/2006/main">
            <a:r>
              <a:t>Figura 7-1: cambio de ganancia inversa frente a corriente. La dosis y el fabricante condicionan la comparación.</a:t>
            </a:r>
          </a:p>
          <a:p xmlns:a="http://schemas.openxmlformats.org/drawingml/2006/main">
            <a:r>
              <a:t>JPL 77-41, vol. I, 7-1, PDF 101</a:t>
            </a:r>
          </a:p>
          <a:p xmlns:a="http://schemas.openxmlformats.org/drawingml/2006/main">
            <a:r>
              <a:t>https://ntrs.nasa.gov/api/citations/19780007219/downloads/19780007219.pdf</a:t>
            </a:r>
          </a:p>
          <a:p xmlns:a="http://schemas.openxmlformats.org/drawingml/2006/main">
            <a:r>
              <a:t/>
            </a:r>
          </a:p>
          <a:p xmlns:a="http://schemas.openxmlformats.org/drawingml/2006/main">
            <a:r>
              <a:t>FUENTES Y LOCALIZADORES</a:t>
            </a:r>
          </a:p>
          <a:p xmlns:a="http://schemas.openxmlformats.org/drawingml/2006/main">
            <a:r>
              <a:t>§VII.B y C, pp. 7-2 a 7-9 / PDF 100-107; figura 7-1; §IX.B.</a:t>
            </a:r>
          </a:p>
          <a:p xmlns:a="http://schemas.openxmlformats.org/drawingml/2006/main">
            <a:r>
              <a:t/>
            </a:r>
          </a:p>
          <a:p xmlns:a="http://schemas.openxmlformats.org/drawingml/2006/main">
            <a:r>
              <a:t>JPL: Voyager Electronic Parts Radiation Program, Volume I: Final Report</a:t>
            </a:r>
          </a:p>
          <a:p xmlns:a="http://schemas.openxmlformats.org/drawingml/2006/main">
            <a:r>
              <a:t>https://ntrs.nasa.gov/api/citations/19780007219/downloads/19780007219.pdf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1:00</a:t>
            </a:r>
          </a:p>
          <a:p xmlns:a="http://schemas.openxmlformats.org/drawingml/2006/main">
            <a:r>
              <a:t/>
            </a:r>
          </a:p>
          <a:p xmlns:a="http://schemas.openxmlformats.org/drawingml/2006/main">
            <a:r>
              <a:t>APOYO ORAL</a:t>
            </a:r>
          </a:p>
          <a:p xmlns:a="http://schemas.openxmlformats.org/drawingml/2006/main">
            <a:r>
              <a:t>Un JFET controla el canal con una juntura polarizada en inversa, pero eso no elimina las superficies y capas de pasivación del dispositivo. El informe encontró diferencias fuertes entre lotes de canal n poco dopado. En DG129, DG133 y DG141 el transistor de paso era JFET y el controlador bipolar; en DG181 el controlador también contenía MOS. Mirar solo el nombre del transistor de paso no alcanzaba para anticipar la respuesta de todo el integrado.</a:t>
            </a:r>
          </a:p>
          <a:p xmlns:a="http://schemas.openxmlformats.org/drawingml/2006/main">
            <a:r>
              <a:t/>
            </a:r>
          </a:p>
          <a:p xmlns:a="http://schemas.openxmlformats.org/drawingml/2006/main">
            <a:r>
              <a:t>FIGURA Y ALCANCE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LOCALIZADORES</a:t>
            </a:r>
          </a:p>
          <a:p xmlns:a="http://schemas.openxmlformats.org/drawingml/2006/main">
            <a:r>
              <a:t>§VII.C y E; §VIII.B.1 y D; §IX.C.4.</a:t>
            </a:r>
          </a:p>
          <a:p xmlns:a="http://schemas.openxmlformats.org/drawingml/2006/main">
            <a:r>
              <a:t/>
            </a:r>
          </a:p>
          <a:p xmlns:a="http://schemas.openxmlformats.org/drawingml/2006/main">
            <a:r>
              <a:t>JPL: Voyager Electronic Parts Radiation Program, Volume I: Final Report</a:t>
            </a:r>
          </a:p>
          <a:p xmlns:a="http://schemas.openxmlformats.org/drawingml/2006/main">
            <a:r>
              <a:t>https://ntrs.nasa.gov/api/citations/19780007219/downloads/19780007219.pdf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1:25</a:t>
            </a:r>
          </a:p>
          <a:p xmlns:a="http://schemas.openxmlformats.org/drawingml/2006/main">
            <a:r>
              <a:t/>
            </a:r>
          </a:p>
          <a:p xmlns:a="http://schemas.openxmlformats.org/drawingml/2006/main">
            <a:r>
              <a:t>APOYO ORAL</a:t>
            </a:r>
          </a:p>
          <a:p xmlns:a="http://schemas.openxmlformats.org/drawingml/2006/main">
            <a:r>
              <a:t>Este es el ejemplo que parecía contradictorio. El informe no está diciendo que más radiación siempre mejore la ganancia. Para el canal n, la contribución del óxido puede llevar el umbral hacia valores negativos; la de interfaz puede empujarlo hacia positivos. La suma puede acercar nuevamente el umbral al inicial y, sin embargo, dejar otros parámetros mal. Para el canal p, las contribuciones descritas tienden en el mismo sentido negativo. En CMOS importan ambos transistores, el consumo y el tiempo de propagación.</a:t>
            </a:r>
          </a:p>
          <a:p xmlns:a="http://schemas.openxmlformats.org/drawingml/2006/main">
            <a:r>
              <a:t/>
            </a:r>
          </a:p>
          <a:p xmlns:a="http://schemas.openxmlformats.org/drawingml/2006/main">
            <a:r>
              <a:t>FIGURA Y ALCANCE</a:t>
            </a:r>
          </a:p>
          <a:p xmlns:a="http://schemas.openxmlformats.org/drawingml/2006/main">
            <a:r>
              <a:t>Figura 6-1: corriente de drenador frente a tensión de compuerta, antes y después de irradiar.</a:t>
            </a:r>
          </a:p>
          <a:p xmlns:a="http://schemas.openxmlformats.org/drawingml/2006/main">
            <a:r>
              <a:t>Figura 6-1: corriente de drenador frente a tensión de compuerta, antes y después de irradiar.</a:t>
            </a:r>
          </a:p>
          <a:p xmlns:a="http://schemas.openxmlformats.org/drawingml/2006/main">
            <a:r>
              <a:t>JPL 77-41, vol. I, 6-1, PDF 83</a:t>
            </a:r>
          </a:p>
          <a:p xmlns:a="http://schemas.openxmlformats.org/drawingml/2006/main">
            <a:r>
              <a:t>https://ntrs.nasa.gov/api/citations/19780007219/downloads/19780007219.pdf</a:t>
            </a:r>
          </a:p>
          <a:p xmlns:a="http://schemas.openxmlformats.org/drawingml/2006/main">
            <a:r>
              <a:t/>
            </a:r>
          </a:p>
          <a:p xmlns:a="http://schemas.openxmlformats.org/drawingml/2006/main">
            <a:r>
              <a:t>FUENTES Y LOCALIZADORES</a:t>
            </a:r>
          </a:p>
          <a:p xmlns:a="http://schemas.openxmlformats.org/drawingml/2006/main">
            <a:r>
              <a:t>§VI.B, pp. 6-1 a 6-3 / PDF 81-83, figura 6-1; §VII.F.1-2.</a:t>
            </a:r>
          </a:p>
          <a:p xmlns:a="http://schemas.openxmlformats.org/drawingml/2006/main">
            <a:r>
              <a:t/>
            </a:r>
          </a:p>
          <a:p xmlns:a="http://schemas.openxmlformats.org/drawingml/2006/main">
            <a:r>
              <a:t>JPL: Voyager Electronic Parts Radiation Program, Volume I: Final Report</a:t>
            </a:r>
          </a:p>
          <a:p xmlns:a="http://schemas.openxmlformats.org/drawingml/2006/main">
            <a:r>
              <a:t>https://ntrs.nasa.gov/api/citations/19780007219/downloads/19780007219.pdf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1:15</a:t>
            </a:r>
          </a:p>
          <a:p xmlns:a="http://schemas.openxmlformats.org/drawingml/2006/main">
            <a:r>
              <a:t/>
            </a:r>
          </a:p>
          <a:p xmlns:a="http://schemas.openxmlformats.org/drawingml/2006/main">
            <a:r>
              <a:t>APOYO ORAL</a:t>
            </a:r>
          </a:p>
          <a:p xmlns:a="http://schemas.openxmlformats.org/drawingml/2006/main">
            <a:r>
              <a:t>Es una modificación de fabricación. El proceso comercial no alcanzaba el nivel de fluencia descrito bajo polarización normal; con el proceso modificado seguían funcionando. Eso no quiere decir características intactas. El informe también estudia cambiar la atmósfera de recocido de forming gas a nitrógeno y encuentra mejoras en determinadas fugas y en uniformidad. La fabricación modificada tuvo que acompañarse con selección y criterios de circuito.</a:t>
            </a:r>
          </a:p>
          <a:p xmlns:a="http://schemas.openxmlformats.org/drawingml/2006/main">
            <a:r>
              <a:t/>
            </a:r>
          </a:p>
          <a:p xmlns:a="http://schemas.openxmlformats.org/drawingml/2006/main">
            <a:r>
              <a:t>FIGURA Y ALCANCE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LOCALIZADORES</a:t>
            </a:r>
          </a:p>
          <a:p xmlns:a="http://schemas.openxmlformats.org/drawingml/2006/main">
            <a:r>
              <a:t>§VI.B, pp. 6-1 a 6-2 / PDF 81-82; §VII.F.4; §VIII.E; §IX.C.1.</a:t>
            </a:r>
          </a:p>
          <a:p xmlns:a="http://schemas.openxmlformats.org/drawingml/2006/main">
            <a:r>
              <a:t/>
            </a:r>
          </a:p>
          <a:p xmlns:a="http://schemas.openxmlformats.org/drawingml/2006/main">
            <a:r>
              <a:t>JPL: Voyager Electronic Parts Radiation Program, Volume I: Final Report</a:t>
            </a:r>
          </a:p>
          <a:p xmlns:a="http://schemas.openxmlformats.org/drawingml/2006/main">
            <a:r>
              <a:t>https://ntrs.nasa.gov/api/citations/19780007219/downloads/19780007219.pdf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1:25</a:t>
            </a:r>
          </a:p>
          <a:p xmlns:a="http://schemas.openxmlformats.org/drawingml/2006/main">
            <a:r>
              <a:t/>
            </a:r>
          </a:p>
          <a:p xmlns:a="http://schemas.openxmlformats.org/drawingml/2006/main">
            <a:r>
              <a:t>APOYO ORAL</a:t>
            </a:r>
          </a:p>
          <a:p xmlns:a="http://schemas.openxmlformats.org/drawingml/2006/main">
            <a:r>
              <a:t>En los lineales, el resultado tenía que servir para una función analógica concreta. El LM108 endurecido corrigió problemas que afectaban a los dispositivos estándar, pero en ciertas aplicaciones su ruido o su encapsulado no eran aceptables y usaron piezas estándar muy blindadas. En el LM139, la mejora dependía además de alimentación, estado durante la exposición y condiciones de medida. El informe registra éxitos, intentos fallidos y decisiones diferentes según la aplicación.</a:t>
            </a:r>
          </a:p>
          <a:p xmlns:a="http://schemas.openxmlformats.org/drawingml/2006/main">
            <a:r>
              <a:t/>
            </a:r>
          </a:p>
          <a:p xmlns:a="http://schemas.openxmlformats.org/drawingml/2006/main">
            <a:r>
              <a:t>FIGURA Y ALCANCE</a:t>
            </a:r>
          </a:p>
          <a:p xmlns:a="http://schemas.openxmlformats.org/drawingml/2006/main">
            <a:r>
              <a:t>Figura 7-4: efecto de inversión en LM108 estándar y endurecido; incluye el circuito de comparación.</a:t>
            </a:r>
          </a:p>
          <a:p xmlns:a="http://schemas.openxmlformats.org/drawingml/2006/main">
            <a:r>
              <a:t>Figura 7-4: efecto de inversión en LM108 estándar y endurecido; incluye el circuito de comparación.</a:t>
            </a:r>
          </a:p>
          <a:p xmlns:a="http://schemas.openxmlformats.org/drawingml/2006/main">
            <a:r>
              <a:t>JPL 77-41, vol. I, 7-4, PDF 112</a:t>
            </a:r>
          </a:p>
          <a:p xmlns:a="http://schemas.openxmlformats.org/drawingml/2006/main">
            <a:r>
              <a:t>https://ntrs.nasa.gov/api/citations/19780007219/downloads/19780007219.pdf</a:t>
            </a:r>
          </a:p>
          <a:p xmlns:a="http://schemas.openxmlformats.org/drawingml/2006/main">
            <a:r>
              <a:t/>
            </a:r>
          </a:p>
          <a:p xmlns:a="http://schemas.openxmlformats.org/drawingml/2006/main">
            <a:r>
              <a:t>FUENTES Y LOCALIZADORES</a:t>
            </a:r>
          </a:p>
          <a:p xmlns:a="http://schemas.openxmlformats.org/drawingml/2006/main">
            <a:r>
              <a:t>§VI.C.1-3, pp. 6-3 a 6-5 / PDF 83-85; §VII.D.1-2; figura 7-4.</a:t>
            </a:r>
          </a:p>
          <a:p xmlns:a="http://schemas.openxmlformats.org/drawingml/2006/main">
            <a:r>
              <a:t/>
            </a:r>
          </a:p>
          <a:p xmlns:a="http://schemas.openxmlformats.org/drawingml/2006/main">
            <a:r>
              <a:t>JPL: Voyager Electronic Parts Radiation Program, Volume I: Final Report</a:t>
            </a:r>
          </a:p>
          <a:p xmlns:a="http://schemas.openxmlformats.org/drawingml/2006/main">
            <a:r>
              <a:t>https://ntrs.nasa.gov/api/citations/19780007219/downloads/19780007219.pdf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0:50</a:t>
            </a:r>
          </a:p>
          <a:p xmlns:a="http://schemas.openxmlformats.org/drawingml/2006/main">
            <a:r>
              <a:t/>
            </a:r>
          </a:p>
          <a:p xmlns:a="http://schemas.openxmlformats.org/drawingml/2006/main">
            <a:r>
              <a:t>APOYO ORAL</a:t>
            </a:r>
          </a:p>
          <a:p xmlns:a="http://schemas.openxmlformats.org/drawingml/2006/main">
            <a:r>
              <a:t>La RAM CMOS era tan sensible que consideraron demasiado costoso endurecerla y optaron por blindarla para no superar diez krad en silicio. Los registros están cubiertos por los problemas de consumo y tiempos de la lógica CMOS; el informe también describe un registro MOS en el detector Reticon del UVS. En cuarzo, fabricaron muestras de cada barra, las irradiaron y aceptaron o rechazaron el material. Son soluciones diferentes para funciones diferentes.</a:t>
            </a:r>
          </a:p>
          <a:p xmlns:a="http://schemas.openxmlformats.org/drawingml/2006/main">
            <a:r>
              <a:t/>
            </a:r>
          </a:p>
          <a:p xmlns:a="http://schemas.openxmlformats.org/drawingml/2006/main">
            <a:r>
              <a:t>FIGURA Y ALCANCE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LOCALIZADORES</a:t>
            </a:r>
          </a:p>
          <a:p xmlns:a="http://schemas.openxmlformats.org/drawingml/2006/main">
            <a:r>
              <a:t>§VI.B, p. 6-2 / PDF 82; §VII.F, I.2 y J; §VIII.F, p. 8-41 / PDF 202.</a:t>
            </a:r>
          </a:p>
          <a:p xmlns:a="http://schemas.openxmlformats.org/drawingml/2006/main">
            <a:r>
              <a:t/>
            </a:r>
          </a:p>
          <a:p xmlns:a="http://schemas.openxmlformats.org/drawingml/2006/main">
            <a:r>
              <a:t>JPL: Voyager Electronic Parts Radiation Program, Volume I: Final Report</a:t>
            </a:r>
          </a:p>
          <a:p xmlns:a="http://schemas.openxmlformats.org/drawingml/2006/main">
            <a:r>
              <a:t>https://ntrs.nasa.gov/api/citations/19780007219/downloads/19780007219.pdf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1:15</a:t>
            </a:r>
          </a:p>
          <a:p xmlns:a="http://schemas.openxmlformats.org/drawingml/2006/main">
            <a:r>
              <a:t/>
            </a:r>
          </a:p>
          <a:p xmlns:a="http://schemas.openxmlformats.org/drawingml/2006/main">
            <a:r>
              <a:t>APOYO ORAL</a:t>
            </a:r>
          </a:p>
          <a:p xmlns:a="http://schemas.openxmlformats.org/drawingml/2006/main">
            <a:r>
              <a:t>Caracterizar una familia no garantizaba que lo comprado se comportara igual. Usaron muestras por oblea, por lote de difusión y metalización o por código de fecha, y procedimientos para piezas individuales en casos seleccionados. IRAN significa irradiar y recocer, pero con límites: algunos parámetros no se recuperaban y los JFET incluidos no recibieron el recocido térmico. Si todas las piezas eran demasiado sensibles, seleccionar no resolvía el problema y podían necesitar blindaje.</a:t>
            </a:r>
          </a:p>
          <a:p xmlns:a="http://schemas.openxmlformats.org/drawingml/2006/main">
            <a:r>
              <a:t/>
            </a:r>
          </a:p>
          <a:p xmlns:a="http://schemas.openxmlformats.org/drawingml/2006/main">
            <a:r>
              <a:t>FIGURA Y ALCANCE</a:t>
            </a:r>
          </a:p>
          <a:p xmlns:a="http://schemas.openxmlformats.org/drawingml/2006/main">
            <a:r>
              <a:t>Figura 8-21: comparación de lotes CD4053B. Las curvas muestran por qué el lote importa.</a:t>
            </a:r>
          </a:p>
          <a:p xmlns:a="http://schemas.openxmlformats.org/drawingml/2006/main">
            <a:r>
              <a:t>Figura 8-21: comparación de lotes CD4053B. Las curvas muestran por qué el lote importa.</a:t>
            </a:r>
          </a:p>
          <a:p xmlns:a="http://schemas.openxmlformats.org/drawingml/2006/main">
            <a:r>
              <a:t>JPL 77-41, vol. I, 8-21, PDF 201</a:t>
            </a:r>
          </a:p>
          <a:p xmlns:a="http://schemas.openxmlformats.org/drawingml/2006/main">
            <a:r>
              <a:t>https://ntrs.nasa.gov/api/citations/19780007219/downloads/19780007219.pdf</a:t>
            </a:r>
          </a:p>
          <a:p xmlns:a="http://schemas.openxmlformats.org/drawingml/2006/main">
            <a:r>
              <a:t/>
            </a:r>
          </a:p>
          <a:p xmlns:a="http://schemas.openxmlformats.org/drawingml/2006/main">
            <a:r>
              <a:t>FUENTES Y LOCALIZADORES</a:t>
            </a:r>
          </a:p>
          <a:p xmlns:a="http://schemas.openxmlformats.org/drawingml/2006/main">
            <a:r>
              <a:t>§IV.B, pp. 4-14 a 4-24 / PDF 50-60; §VIII.A, D y E; §IX.B.</a:t>
            </a:r>
          </a:p>
          <a:p xmlns:a="http://schemas.openxmlformats.org/drawingml/2006/main">
            <a:r>
              <a:t/>
            </a:r>
          </a:p>
          <a:p xmlns:a="http://schemas.openxmlformats.org/drawingml/2006/main">
            <a:r>
              <a:t>JPL: Voyager Electronic Parts Radiation Program, Volume I: Final Report</a:t>
            </a:r>
          </a:p>
          <a:p xmlns:a="http://schemas.openxmlformats.org/drawingml/2006/main">
            <a:r>
              <a:t>https://ntrs.nasa.gov/api/citations/19780007219/downloads/19780007219.pdf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1:15</a:t>
            </a:r>
          </a:p>
          <a:p xmlns:a="http://schemas.openxmlformats.org/drawingml/2006/main">
            <a:r>
              <a:t/>
            </a:r>
          </a:p>
          <a:p xmlns:a="http://schemas.openxmlformats.org/drawingml/2006/main">
            <a:r>
              <a:t>APOYO ORAL</a:t>
            </a:r>
          </a:p>
          <a:p xmlns:a="http://schemas.openxmlformats.org/drawingml/2006/main">
            <a:r>
              <a:t>El ejemplo del bus de ingeniería compara una capacidad de referencia de sesenta krad en silicio con treinta krad de exposición local: margen dos. Otros instrumentos tenían criterios distintos, y algunas piezas exigían blindaje localizado. El análisis de peor caso combinaba radiación con temperatura, envejecimiento y tolerancias. No estaban garantizando daño cero: estaban buscando un riesgo aceptable con los recursos y la masa disponibles.</a:t>
            </a:r>
          </a:p>
          <a:p xmlns:a="http://schemas.openxmlformats.org/drawingml/2006/main">
            <a:r>
              <a:t/>
            </a:r>
          </a:p>
          <a:p xmlns:a="http://schemas.openxmlformats.org/drawingml/2006/main">
            <a:r>
              <a:t>FIGURA Y ALCANCE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LOCALIZADORES</a:t>
            </a:r>
          </a:p>
          <a:p xmlns:a="http://schemas.openxmlformats.org/drawingml/2006/main">
            <a:r>
              <a:t>§II.D, tabla 2-2; §III.B-C, tabla 3-1; §VI.B.</a:t>
            </a:r>
          </a:p>
          <a:p xmlns:a="http://schemas.openxmlformats.org/drawingml/2006/main">
            <a:r>
              <a:t/>
            </a:r>
          </a:p>
          <a:p xmlns:a="http://schemas.openxmlformats.org/drawingml/2006/main">
            <a:r>
              <a:t>JPL: Voyager Electronic Parts Radiation Program, Volume I: Final Report</a:t>
            </a:r>
          </a:p>
          <a:p xmlns:a="http://schemas.openxmlformats.org/drawingml/2006/main">
            <a:r>
              <a:t>https://ntrs.nasa.gov/api/citations/19780007219/downloads/19780007219.pdf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0:50</a:t>
            </a:r>
          </a:p>
          <a:p xmlns:a="http://schemas.openxmlformats.org/drawingml/2006/main">
            <a:r>
              <a:t/>
            </a:r>
          </a:p>
          <a:p xmlns:a="http://schemas.openxmlformats.org/drawingml/2006/main">
            <a:r>
              <a:t>APOYO ORAL</a:t>
            </a:r>
          </a:p>
          <a:p xmlns:a="http://schemas.openxmlformats.org/drawingml/2006/main">
            <a:r>
              <a:t>Volvemos a los ejemplos: pasivos estables en sus ensayos, bipolares evaluados en el punto de trabajo, CMOS fabricado con otro proceso, lineales con compromisos entre ruido y resistencia, y selección que conectaba la muestra con las piezas de vuelo. El informe también reconoce limitaciones de tiempo y recomienda empezar antes el programa de radiación. Esa es una conclusión de ingeniería más fuerte que decir que todos los componentes eran indestructibles.</a:t>
            </a:r>
          </a:p>
          <a:p xmlns:a="http://schemas.openxmlformats.org/drawingml/2006/main">
            <a:r>
              <a:t/>
            </a:r>
          </a:p>
          <a:p xmlns:a="http://schemas.openxmlformats.org/drawingml/2006/main">
            <a:r>
              <a:t>FIGURA Y ALCANCE</a:t>
            </a:r>
          </a:p>
          <a:p xmlns:a="http://schemas.openxmlformats.org/drawingml/2006/main">
            <a:r>
              <a:t>Integración de Voyager 2, 1977 · NASA/JPL</a:t>
            </a:r>
          </a:p>
          <a:p xmlns:a="http://schemas.openxmlformats.org/drawingml/2006/main">
            <a:r>
              <a:t>Integración de Voyager 2, 1977 · NASA/JPL</a:t>
            </a:r>
          </a:p>
          <a:p xmlns:a="http://schemas.openxmlformats.org/drawingml/2006/main">
            <a:r>
              <a:t>NASA/JPL, integración Voyager 2, marzo de 1977</a:t>
            </a:r>
          </a:p>
          <a:p xmlns:a="http://schemas.openxmlformats.org/drawingml/2006/main">
            <a:r>
              <a:t>https://science.nasa.gov/image-detail/pia21736/</a:t>
            </a:r>
          </a:p>
          <a:p xmlns:a="http://schemas.openxmlformats.org/drawingml/2006/main">
            <a:r>
              <a:t/>
            </a:r>
          </a:p>
          <a:p xmlns:a="http://schemas.openxmlformats.org/drawingml/2006/main">
            <a:r>
              <a:t>FUENTES Y LOCALIZADORES</a:t>
            </a:r>
          </a:p>
          <a:p xmlns:a="http://schemas.openxmlformats.org/drawingml/2006/main">
            <a:r>
              <a:t>§IX, pp. 9-1 a 9-5 / PDF 204-208; casos de §§III, VI, VII y VIII.</a:t>
            </a:r>
          </a:p>
          <a:p xmlns:a="http://schemas.openxmlformats.org/drawingml/2006/main">
            <a:r>
              <a:t/>
            </a:r>
          </a:p>
          <a:p xmlns:a="http://schemas.openxmlformats.org/drawingml/2006/main">
            <a:r>
              <a:t>JPL: Voyager Electronic Parts Radiation Program, Volume I: Final Report</a:t>
            </a:r>
          </a:p>
          <a:p xmlns:a="http://schemas.openxmlformats.org/drawingml/2006/main">
            <a:r>
              <a:t>https://ntrs.nasa.gov/api/citations/19780007219/downloads/19780007219.pdf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e2ad319bf84c5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b2d40e2fa14c1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12e8538ca714e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ff839e733c4436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c2c9d3426184ee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3a64a1577ef4f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4844B0-E185-48AB-A8D9-4C1CB4F5626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E2CF08C-8B4A-4E9F-B743-4DFCBDC5593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EED563-3E1D-4DA8-98CB-5E9297939B8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C38669-4EAD-4E0C-9C39-1CA58A4DA9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8FF90F2-DD59-4211-B752-0072E889D98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41B6286-7F75-4421-9653-504C28499B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8F3D88-9076-4C54-9D06-197587B045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C639D5E-AF77-4B14-8096-D63F7855407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A32162-0116-4F79-BC48-D4EE997220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F2DF78-E01D-49A9-ABB9-7B13311F05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c54a74040b481e" /><Relationship Type="http://schemas.openxmlformats.org/officeDocument/2006/relationships/slideLayout" Target="/ppt/slideLayouts/slideLayout1.xml" Id="Ra1bb2c67ee5e47b7" /><Relationship Type="http://schemas.openxmlformats.org/officeDocument/2006/relationships/slideLayout" Target="/ppt/slideLayouts/slideLayout2.xml" Id="R10e9d282f8c34724" /><Relationship Type="http://schemas.openxmlformats.org/officeDocument/2006/relationships/slideLayout" Target="/ppt/slideLayouts/slideLayout3.xml" Id="R7720c9e0bd79492b" /><Relationship Type="http://schemas.openxmlformats.org/officeDocument/2006/relationships/slideLayout" Target="/ppt/slideLayouts/slideLayout4.xml" Id="R9fc4cedcd0e94657" /><Relationship Type="http://schemas.openxmlformats.org/officeDocument/2006/relationships/slideLayout" Target="/ppt/slideLayouts/slideLayout5.xml" Id="Rf43188cb93a04755" /><Relationship Type="http://schemas.openxmlformats.org/officeDocument/2006/relationships/slideLayout" Target="/ppt/slideLayouts/slideLayout6.xml" Id="R71d7de553fea41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bb2c67ee5e47b7"/>
    <p:sldLayoutId xmlns:r="http://schemas.openxmlformats.org/officeDocument/2006/relationships" id="2147483650" r:id="R10e9d282f8c34724"/>
    <p:sldLayoutId xmlns:r="http://schemas.openxmlformats.org/officeDocument/2006/relationships" id="2147483651" r:id="R7720c9e0bd79492b"/>
    <p:sldLayoutId xmlns:r="http://schemas.openxmlformats.org/officeDocument/2006/relationships" id="2147483652" r:id="R9fc4cedcd0e94657"/>
    <p:sldLayoutId xmlns:r="http://schemas.openxmlformats.org/officeDocument/2006/relationships" id="2147483653" r:id="Rf43188cb93a04755"/>
    <p:sldLayoutId xmlns:r="http://schemas.openxmlformats.org/officeDocument/2006/relationships" id="2147483654" r:id="R71d7de553fea41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9fe8e481d184415" /><Relationship Type="http://schemas.openxmlformats.org/officeDocument/2006/relationships/image" Target="/ppt/media/image.jpeg" Id="Rc352f5d47824415d" /><Relationship Type="http://schemas.openxmlformats.org/officeDocument/2006/relationships/notesSlide" Target="/ppt/notesSlides/notesSlide1.xml" Id="R69681645d33b48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008d95efebe4bfa" /><Relationship Type="http://schemas.openxmlformats.org/officeDocument/2006/relationships/image" Target="/ppt/media/image.png" Id="Rf9dded96767840a8" /><Relationship Type="http://schemas.openxmlformats.org/officeDocument/2006/relationships/notesSlide" Target="/ppt/notesSlides/notesSlide2.xml" Id="R26e1ba35db8549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efda6587d48452e" /><Relationship Type="http://schemas.openxmlformats.org/officeDocument/2006/relationships/image" Target="/ppt/media/image2.png" Id="R1808e40fc09b45b4" /><Relationship Type="http://schemas.openxmlformats.org/officeDocument/2006/relationships/notesSlide" Target="/ppt/notesSlides/notesSlide3.xml" Id="Rfc2cd1860d5541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55f56b987b644e7" /><Relationship Type="http://schemas.openxmlformats.org/officeDocument/2006/relationships/notesSlide" Target="/ppt/notesSlides/notesSlide4.xml" Id="R4bbfbf5445824f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e4ffd9238d14a6e" /><Relationship Type="http://schemas.openxmlformats.org/officeDocument/2006/relationships/notesSlide" Target="/ppt/notesSlides/notesSlide5.xml" Id="Rf6aef9103d7f4a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9efbd87855f4f4f" /><Relationship Type="http://schemas.openxmlformats.org/officeDocument/2006/relationships/notesSlide" Target="/ppt/notesSlides/notesSlide6.xml" Id="R0d02e58bb9994e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b31b86905c94b71" /><Relationship Type="http://schemas.openxmlformats.org/officeDocument/2006/relationships/image" Target="/ppt/media/image2.jpeg" Id="R40acc2cf29114788" /><Relationship Type="http://schemas.openxmlformats.org/officeDocument/2006/relationships/notesSlide" Target="/ppt/notesSlides/notesSlide7.xml" Id="R8c369ed402bd40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30a2d68907a48ee" /><Relationship Type="http://schemas.openxmlformats.org/officeDocument/2006/relationships/notesSlide" Target="/ppt/notesSlides/notesSlide8.xml" Id="Ra091e6349da64a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c2a1b146f264247" /><Relationship Type="http://schemas.openxmlformats.org/officeDocument/2006/relationships/image" Target="/ppt/media/image3.png" Id="Rf439e0b8a2ee4fe6" /><Relationship Type="http://schemas.openxmlformats.org/officeDocument/2006/relationships/notesSlide" Target="/ppt/notesSlides/notesSlide9.xml" Id="R9a742e70af384f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498b726a49149da" /><Relationship Type="http://schemas.openxmlformats.org/officeDocument/2006/relationships/image" Target="/ppt/media/image4.png" Id="R0f2df1049cb948cf" /><Relationship Type="http://schemas.openxmlformats.org/officeDocument/2006/relationships/notesSlide" Target="/ppt/notesSlides/notesSlide10.xml" Id="R2cd846577d1e4a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db40e3323da43aa" /><Relationship Type="http://schemas.openxmlformats.org/officeDocument/2006/relationships/notesSlide" Target="/ppt/notesSlides/notesSlide11.xml" Id="R1239427d6c61460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c734eb537f5440d" /><Relationship Type="http://schemas.openxmlformats.org/officeDocument/2006/relationships/image" Target="/ppt/media/image5.png" Id="Rb4fea6867e06486f" /><Relationship Type="http://schemas.openxmlformats.org/officeDocument/2006/relationships/notesSlide" Target="/ppt/notesSlides/notesSlide12.xml" Id="Ra5e2b1df49b647b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61e0fc6e20e41f7" /><Relationship Type="http://schemas.openxmlformats.org/officeDocument/2006/relationships/notesSlide" Target="/ppt/notesSlides/notesSlide13.xml" Id="R9563350787d24d2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a9c1c8ce3c74fba" /><Relationship Type="http://schemas.openxmlformats.org/officeDocument/2006/relationships/image" Target="/ppt/media/image6.png" Id="R74f0c9b6cae14673" /><Relationship Type="http://schemas.openxmlformats.org/officeDocument/2006/relationships/notesSlide" Target="/ppt/notesSlides/notesSlide14.xml" Id="Rc7748a6b192e47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be40b8cf6d44ea7" /><Relationship Type="http://schemas.openxmlformats.org/officeDocument/2006/relationships/notesSlide" Target="/ppt/notesSlides/notesSlide15.xml" Id="Rfe5182d933b14f0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508a08e35a041db" /><Relationship Type="http://schemas.openxmlformats.org/officeDocument/2006/relationships/image" Target="/ppt/media/image7.png" Id="Re04bb0bc35bc4c8b" /><Relationship Type="http://schemas.openxmlformats.org/officeDocument/2006/relationships/notesSlide" Target="/ppt/notesSlides/notesSlide16.xml" Id="R6b5ffbb579de41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b86232e5984424f" /><Relationship Type="http://schemas.openxmlformats.org/officeDocument/2006/relationships/notesSlide" Target="/ppt/notesSlides/notesSlide17.xml" Id="Rdde5e4ca10894bd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d98a9e96d5049f8" /><Relationship Type="http://schemas.openxmlformats.org/officeDocument/2006/relationships/image" Target="/ppt/media/image3.jpeg" Id="Ra57d71158d00466d" /><Relationship Type="http://schemas.openxmlformats.org/officeDocument/2006/relationships/notesSlide" Target="/ppt/notesSlides/notesSlide18.xml" Id="R6caac12e4f4448c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DBB936-5BBD-4641-B18C-3FDF5A36CE05}"/>
              </a:ext>
            </a:extLst>
          </p:cNvPr>
          <p:cNvSpPr>
            <a:spLocks xmlns:a="http://schemas.openxmlformats.org/drawingml/2006/main" noGrp="1"/>
          </p:cNvSpPr>
          <p:nvPr/>
        </p:nvSpPr>
        <p:spPr>
          <a:xfrm xmlns:a="http://schemas.openxmlformats.org/drawingml/2006/main">
            <a:off x="609600" y="619125"/>
            <a:ext cx="11049000" cy="1345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125" b="1">
                <a:solidFill>
                  <a:srgbClr val="172B3A"/>
                </a:solidFill>
                <a:latin typeface="Arial"/>
                <a:ea typeface="Arial"/>
                <a:cs typeface="Arial"/>
              </a:defRPr>
            </a:defPPr>
          </a:lstStyle>
          <a:p xmlns:a="http://schemas.openxmlformats.org/drawingml/2006/main">
            <a:pPr>
              <a:defRPr sz="4125" b="1">
                <a:solidFill>
                  <a:srgbClr val="172B3A"/>
                </a:solidFill>
                <a:latin typeface="Arial"/>
                <a:ea typeface="Arial"/>
                <a:cs typeface="Arial"/>
              </a:defRPr>
            </a:pPr>
            <a:r>
              <a:rPr sz="4125" b="1">
                <a:solidFill>
                  <a:srgbClr val="172B3A"/>
                </a:solidFill>
                <a:latin typeface="Arial"/>
                <a:ea typeface="Arial"/>
                <a:cs typeface="Arial"/>
              </a:rPr>
              <a:t>Voyager: radiación y decisiones</a:t>
            </a:r>
          </a:p>
          <a:p xmlns:a="http://schemas.openxmlformats.org/drawingml/2006/main">
            <a:pPr>
              <a:defRPr sz="4125" b="1">
                <a:solidFill>
                  <a:srgbClr val="172B3A"/>
                </a:solidFill>
                <a:latin typeface="Arial"/>
                <a:ea typeface="Arial"/>
                <a:cs typeface="Arial"/>
              </a:defRPr>
            </a:pPr>
            <a:r>
              <a:rPr sz="4125" b="1">
                <a:solidFill>
                  <a:srgbClr val="172B3A"/>
                </a:solidFill>
                <a:latin typeface="Arial"/>
                <a:ea typeface="Arial"/>
                <a:cs typeface="Arial"/>
              </a:rPr>
              <a:t>electrónicas</a:t>
            </a:r>
          </a:p>
        </p:txBody>
      </p:sp>
      <p:sp>
        <p:nvSpPr>
          <p:cNvPr id="2" name="">
            <a:extLst xmlns:a="http://schemas.openxmlformats.org/drawingml/2006/main">
              <a:ext uri="{FF2B5EF4-FFF2-40B4-BE49-F238E27FC236}">
                <a16:creationId xmlns:a16="http://schemas.microsoft.com/office/drawing/2014/main" id="{34021496-7212-4C58-AC8F-C2F008D638C1}"/>
              </a:ext>
            </a:extLst>
          </p:cNvPr>
          <p:cNvSpPr>
            <a:spLocks xmlns:a="http://schemas.openxmlformats.org/drawingml/2006/main" noGrp="1"/>
          </p:cNvSpPr>
          <p:nvPr/>
        </p:nvSpPr>
        <p:spPr>
          <a:xfrm xmlns:a="http://schemas.openxmlformats.org/drawingml/2006/main">
            <a:off x="609600" y="2409825"/>
            <a:ext cx="6191250" cy="4554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26F87"/>
                </a:solidFill>
                <a:latin typeface="Arial"/>
                <a:ea typeface="Arial"/>
                <a:cs typeface="Arial"/>
              </a:defRPr>
            </a:defPPr>
          </a:lstStyle>
          <a:p xmlns:a="http://schemas.openxmlformats.org/drawingml/2006/main">
            <a:pPr>
              <a:defRPr sz="2550" b="0">
                <a:solidFill>
                  <a:srgbClr val="126F87"/>
                </a:solidFill>
                <a:latin typeface="Arial"/>
                <a:ea typeface="Arial"/>
                <a:cs typeface="Arial"/>
              </a:defRPr>
            </a:pPr>
            <a:r>
              <a:rPr sz="2550" b="0">
                <a:solidFill>
                  <a:srgbClr val="126F87"/>
                </a:solidFill>
                <a:latin typeface="Arial"/>
                <a:ea typeface="Arial"/>
                <a:cs typeface="Arial"/>
              </a:rPr>
              <a:t>Ignacio Cavicchioli</a:t>
            </a:r>
          </a:p>
        </p:txBody>
      </p:sp>
      <p:sp>
        <p:nvSpPr>
          <p:cNvPr id="3" name="">
            <a:extLst xmlns:a="http://schemas.openxmlformats.org/drawingml/2006/main">
              <a:ext uri="{FF2B5EF4-FFF2-40B4-BE49-F238E27FC236}">
                <a16:creationId xmlns:a16="http://schemas.microsoft.com/office/drawing/2014/main" id="{88102F68-501F-4330-9E58-BB06716A6F20}"/>
              </a:ext>
            </a:extLst>
          </p:cNvPr>
          <p:cNvSpPr>
            <a:spLocks xmlns:a="http://schemas.openxmlformats.org/drawingml/2006/main" noGrp="1"/>
          </p:cNvSpPr>
          <p:nvPr/>
        </p:nvSpPr>
        <p:spPr>
          <a:xfrm xmlns:a="http://schemas.openxmlformats.org/drawingml/2006/main">
            <a:off x="609600" y="3133725"/>
            <a:ext cx="5715000" cy="2048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Voyager lleva casi cincuenta años en el</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espacio. Vamos a recorrer las</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decisiones del programa de radiación</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que preparó su electrónica para los</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encuentros planetarios.</a:t>
            </a:r>
          </a:p>
        </p:txBody>
      </p:sp>
      <p:pic>
        <p:nvPicPr>
          <p:cNvPr id="4" name="">
            <a:extLst xmlns:a="http://schemas.openxmlformats.org/drawingml/2006/main">
              <a:ext uri="{FF2B5EF4-FFF2-40B4-BE49-F238E27FC236}">
                <a16:creationId xmlns:a16="http://schemas.microsoft.com/office/drawing/2014/main" id="{8A18167F-0EE4-43C1-8DBC-1FB27C8EA31F}"/>
              </a:ext>
            </a:extLst>
          </p:cNvPr>
          <p:cNvPicPr>
            <a:picLocks xmlns:a="http://schemas.openxmlformats.org/drawingml/2006/main" noChangeAspect="1"/>
          </p:cNvPicPr>
          <p:nvPr/>
        </p:nvPicPr>
        <p:blipFill>
          <a:blip xmlns:r="http://schemas.openxmlformats.org/officeDocument/2006/relationships" xmlns:a="http://schemas.openxmlformats.org/drawingml/2006/main" r:embed="Rc352f5d47824415d"/>
          <a:stretch xmlns:a="http://schemas.openxmlformats.org/drawingml/2006/main"/>
        </p:blipFill>
        <p:spPr>
          <a:xfrm xmlns:a="http://schemas.openxmlformats.org/drawingml/2006/main">
            <a:off x="6858000" y="2738140"/>
            <a:ext cx="4524375" cy="247709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05C457A-CB67-43EE-BD4C-E29CC1E7F27E}"/>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Informe JPL 77-41, volumen I · 1977</a:t>
            </a:r>
          </a:p>
        </p:txBody>
      </p:sp>
      <p:sp>
        <p:nvSpPr>
          <p:cNvPr id="6" name="">
            <a:extLst xmlns:a="http://schemas.openxmlformats.org/drawingml/2006/main">
              <a:ext uri="{FF2B5EF4-FFF2-40B4-BE49-F238E27FC236}">
                <a16:creationId xmlns:a16="http://schemas.microsoft.com/office/drawing/2014/main" id="{F8FCAEF8-D8E1-4FC0-A6C0-259CEBB7D95F}"/>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01</a:t>
            </a:r>
          </a:p>
        </p:txBody>
      </p:sp>
    </p:spTree>
    <p:extLst>
      <p:ext uri="{BB962C8B-B14F-4D97-AF65-F5344CB8AC3E}">
        <p14:creationId xmlns:p14="http://schemas.microsoft.com/office/powerpoint/2010/main" val="12382319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18D105-69DA-4781-A87C-FD9939E71E19}"/>
              </a:ext>
            </a:extLst>
          </p:cNvPr>
          <p:cNvSpPr>
            <a:spLocks xmlns:a="http://schemas.openxmlformats.org/drawingml/2006/main" noGrp="1"/>
          </p:cNvSpPr>
          <p:nvPr/>
        </p:nvSpPr>
        <p:spPr>
          <a:xfrm xmlns:a="http://schemas.openxmlformats.org/drawingml/2006/main">
            <a:off x="609600" y="457200"/>
            <a:ext cx="1093470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Dos sondas y un recorrido de décadas</a:t>
            </a:r>
          </a:p>
        </p:txBody>
      </p:sp>
      <p:sp>
        <p:nvSpPr>
          <p:cNvPr id="2" name="">
            <a:extLst xmlns:a="http://schemas.openxmlformats.org/drawingml/2006/main">
              <a:ext uri="{FF2B5EF4-FFF2-40B4-BE49-F238E27FC236}">
                <a16:creationId xmlns:a16="http://schemas.microsoft.com/office/drawing/2014/main" id="{8DD8CAED-04A1-4B6D-ABDE-CE2FC8E81F36}"/>
              </a:ext>
            </a:extLst>
          </p:cNvPr>
          <p:cNvSpPr>
            <a:spLocks xmlns:a="http://schemas.openxmlformats.org/drawingml/2006/main" noGrp="1"/>
          </p:cNvSpPr>
          <p:nvPr/>
        </p:nvSpPr>
        <p:spPr>
          <a:xfrm xmlns:a="http://schemas.openxmlformats.org/drawingml/2006/main">
            <a:off x="609600" y="1495425"/>
            <a:ext cx="5619750" cy="19316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Voyager 2 despegó el 20 de agosto de</a:t>
            </a:r>
          </a:p>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1977 y Voyager 1 el 5 de septiembre.</a:t>
            </a:r>
          </a:p>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Ambas visitaron Júpiter y Saturno;</a:t>
            </a:r>
          </a:p>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Voyager 2 continuó hacia Urano y</a:t>
            </a:r>
          </a:p>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Neptuno.</a:t>
            </a:r>
          </a:p>
        </p:txBody>
      </p:sp>
      <p:pic>
        <p:nvPicPr>
          <p:cNvPr id="3" name="">
            <a:extLst xmlns:a="http://schemas.openxmlformats.org/drawingml/2006/main">
              <a:ext uri="{FF2B5EF4-FFF2-40B4-BE49-F238E27FC236}">
                <a16:creationId xmlns:a16="http://schemas.microsoft.com/office/drawing/2014/main" id="{2FC315A7-018C-4CC6-94CF-7AF5FECF967A}"/>
              </a:ext>
            </a:extLst>
          </p:cNvPr>
          <p:cNvPicPr>
            <a:picLocks xmlns:a="http://schemas.openxmlformats.org/drawingml/2006/main" noChangeAspect="1"/>
          </p:cNvPicPr>
          <p:nvPr/>
        </p:nvPicPr>
        <p:blipFill>
          <a:blip xmlns:r="http://schemas.openxmlformats.org/officeDocument/2006/relationships" xmlns:a="http://schemas.openxmlformats.org/drawingml/2006/main" r:embed="Rf9dded96767840a8"/>
          <a:stretch xmlns:a="http://schemas.openxmlformats.org/drawingml/2006/main"/>
        </p:blipFill>
        <p:spPr>
          <a:xfrm xmlns:a="http://schemas.openxmlformats.org/drawingml/2006/main">
            <a:off x="7001076" y="1428750"/>
            <a:ext cx="4219173"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7AFE0BB-3FD6-460D-B37B-0D21FDBCFCE3}"/>
              </a:ext>
            </a:extLst>
          </p:cNvPr>
          <p:cNvSpPr>
            <a:spLocks xmlns:a="http://schemas.openxmlformats.org/drawingml/2006/main" noGrp="1"/>
          </p:cNvSpPr>
          <p:nvPr/>
        </p:nvSpPr>
        <p:spPr>
          <a:xfrm xmlns:a="http://schemas.openxmlformats.org/drawingml/2006/main">
            <a:off x="609600" y="4143375"/>
            <a:ext cx="5667375" cy="736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V1: &gt;25.000 millones de km</a:t>
            </a:r>
          </a:p>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V2: &gt;21.000 millones de km</a:t>
            </a:r>
          </a:p>
        </p:txBody>
      </p:sp>
      <p:sp>
        <p:nvSpPr>
          <p:cNvPr id="5" name="">
            <a:extLst xmlns:a="http://schemas.openxmlformats.org/drawingml/2006/main">
              <a:ext uri="{FF2B5EF4-FFF2-40B4-BE49-F238E27FC236}">
                <a16:creationId xmlns:a16="http://schemas.microsoft.com/office/drawing/2014/main" id="{FE92B066-B1B1-451A-9684-ECB6C29DA5A3}"/>
              </a:ext>
            </a:extLst>
          </p:cNvPr>
          <p:cNvSpPr>
            <a:spLocks xmlns:a="http://schemas.openxmlformats.org/drawingml/2006/main" noGrp="1"/>
          </p:cNvSpPr>
          <p:nvPr/>
        </p:nvSpPr>
        <p:spPr>
          <a:xfrm xmlns:a="http://schemas.openxmlformats.org/drawingml/2006/main">
            <a:off x="609600" y="5105400"/>
            <a:ext cx="5810250" cy="350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0">
                <a:solidFill>
                  <a:srgbClr val="49616E"/>
                </a:solidFill>
                <a:latin typeface="Arial"/>
                <a:ea typeface="Arial"/>
                <a:cs typeface="Arial"/>
              </a:defRPr>
            </a:defPPr>
          </a:lstStyle>
          <a:p xmlns:a="http://schemas.openxmlformats.org/drawingml/2006/main">
            <a:pPr>
              <a:defRPr sz="1875" b="0">
                <a:solidFill>
                  <a:srgbClr val="49616E"/>
                </a:solidFill>
                <a:latin typeface="Arial"/>
                <a:ea typeface="Arial"/>
                <a:cs typeface="Arial"/>
              </a:defRPr>
            </a:pPr>
            <a:r>
              <a:rPr sz="1875" b="0">
                <a:solidFill>
                  <a:srgbClr val="49616E"/>
                </a:solidFill>
                <a:latin typeface="Arial"/>
                <a:ea typeface="Arial"/>
                <a:cs typeface="Arial"/>
              </a:rPr>
              <a:t>A la Tierra · NASA, 05/03/2025</a:t>
            </a:r>
          </a:p>
        </p:txBody>
      </p:sp>
      <p:sp>
        <p:nvSpPr>
          <p:cNvPr id="6" name="">
            <a:extLst xmlns:a="http://schemas.openxmlformats.org/drawingml/2006/main">
              <a:ext uri="{FF2B5EF4-FFF2-40B4-BE49-F238E27FC236}">
                <a16:creationId xmlns:a16="http://schemas.microsoft.com/office/drawing/2014/main" id="{46C9E56E-6811-4012-A0FD-EF6C349D644C}"/>
              </a:ext>
            </a:extLst>
          </p:cNvPr>
          <p:cNvSpPr>
            <a:spLocks xmlns:a="http://schemas.openxmlformats.org/drawingml/2006/main" noGrp="1"/>
          </p:cNvSpPr>
          <p:nvPr/>
        </p:nvSpPr>
        <p:spPr>
          <a:xfrm xmlns:a="http://schemas.openxmlformats.org/drawingml/2006/main">
            <a:off x="609600" y="5619750"/>
            <a:ext cx="10906125" cy="396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72B3A"/>
                </a:solidFill>
                <a:latin typeface="Arial"/>
                <a:ea typeface="Arial"/>
                <a:cs typeface="Arial"/>
              </a:defRPr>
            </a:defPPr>
          </a:lstStyle>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49 años desde los lanzamientos, al 16/10/2026.</a:t>
            </a:r>
          </a:p>
        </p:txBody>
      </p:sp>
      <p:sp>
        <p:nvSpPr>
          <p:cNvPr id="7" name="">
            <a:extLst xmlns:a="http://schemas.openxmlformats.org/drawingml/2006/main">
              <a:ext uri="{FF2B5EF4-FFF2-40B4-BE49-F238E27FC236}">
                <a16:creationId xmlns:a16="http://schemas.microsoft.com/office/drawing/2014/main" id="{55DC283C-A405-47DA-B1F3-E761B62D283B}"/>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NASA · Historia 2022 y comunicado del 05/03/2025</a:t>
            </a:r>
          </a:p>
        </p:txBody>
      </p:sp>
      <p:sp>
        <p:nvSpPr>
          <p:cNvPr id="8" name="">
            <a:extLst xmlns:a="http://schemas.openxmlformats.org/drawingml/2006/main">
              <a:ext uri="{FF2B5EF4-FFF2-40B4-BE49-F238E27FC236}">
                <a16:creationId xmlns:a16="http://schemas.microsoft.com/office/drawing/2014/main" id="{9B28180F-F466-41C9-BEAA-020CC556854B}"/>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02</a:t>
            </a:r>
          </a:p>
        </p:txBody>
      </p:sp>
    </p:spTree>
    <p:extLst>
      <p:ext uri="{BB962C8B-B14F-4D97-AF65-F5344CB8AC3E}">
        <p14:creationId xmlns:p14="http://schemas.microsoft.com/office/powerpoint/2010/main" val="15720014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3574C3-4C75-44DB-ABCB-9F7ADEE41C4A}"/>
              </a:ext>
            </a:extLst>
          </p:cNvPr>
          <p:cNvSpPr>
            <a:spLocks xmlns:a="http://schemas.openxmlformats.org/drawingml/2006/main" noGrp="1"/>
          </p:cNvSpPr>
          <p:nvPr/>
        </p:nvSpPr>
        <p:spPr>
          <a:xfrm xmlns:a="http://schemas.openxmlformats.org/drawingml/2006/main">
            <a:off x="609600" y="457200"/>
            <a:ext cx="1097280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Pioneer cambió las prioridades</a:t>
            </a:r>
          </a:p>
        </p:txBody>
      </p:sp>
      <p:sp>
        <p:nvSpPr>
          <p:cNvPr id="2" name="">
            <a:extLst xmlns:a="http://schemas.openxmlformats.org/drawingml/2006/main">
              <a:ext uri="{FF2B5EF4-FFF2-40B4-BE49-F238E27FC236}">
                <a16:creationId xmlns:a16="http://schemas.microsoft.com/office/drawing/2014/main" id="{6036E98B-2F81-45ED-896B-9ABD534A563C}"/>
              </a:ext>
            </a:extLst>
          </p:cNvPr>
          <p:cNvSpPr>
            <a:spLocks xmlns:a="http://schemas.openxmlformats.org/drawingml/2006/main" noGrp="1"/>
          </p:cNvSpPr>
          <p:nvPr/>
        </p:nvSpPr>
        <p:spPr>
          <a:xfrm xmlns:a="http://schemas.openxmlformats.org/drawingml/2006/main">
            <a:off x="609600" y="1581150"/>
            <a:ext cx="5381625" cy="2763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75" b="0">
                <a:solidFill>
                  <a:srgbClr val="172B3A"/>
                </a:solidFill>
                <a:latin typeface="Arial"/>
                <a:ea typeface="Arial"/>
                <a:cs typeface="Arial"/>
              </a:defRPr>
            </a:defPPr>
          </a:lstStyle>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Según el informe, la radiación</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inicialmente no se consideraba un</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problema para Voyager. Las</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mediciones de Pioneer en Júpiter</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impulsaron un programa intensivo</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para revisar circuitos que ya estaban</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diseñados.</a:t>
            </a:r>
          </a:p>
        </p:txBody>
      </p:sp>
      <p:pic>
        <p:nvPicPr>
          <p:cNvPr id="3" name="">
            <a:extLst xmlns:a="http://schemas.openxmlformats.org/drawingml/2006/main">
              <a:ext uri="{FF2B5EF4-FFF2-40B4-BE49-F238E27FC236}">
                <a16:creationId xmlns:a16="http://schemas.microsoft.com/office/drawing/2014/main" id="{35176917-A181-4B5D-A5F6-C80A1344C611}"/>
              </a:ext>
            </a:extLst>
          </p:cNvPr>
          <p:cNvPicPr>
            <a:picLocks xmlns:a="http://schemas.openxmlformats.org/drawingml/2006/main" noChangeAspect="1"/>
          </p:cNvPicPr>
          <p:nvPr/>
        </p:nvPicPr>
        <p:blipFill>
          <a:blip xmlns:r="http://schemas.openxmlformats.org/officeDocument/2006/relationships" xmlns:a="http://schemas.openxmlformats.org/drawingml/2006/main" r:embed="R1808e40fc09b45b4"/>
          <a:stretch xmlns:a="http://schemas.openxmlformats.org/drawingml/2006/main"/>
        </p:blipFill>
        <p:spPr>
          <a:xfrm xmlns:a="http://schemas.openxmlformats.org/drawingml/2006/main">
            <a:off x="6553200" y="2164416"/>
            <a:ext cx="5010150" cy="235771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726E85D-BEC5-4A48-97BC-C73754E74414}"/>
              </a:ext>
            </a:extLst>
          </p:cNvPr>
          <p:cNvSpPr>
            <a:spLocks xmlns:a="http://schemas.openxmlformats.org/drawingml/2006/main" noGrp="1"/>
          </p:cNvSpPr>
          <p:nvPr/>
        </p:nvSpPr>
        <p:spPr>
          <a:xfrm xmlns:a="http://schemas.openxmlformats.org/drawingml/2006/main">
            <a:off x="6553200" y="5314950"/>
            <a:ext cx="5010150" cy="350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0">
                <a:solidFill>
                  <a:srgbClr val="49616E"/>
                </a:solidFill>
                <a:latin typeface="Arial"/>
                <a:ea typeface="Arial"/>
                <a:cs typeface="Arial"/>
              </a:defRPr>
            </a:defPPr>
          </a:lstStyle>
          <a:p xmlns:a="http://schemas.openxmlformats.org/drawingml/2006/main">
            <a:pPr>
              <a:defRPr sz="1875" b="0">
                <a:solidFill>
                  <a:srgbClr val="49616E"/>
                </a:solidFill>
                <a:latin typeface="Arial"/>
                <a:ea typeface="Arial"/>
                <a:cs typeface="Arial"/>
              </a:defRPr>
            </a:pPr>
            <a:r>
              <a:rPr sz="1875" b="0">
                <a:solidFill>
                  <a:srgbClr val="49616E"/>
                </a:solidFill>
                <a:latin typeface="Arial"/>
                <a:ea typeface="Arial"/>
                <a:cs typeface="Arial"/>
              </a:rPr>
              <a:t>Cinturones jovianos · NASA/JPL</a:t>
            </a:r>
          </a:p>
        </p:txBody>
      </p:sp>
      <p:sp>
        <p:nvSpPr>
          <p:cNvPr id="5" name="">
            <a:extLst xmlns:a="http://schemas.openxmlformats.org/drawingml/2006/main">
              <a:ext uri="{FF2B5EF4-FFF2-40B4-BE49-F238E27FC236}">
                <a16:creationId xmlns:a16="http://schemas.microsoft.com/office/drawing/2014/main" id="{8584DB8D-D483-465E-BB58-76939CBBD197}"/>
              </a:ext>
            </a:extLst>
          </p:cNvPr>
          <p:cNvSpPr>
            <a:spLocks xmlns:a="http://schemas.openxmlformats.org/drawingml/2006/main" noGrp="1"/>
          </p:cNvSpPr>
          <p:nvPr/>
        </p:nvSpPr>
        <p:spPr>
          <a:xfrm xmlns:a="http://schemas.openxmlformats.org/drawingml/2006/main">
            <a:off x="609600" y="5715000"/>
            <a:ext cx="10934700" cy="37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025" b="0">
                <a:solidFill>
                  <a:srgbClr val="126F87"/>
                </a:solidFill>
                <a:latin typeface="Arial"/>
                <a:ea typeface="Arial"/>
                <a:cs typeface="Arial"/>
              </a:defRPr>
            </a:defPPr>
          </a:lstStyle>
          <a:p xmlns:a="http://schemas.openxmlformats.org/drawingml/2006/main">
            <a:pPr>
              <a:defRPr sz="2025" b="0">
                <a:solidFill>
                  <a:srgbClr val="126F87"/>
                </a:solidFill>
                <a:latin typeface="Arial"/>
                <a:ea typeface="Arial"/>
                <a:cs typeface="Arial"/>
              </a:defRPr>
            </a:pPr>
            <a:r>
              <a:rPr sz="2025" b="0">
                <a:solidFill>
                  <a:srgbClr val="126F87"/>
                </a:solidFill>
                <a:latin typeface="Arial"/>
                <a:ea typeface="Arial"/>
                <a:cs typeface="Arial"/>
              </a:rPr>
              <a:t>El programa tuvo que trabajar sobre diseños y componentes ya elegidos.</a:t>
            </a:r>
          </a:p>
        </p:txBody>
      </p:sp>
      <p:sp>
        <p:nvSpPr>
          <p:cNvPr id="6" name="">
            <a:extLst xmlns:a="http://schemas.openxmlformats.org/drawingml/2006/main">
              <a:ext uri="{FF2B5EF4-FFF2-40B4-BE49-F238E27FC236}">
                <a16:creationId xmlns:a16="http://schemas.microsoft.com/office/drawing/2014/main" id="{0FF406CB-4554-469F-A60D-5A1C8B212ECB}"/>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JPL · §VI.A, p. 6-1 / PDF 81</a:t>
            </a:r>
          </a:p>
        </p:txBody>
      </p:sp>
      <p:sp>
        <p:nvSpPr>
          <p:cNvPr id="7" name="">
            <a:extLst xmlns:a="http://schemas.openxmlformats.org/drawingml/2006/main">
              <a:ext uri="{FF2B5EF4-FFF2-40B4-BE49-F238E27FC236}">
                <a16:creationId xmlns:a16="http://schemas.microsoft.com/office/drawing/2014/main" id="{CA662F8A-DBE1-46F7-BD8D-0C8EDBBF2756}"/>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03</a:t>
            </a:r>
          </a:p>
        </p:txBody>
      </p:sp>
    </p:spTree>
    <p:extLst>
      <p:ext uri="{BB962C8B-B14F-4D97-AF65-F5344CB8AC3E}">
        <p14:creationId xmlns:p14="http://schemas.microsoft.com/office/powerpoint/2010/main" val="13909661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59C060-0A01-4853-9BF7-2E3850998FE5}"/>
              </a:ext>
            </a:extLst>
          </p:cNvPr>
          <p:cNvSpPr>
            <a:spLocks xmlns:a="http://schemas.openxmlformats.org/drawingml/2006/main" noGrp="1"/>
          </p:cNvSpPr>
          <p:nvPr/>
        </p:nvSpPr>
        <p:spPr>
          <a:xfrm xmlns:a="http://schemas.openxmlformats.org/drawingml/2006/main">
            <a:off x="609600" y="457200"/>
            <a:ext cx="10972800" cy="5609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El ambiente exterior y el que llega al circuito</a:t>
            </a:r>
          </a:p>
        </p:txBody>
      </p:sp>
      <p:sp>
        <p:nvSpPr>
          <p:cNvPr id="2" name="">
            <a:extLst xmlns:a="http://schemas.openxmlformats.org/drawingml/2006/main">
              <a:ext uri="{FF2B5EF4-FFF2-40B4-BE49-F238E27FC236}">
                <a16:creationId xmlns:a16="http://schemas.microsoft.com/office/drawing/2014/main" id="{3D1D0CAF-FA2A-4FD2-A425-B807C9AFBDD3}"/>
              </a:ext>
            </a:extLst>
          </p:cNvPr>
          <p:cNvSpPr>
            <a:spLocks xmlns:a="http://schemas.openxmlformats.org/drawingml/2006/main" noGrp="1"/>
          </p:cNvSpPr>
          <p:nvPr/>
        </p:nvSpPr>
        <p:spPr>
          <a:xfrm xmlns:a="http://schemas.openxmlformats.org/drawingml/2006/main">
            <a:off x="609600" y="1600200"/>
            <a:ext cx="10972800" cy="11818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El programa consideró radiación solar, cósmica y atrapada, además de las</a:t>
            </a:r>
          </a:p>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fuentes radiactivas a bordo. Dentro de la nave, identificó a los electrones</a:t>
            </a:r>
          </a:p>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penetrantes de Júpiter como el aporte dominante al daño por ionización.</a:t>
            </a:r>
          </a:p>
        </p:txBody>
      </p:sp>
      <p:graphicFrame>
        <p:nvGraphicFramePr>
          <p:cNvPr id="3" name="">
            <a:extLst xmlns:a="http://schemas.openxmlformats.org/drawingml/2006/main">
              <a:ext uri="{FF2B5EF4-FFF2-40B4-BE49-F238E27FC236}">
                <a16:creationId xmlns:a16="http://schemas.microsoft.com/office/drawing/2014/main" id="{CFD2462C-557F-4941-9B48-3F2095367950}"/>
              </a:ext>
            </a:extLst>
          </p:cNvPr>
          <p:cNvGraphicFramePr/>
          <p:nvPr/>
        </p:nvGraphicFramePr>
        <p:xfrm>
          <a:off xmlns:a="http://schemas.openxmlformats.org/drawingml/2006/main" x="609600" y="3238500"/>
          <a:ext xmlns:a="http://schemas.openxmlformats.org/drawingml/2006/main" cx="10972800" cy="2343150"/>
        </p:xfrm>
        <a:graphic xmlns:a="http://schemas.openxmlformats.org/drawingml/2006/main">
          <a:graphicData uri="http://schemas.openxmlformats.org/drawingml/2006/table">
            <a:tbl>
              <a:tblPr/>
              <a:tblGrid>
                <a:gridCol w="5238750"/>
                <a:gridCol w="5734050"/>
              </a:tblGrid>
              <a:tr h="585788">
                <a:tc>
                  <a:txBody>
                    <a:bodyPr>
                      <a:noAutofit/>
                    </a:bodyPr>
                    <a:lstStyle/>
                    <a:p>
                      <a:r>
                        <a:rPr sz="2175" b="1">
                          <a:solidFill>
                            <a:srgbClr val="FFFFFF"/>
                          </a:solidFill>
                          <a:latin typeface="Arial"/>
                          <a:ea typeface="Arial"/>
                          <a:cs typeface="Arial"/>
                        </a:rPr>
                        <a:t>Situación</a:t>
                      </a:r>
                    </a:p>
                  </a:txBody>
                  <a:tcPr marL="91440" marR="91440" marT="45720" marB="45720">
                    <a:lnL w="5715">
                      <a:solidFill>
                        <a:srgbClr val="D7E2E6"/>
                      </a:solidFill>
                      <a:prstDash val="solid"/>
                    </a:lnL>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c>
                  <a:txBody>
                    <a:bodyPr>
                      <a:noAutofit/>
                    </a:bodyPr>
                    <a:lstStyle/>
                    <a:p>
                      <a:r>
                        <a:rPr sz="2175" b="1">
                          <a:solidFill>
                            <a:srgbClr val="FFFFFF"/>
                          </a:solidFill>
                          <a:latin typeface="Arial"/>
                          <a:ea typeface="Arial"/>
                          <a:cs typeface="Arial"/>
                        </a:rPr>
                        <a:t>Poblaciones del modelo</a:t>
                      </a:r>
                    </a:p>
                  </a:txBody>
                  <a:tcPr marL="91440" marR="91440" marT="45720" marB="45720">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r>
              <a:tr h="585788">
                <a:tc>
                  <a:txBody>
                    <a:bodyPr>
                      <a:noAutofit/>
                    </a:bodyPr>
                    <a:lstStyle/>
                    <a:p>
                      <a:r>
                        <a:rPr sz="2175" b="0">
                          <a:solidFill>
                            <a:srgbClr val="172B3A"/>
                          </a:solidFill>
                          <a:latin typeface="Arial"/>
                          <a:ea typeface="Arial"/>
                          <a:cs typeface="Arial"/>
                        </a:rPr>
                        <a:t>Crucero</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175" b="0">
                          <a:solidFill>
                            <a:srgbClr val="172B3A"/>
                          </a:solidFill>
                          <a:latin typeface="Arial"/>
                          <a:ea typeface="Arial"/>
                          <a:cs typeface="Arial"/>
                        </a:rPr>
                        <a:t>Solar y cósmica galáctica</a:t>
                      </a:r>
                    </a:p>
                  </a:txBody>
                  <a:tcPr marL="91440" marR="91440" marT="45720" marB="45720">
                    <a:lnR w="5715">
                      <a:solidFill>
                        <a:srgbClr val="D7E2E6"/>
                      </a:solidFill>
                      <a:prstDash val="solid"/>
                    </a:lnR>
                    <a:lnB w="5715">
                      <a:solidFill>
                        <a:srgbClr val="D7E2E6"/>
                      </a:solidFill>
                      <a:prstDash val="solid"/>
                    </a:lnB>
                    <a:solidFill>
                      <a:srgbClr val="FFFFFF"/>
                    </a:solidFill>
                  </a:tcPr>
                </a:tc>
              </a:tr>
              <a:tr h="585788">
                <a:tc>
                  <a:txBody>
                    <a:bodyPr>
                      <a:noAutofit/>
                    </a:bodyPr>
                    <a:lstStyle/>
                    <a:p>
                      <a:r>
                        <a:rPr sz="2175" b="0">
                          <a:solidFill>
                            <a:srgbClr val="172B3A"/>
                          </a:solidFill>
                          <a:latin typeface="Arial"/>
                          <a:ea typeface="Arial"/>
                          <a:cs typeface="Arial"/>
                        </a:rPr>
                        <a:t>Cinturones terrestres y jovianos</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175" b="0">
                          <a:solidFill>
                            <a:srgbClr val="172B3A"/>
                          </a:solidFill>
                          <a:latin typeface="Arial"/>
                          <a:ea typeface="Arial"/>
                          <a:cs typeface="Arial"/>
                        </a:rPr>
                        <a:t>Electrones y protones atrapados</a:t>
                      </a:r>
                    </a:p>
                  </a:txBody>
                  <a:tcPr marL="91440" marR="91440" marT="45720" marB="45720">
                    <a:lnR w="5715">
                      <a:solidFill>
                        <a:srgbClr val="D7E2E6"/>
                      </a:solidFill>
                      <a:prstDash val="solid"/>
                    </a:lnR>
                    <a:lnB w="5715">
                      <a:solidFill>
                        <a:srgbClr val="D7E2E6"/>
                      </a:solidFill>
                      <a:prstDash val="solid"/>
                    </a:lnB>
                    <a:solidFill>
                      <a:srgbClr val="FFFFFF"/>
                    </a:solidFill>
                  </a:tcPr>
                </a:tc>
              </a:tr>
              <a:tr h="585788">
                <a:tc>
                  <a:txBody>
                    <a:bodyPr>
                      <a:noAutofit/>
                    </a:bodyPr>
                    <a:lstStyle/>
                    <a:p>
                      <a:r>
                        <a:rPr sz="2175" b="0">
                          <a:solidFill>
                            <a:srgbClr val="172B3A"/>
                          </a:solidFill>
                          <a:latin typeface="Arial"/>
                          <a:ea typeface="Arial"/>
                          <a:cs typeface="Arial"/>
                        </a:rPr>
                        <a:t>Fuentes a bordo</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175" b="0">
                          <a:solidFill>
                            <a:srgbClr val="172B3A"/>
                          </a:solidFill>
                          <a:latin typeface="Arial"/>
                          <a:ea typeface="Arial"/>
                          <a:cs typeface="Arial"/>
                        </a:rPr>
                        <a:t>Neutrones y gamma de RTG/RHU</a:t>
                      </a:r>
                    </a:p>
                  </a:txBody>
                  <a:tcPr marL="91440" marR="91440" marT="45720" marB="45720">
                    <a:lnR w="5715">
                      <a:solidFill>
                        <a:srgbClr val="D7E2E6"/>
                      </a:solidFill>
                      <a:prstDash val="solid"/>
                    </a:lnR>
                    <a:lnB w="5715">
                      <a:solidFill>
                        <a:srgbClr val="D7E2E6"/>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80583FF-BCB7-4E08-ABDB-6942E65CE3AA}"/>
              </a:ext>
            </a:extLst>
          </p:cNvPr>
          <p:cNvSpPr>
            <a:spLocks xmlns:a="http://schemas.openxmlformats.org/drawingml/2006/main" noGrp="1"/>
          </p:cNvSpPr>
          <p:nvPr/>
        </p:nvSpPr>
        <p:spPr>
          <a:xfrm xmlns:a="http://schemas.openxmlformats.org/drawingml/2006/main">
            <a:off x="609600" y="5810250"/>
            <a:ext cx="10972800" cy="361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b="0">
                <a:solidFill>
                  <a:srgbClr val="126F87"/>
                </a:solidFill>
                <a:latin typeface="Arial"/>
                <a:ea typeface="Arial"/>
                <a:cs typeface="Arial"/>
              </a:defRPr>
            </a:defPPr>
          </a:lstStyle>
          <a:p xmlns:a="http://schemas.openxmlformats.org/drawingml/2006/main">
            <a:pPr>
              <a:defRPr sz="1950" b="0">
                <a:solidFill>
                  <a:srgbClr val="126F87"/>
                </a:solidFill>
                <a:latin typeface="Arial"/>
                <a:ea typeface="Arial"/>
                <a:cs typeface="Arial"/>
              </a:defRPr>
            </a:pPr>
            <a:r>
              <a:rPr sz="1950" b="0">
                <a:solidFill>
                  <a:srgbClr val="126F87"/>
                </a:solidFill>
                <a:latin typeface="Arial"/>
                <a:ea typeface="Arial"/>
                <a:cs typeface="Arial"/>
              </a:rPr>
              <a:t>La exposición local depende de la estructura y de la ubicación del componente.</a:t>
            </a:r>
          </a:p>
        </p:txBody>
      </p:sp>
      <p:sp>
        <p:nvSpPr>
          <p:cNvPr id="5" name="">
            <a:extLst xmlns:a="http://schemas.openxmlformats.org/drawingml/2006/main">
              <a:ext uri="{FF2B5EF4-FFF2-40B4-BE49-F238E27FC236}">
                <a16:creationId xmlns:a16="http://schemas.microsoft.com/office/drawing/2014/main" id="{F969A934-DC17-4615-8393-A4FA513BF010}"/>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JPL · §II, pp. 2-1 a 2-4 / PDF 25-28</a:t>
            </a:r>
          </a:p>
        </p:txBody>
      </p:sp>
      <p:sp>
        <p:nvSpPr>
          <p:cNvPr id="6" name="">
            <a:extLst xmlns:a="http://schemas.openxmlformats.org/drawingml/2006/main">
              <a:ext uri="{FF2B5EF4-FFF2-40B4-BE49-F238E27FC236}">
                <a16:creationId xmlns:a16="http://schemas.microsoft.com/office/drawing/2014/main" id="{E3E9B2BB-C07F-4D9D-8068-83B29A0C7B3A}"/>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04</a:t>
            </a:r>
          </a:p>
        </p:txBody>
      </p:sp>
    </p:spTree>
    <p:extLst>
      <p:ext uri="{BB962C8B-B14F-4D97-AF65-F5344CB8AC3E}">
        <p14:creationId xmlns:p14="http://schemas.microsoft.com/office/powerpoint/2010/main" val="811197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F8F96C-E52E-471A-91AA-AD64EC49B814}"/>
              </a:ext>
            </a:extLst>
          </p:cNvPr>
          <p:cNvSpPr>
            <a:spLocks xmlns:a="http://schemas.openxmlformats.org/drawingml/2006/main" noGrp="1"/>
          </p:cNvSpPr>
          <p:nvPr/>
        </p:nvSpPr>
        <p:spPr>
          <a:xfrm xmlns:a="http://schemas.openxmlformats.org/drawingml/2006/main">
            <a:off x="609600" y="457200"/>
            <a:ext cx="1097280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Partículas, fotones e ionización</a:t>
            </a:r>
          </a:p>
        </p:txBody>
      </p:sp>
      <p:sp>
        <p:nvSpPr>
          <p:cNvPr id="2" name="">
            <a:extLst xmlns:a="http://schemas.openxmlformats.org/drawingml/2006/main">
              <a:ext uri="{FF2B5EF4-FFF2-40B4-BE49-F238E27FC236}">
                <a16:creationId xmlns:a16="http://schemas.microsoft.com/office/drawing/2014/main" id="{9802E069-8B66-47E9-A6F5-BF3902FC74C0}"/>
              </a:ext>
            </a:extLst>
          </p:cNvPr>
          <p:cNvSpPr>
            <a:spLocks xmlns:a="http://schemas.openxmlformats.org/drawingml/2006/main" noGrp="1"/>
          </p:cNvSpPr>
          <p:nvPr/>
        </p:nvSpPr>
        <p:spPr>
          <a:xfrm xmlns:a="http://schemas.openxmlformats.org/drawingml/2006/main">
            <a:off x="609600" y="1590675"/>
            <a:ext cx="10972800" cy="1287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625" b="0">
                <a:solidFill>
                  <a:srgbClr val="172B3A"/>
                </a:solidFill>
                <a:latin typeface="Arial"/>
                <a:ea typeface="Arial"/>
                <a:cs typeface="Arial"/>
              </a:defRPr>
            </a:defPPr>
          </a:lstStyle>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La fuente indica de dónde viene la radiación; la especie indica qué llega.</a:t>
            </a:r>
          </a:p>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En el material, esa energía puede generar portadores eléctricos o</a:t>
            </a:r>
          </a:p>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defectos que cambian el comportamiento del componente.</a:t>
            </a:r>
          </a:p>
        </p:txBody>
      </p:sp>
      <p:sp>
        <p:nvSpPr>
          <p:cNvPr id="3" name="">
            <a:extLst xmlns:a="http://schemas.openxmlformats.org/drawingml/2006/main">
              <a:ext uri="{FF2B5EF4-FFF2-40B4-BE49-F238E27FC236}">
                <a16:creationId xmlns:a16="http://schemas.microsoft.com/office/drawing/2014/main" id="{54EF6F3B-C922-4780-B45A-B57F5897BF88}"/>
              </a:ext>
            </a:extLst>
          </p:cNvPr>
          <p:cNvSpPr>
            <a:spLocks xmlns:a="http://schemas.openxmlformats.org/drawingml/2006/main" noGrp="1"/>
          </p:cNvSpPr>
          <p:nvPr/>
        </p:nvSpPr>
        <p:spPr>
          <a:xfrm xmlns:a="http://schemas.openxmlformats.org/drawingml/2006/main">
            <a:off x="609600" y="3352800"/>
            <a:ext cx="10972800" cy="8772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625" b="1">
                <a:solidFill>
                  <a:srgbClr val="126F87"/>
                </a:solidFill>
                <a:latin typeface="Arial"/>
                <a:ea typeface="Arial"/>
                <a:cs typeface="Arial"/>
              </a:defRPr>
            </a:defPPr>
          </a:lstStyle>
          <a:p xmlns:a="http://schemas.openxmlformats.org/drawingml/2006/main">
            <a:pPr>
              <a:defRPr sz="2625" b="1">
                <a:solidFill>
                  <a:srgbClr val="126F87"/>
                </a:solidFill>
                <a:latin typeface="Arial"/>
                <a:ea typeface="Arial"/>
                <a:cs typeface="Arial"/>
              </a:defRPr>
            </a:pPr>
            <a:r>
              <a:rPr sz="2625" b="1">
                <a:solidFill>
                  <a:srgbClr val="126F87"/>
                </a:solidFill>
                <a:latin typeface="Arial"/>
                <a:ea typeface="Arial"/>
                <a:cs typeface="Arial"/>
              </a:rPr>
              <a:t>Electrones y protones tienen carga.</a:t>
            </a:r>
          </a:p>
          <a:p xmlns:a="http://schemas.openxmlformats.org/drawingml/2006/main">
            <a:pPr>
              <a:defRPr sz="2625" b="1">
                <a:solidFill>
                  <a:srgbClr val="126F87"/>
                </a:solidFill>
                <a:latin typeface="Arial"/>
                <a:ea typeface="Arial"/>
                <a:cs typeface="Arial"/>
              </a:defRPr>
            </a:pPr>
            <a:r>
              <a:rPr sz="2625" b="1">
                <a:solidFill>
                  <a:srgbClr val="126F87"/>
                </a:solidFill>
                <a:latin typeface="Arial"/>
                <a:ea typeface="Arial"/>
                <a:cs typeface="Arial"/>
              </a:rPr>
              <a:t>Neutrones y fotones transfieren energía sin carga eléctrica.</a:t>
            </a:r>
          </a:p>
        </p:txBody>
      </p:sp>
      <p:sp>
        <p:nvSpPr>
          <p:cNvPr id="4" name="">
            <a:extLst xmlns:a="http://schemas.openxmlformats.org/drawingml/2006/main">
              <a:ext uri="{FF2B5EF4-FFF2-40B4-BE49-F238E27FC236}">
                <a16:creationId xmlns:a16="http://schemas.microsoft.com/office/drawing/2014/main" id="{706F07A2-82AA-4C56-861E-F5275572072C}"/>
              </a:ext>
            </a:extLst>
          </p:cNvPr>
          <p:cNvSpPr>
            <a:spLocks xmlns:a="http://schemas.openxmlformats.org/drawingml/2006/main" noGrp="1"/>
          </p:cNvSpPr>
          <p:nvPr/>
        </p:nvSpPr>
        <p:spPr>
          <a:xfrm xmlns:a="http://schemas.openxmlformats.org/drawingml/2006/main">
            <a:off x="609600" y="5238750"/>
            <a:ext cx="10972800" cy="420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325" b="0">
                <a:solidFill>
                  <a:srgbClr val="172B3A"/>
                </a:solidFill>
                <a:latin typeface="Arial"/>
                <a:ea typeface="Arial"/>
                <a:cs typeface="Arial"/>
              </a:defRPr>
            </a:defPPr>
          </a:lstStyle>
          <a:p xmlns:a="http://schemas.openxmlformats.org/drawingml/2006/main">
            <a:pPr>
              <a:defRPr sz="2325" b="0">
                <a:solidFill>
                  <a:srgbClr val="172B3A"/>
                </a:solidFill>
                <a:latin typeface="Arial"/>
                <a:ea typeface="Arial"/>
                <a:cs typeface="Arial"/>
              </a:defRPr>
            </a:pPr>
            <a:r>
              <a:rPr sz="2325" b="0">
                <a:solidFill>
                  <a:srgbClr val="172B3A"/>
                </a:solidFill>
                <a:latin typeface="Arial"/>
                <a:ea typeface="Arial"/>
                <a:cs typeface="Arial"/>
              </a:rPr>
              <a:t>Ionización: portadores móviles · Desplazamiento: defectos en la red</a:t>
            </a:r>
          </a:p>
        </p:txBody>
      </p:sp>
      <p:sp>
        <p:nvSpPr>
          <p:cNvPr id="5" name="">
            <a:extLst xmlns:a="http://schemas.openxmlformats.org/drawingml/2006/main">
              <a:ext uri="{FF2B5EF4-FFF2-40B4-BE49-F238E27FC236}">
                <a16:creationId xmlns:a16="http://schemas.microsoft.com/office/drawing/2014/main" id="{CDDC4506-C06D-4800-BB74-332CFA0D8BAB}"/>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JPL · §II y §III.D</a:t>
            </a:r>
          </a:p>
        </p:txBody>
      </p:sp>
      <p:sp>
        <p:nvSpPr>
          <p:cNvPr id="6" name="">
            <a:extLst xmlns:a="http://schemas.openxmlformats.org/drawingml/2006/main">
              <a:ext uri="{FF2B5EF4-FFF2-40B4-BE49-F238E27FC236}">
                <a16:creationId xmlns:a16="http://schemas.microsoft.com/office/drawing/2014/main" id="{2DAAA513-4234-42EA-B41D-4510BFE5412A}"/>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05</a:t>
            </a:r>
          </a:p>
        </p:txBody>
      </p:sp>
    </p:spTree>
    <p:extLst>
      <p:ext uri="{BB962C8B-B14F-4D97-AF65-F5344CB8AC3E}">
        <p14:creationId xmlns:p14="http://schemas.microsoft.com/office/powerpoint/2010/main" val="20104479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DEDEFA-DFD7-4778-BDD4-5FDED7A1B655}"/>
              </a:ext>
            </a:extLst>
          </p:cNvPr>
          <p:cNvSpPr>
            <a:spLocks xmlns:a="http://schemas.openxmlformats.org/drawingml/2006/main" noGrp="1"/>
          </p:cNvSpPr>
          <p:nvPr/>
        </p:nvSpPr>
        <p:spPr>
          <a:xfrm xmlns:a="http://schemas.openxmlformats.org/drawingml/2006/main">
            <a:off x="609600" y="457200"/>
            <a:ext cx="1097280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Las magnitudes que necesitamos</a:t>
            </a:r>
          </a:p>
        </p:txBody>
      </p:sp>
      <p:sp>
        <p:nvSpPr>
          <p:cNvPr id="2" name="">
            <a:extLst xmlns:a="http://schemas.openxmlformats.org/drawingml/2006/main">
              <a:ext uri="{FF2B5EF4-FFF2-40B4-BE49-F238E27FC236}">
                <a16:creationId xmlns:a16="http://schemas.microsoft.com/office/drawing/2014/main" id="{7BF501E9-EE19-4F99-8A50-CAFFDC3378E9}"/>
              </a:ext>
            </a:extLst>
          </p:cNvPr>
          <p:cNvSpPr>
            <a:spLocks xmlns:a="http://schemas.openxmlformats.org/drawingml/2006/main" noGrp="1"/>
          </p:cNvSpPr>
          <p:nvPr/>
        </p:nvSpPr>
        <p:spPr>
          <a:xfrm xmlns:a="http://schemas.openxmlformats.org/drawingml/2006/main">
            <a:off x="609600" y="1562100"/>
            <a:ext cx="10972800" cy="114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325" b="0">
                <a:solidFill>
                  <a:srgbClr val="172B3A"/>
                </a:solidFill>
                <a:latin typeface="Arial"/>
                <a:ea typeface="Arial"/>
                <a:cs typeface="Arial"/>
              </a:defRPr>
            </a:defPPr>
          </a:lstStyle>
          <a:p xmlns:a="http://schemas.openxmlformats.org/drawingml/2006/main">
            <a:pPr>
              <a:defRPr sz="2325" b="0">
                <a:solidFill>
                  <a:srgbClr val="172B3A"/>
                </a:solidFill>
                <a:latin typeface="Arial"/>
                <a:ea typeface="Arial"/>
                <a:cs typeface="Arial"/>
              </a:defRPr>
            </a:pPr>
            <a:r>
              <a:rPr sz="2325" b="0">
                <a:solidFill>
                  <a:srgbClr val="172B3A"/>
                </a:solidFill>
                <a:latin typeface="Arial"/>
                <a:ea typeface="Arial"/>
                <a:cs typeface="Arial"/>
              </a:rPr>
              <a:t>El tipo y la energía ayudan a entender la interacción con el material. El flujo</a:t>
            </a:r>
          </a:p>
          <a:p xmlns:a="http://schemas.openxmlformats.org/drawingml/2006/main">
            <a:pPr>
              <a:defRPr sz="2325" b="0">
                <a:solidFill>
                  <a:srgbClr val="172B3A"/>
                </a:solidFill>
                <a:latin typeface="Arial"/>
                <a:ea typeface="Arial"/>
                <a:cs typeface="Arial"/>
              </a:defRPr>
            </a:pPr>
            <a:r>
              <a:rPr sz="2325" b="0">
                <a:solidFill>
                  <a:srgbClr val="172B3A"/>
                </a:solidFill>
                <a:latin typeface="Arial"/>
                <a:ea typeface="Arial"/>
                <a:cs typeface="Arial"/>
              </a:rPr>
              <a:t>describe cuántas partículas llegan por área y tiempo; la dosis expresa cuánta</a:t>
            </a:r>
          </a:p>
          <a:p xmlns:a="http://schemas.openxmlformats.org/drawingml/2006/main">
            <a:pPr>
              <a:defRPr sz="2325" b="0">
                <a:solidFill>
                  <a:srgbClr val="172B3A"/>
                </a:solidFill>
                <a:latin typeface="Arial"/>
                <a:ea typeface="Arial"/>
                <a:cs typeface="Arial"/>
              </a:defRPr>
            </a:pPr>
            <a:r>
              <a:rPr sz="2325" b="0">
                <a:solidFill>
                  <a:srgbClr val="172B3A"/>
                </a:solidFill>
                <a:latin typeface="Arial"/>
                <a:ea typeface="Arial"/>
                <a:cs typeface="Arial"/>
              </a:rPr>
              <a:t>energía absorbe una masa de material.</a:t>
            </a:r>
          </a:p>
        </p:txBody>
      </p:sp>
      <p:graphicFrame>
        <p:nvGraphicFramePr>
          <p:cNvPr id="3" name="">
            <a:extLst xmlns:a="http://schemas.openxmlformats.org/drawingml/2006/main">
              <a:ext uri="{FF2B5EF4-FFF2-40B4-BE49-F238E27FC236}">
                <a16:creationId xmlns:a16="http://schemas.microsoft.com/office/drawing/2014/main" id="{92D1853F-FA8B-4F06-8315-0D6E4D331514}"/>
              </a:ext>
            </a:extLst>
          </p:cNvPr>
          <p:cNvGraphicFramePr/>
          <p:nvPr/>
        </p:nvGraphicFramePr>
        <p:xfrm>
          <a:off xmlns:a="http://schemas.openxmlformats.org/drawingml/2006/main" x="609600" y="3114675"/>
          <a:ext xmlns:a="http://schemas.openxmlformats.org/drawingml/2006/main" cx="10972800" cy="2286000"/>
        </p:xfrm>
        <a:graphic xmlns:a="http://schemas.openxmlformats.org/drawingml/2006/main">
          <a:graphicData uri="http://schemas.openxmlformats.org/drawingml/2006/table">
            <a:tbl>
              <a:tblPr/>
              <a:tblGrid>
                <a:gridCol w="3571875"/>
                <a:gridCol w="7400925"/>
              </a:tblGrid>
              <a:tr h="571500">
                <a:tc>
                  <a:txBody>
                    <a:bodyPr>
                      <a:noAutofit/>
                    </a:bodyPr>
                    <a:lstStyle/>
                    <a:p>
                      <a:r>
                        <a:rPr sz="2100" b="1">
                          <a:solidFill>
                            <a:srgbClr val="FFFFFF"/>
                          </a:solidFill>
                          <a:latin typeface="Arial"/>
                          <a:ea typeface="Arial"/>
                          <a:cs typeface="Arial"/>
                        </a:rPr>
                        <a:t>Magnitud</a:t>
                      </a:r>
                    </a:p>
                  </a:txBody>
                  <a:tcPr marL="91440" marR="91440" marT="45720" marB="45720">
                    <a:lnL w="5715">
                      <a:solidFill>
                        <a:srgbClr val="D7E2E6"/>
                      </a:solidFill>
                      <a:prstDash val="solid"/>
                    </a:lnL>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c>
                  <a:txBody>
                    <a:bodyPr>
                      <a:noAutofit/>
                    </a:bodyPr>
                    <a:lstStyle/>
                    <a:p>
                      <a:r>
                        <a:rPr sz="2100" b="1">
                          <a:solidFill>
                            <a:srgbClr val="FFFFFF"/>
                          </a:solidFill>
                          <a:latin typeface="Arial"/>
                          <a:ea typeface="Arial"/>
                          <a:cs typeface="Arial"/>
                        </a:rPr>
                        <a:t>Qué expresa</a:t>
                      </a:r>
                    </a:p>
                  </a:txBody>
                  <a:tcPr marL="91440" marR="91440" marT="45720" marB="45720">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r>
              <a:tr h="571500">
                <a:tc>
                  <a:txBody>
                    <a:bodyPr>
                      <a:noAutofit/>
                    </a:bodyPr>
                    <a:lstStyle/>
                    <a:p>
                      <a:r>
                        <a:rPr sz="2100" b="0">
                          <a:solidFill>
                            <a:srgbClr val="172B3A"/>
                          </a:solidFill>
                          <a:latin typeface="Arial"/>
                          <a:ea typeface="Arial"/>
                          <a:cs typeface="Arial"/>
                        </a:rPr>
                        <a:t>Tipo y energía</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100" b="0">
                          <a:solidFill>
                            <a:srgbClr val="172B3A"/>
                          </a:solidFill>
                          <a:latin typeface="Arial"/>
                          <a:ea typeface="Arial"/>
                          <a:cs typeface="Arial"/>
                        </a:rPr>
                        <a:t>Agente y energía incidente: eV, keV, MeV</a:t>
                      </a:r>
                    </a:p>
                  </a:txBody>
                  <a:tcPr marL="91440" marR="91440" marT="45720" marB="45720">
                    <a:lnR w="5715">
                      <a:solidFill>
                        <a:srgbClr val="D7E2E6"/>
                      </a:solidFill>
                      <a:prstDash val="solid"/>
                    </a:lnR>
                    <a:lnB w="5715">
                      <a:solidFill>
                        <a:srgbClr val="D7E2E6"/>
                      </a:solidFill>
                      <a:prstDash val="solid"/>
                    </a:lnB>
                    <a:solidFill>
                      <a:srgbClr val="FFFFFF"/>
                    </a:solidFill>
                  </a:tcPr>
                </a:tc>
              </a:tr>
              <a:tr h="571500">
                <a:tc>
                  <a:txBody>
                    <a:bodyPr>
                      <a:noAutofit/>
                    </a:bodyPr>
                    <a:lstStyle/>
                    <a:p>
                      <a:r>
                        <a:rPr sz="2100" b="0">
                          <a:solidFill>
                            <a:srgbClr val="172B3A"/>
                          </a:solidFill>
                          <a:latin typeface="Arial"/>
                          <a:ea typeface="Arial"/>
                          <a:cs typeface="Arial"/>
                        </a:rPr>
                        <a:t>Flujo / fluencia</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100" b="0">
                          <a:solidFill>
                            <a:srgbClr val="172B3A"/>
                          </a:solidFill>
                          <a:latin typeface="Arial"/>
                          <a:ea typeface="Arial"/>
                          <a:cs typeface="Arial"/>
                        </a:rPr>
                        <a:t>Por área y tiempo / acumulado por área</a:t>
                      </a:r>
                    </a:p>
                  </a:txBody>
                  <a:tcPr marL="91440" marR="91440" marT="45720" marB="45720">
                    <a:lnR w="5715">
                      <a:solidFill>
                        <a:srgbClr val="D7E2E6"/>
                      </a:solidFill>
                      <a:prstDash val="solid"/>
                    </a:lnR>
                    <a:lnB w="5715">
                      <a:solidFill>
                        <a:srgbClr val="D7E2E6"/>
                      </a:solidFill>
                      <a:prstDash val="solid"/>
                    </a:lnB>
                    <a:solidFill>
                      <a:srgbClr val="FFFFFF"/>
                    </a:solidFill>
                  </a:tcPr>
                </a:tc>
              </a:tr>
              <a:tr h="571500">
                <a:tc>
                  <a:txBody>
                    <a:bodyPr>
                      <a:noAutofit/>
                    </a:bodyPr>
                    <a:lstStyle/>
                    <a:p>
                      <a:r>
                        <a:rPr sz="2100" b="0">
                          <a:solidFill>
                            <a:srgbClr val="172B3A"/>
                          </a:solidFill>
                          <a:latin typeface="Arial"/>
                          <a:ea typeface="Arial"/>
                          <a:cs typeface="Arial"/>
                        </a:rPr>
                        <a:t>Dosis</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100" b="0">
                          <a:solidFill>
                            <a:srgbClr val="172B3A"/>
                          </a:solidFill>
                          <a:latin typeface="Arial"/>
                          <a:ea typeface="Arial"/>
                          <a:cs typeface="Arial"/>
                        </a:rPr>
                        <a:t>Energía absorbida por masa: Gy o rad(Si)</a:t>
                      </a:r>
                    </a:p>
                  </a:txBody>
                  <a:tcPr marL="91440" marR="91440" marT="45720" marB="45720">
                    <a:lnR w="5715">
                      <a:solidFill>
                        <a:srgbClr val="D7E2E6"/>
                      </a:solidFill>
                      <a:prstDash val="solid"/>
                    </a:lnR>
                    <a:lnB w="5715">
                      <a:solidFill>
                        <a:srgbClr val="D7E2E6"/>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950D4D1-0293-41A8-844A-8F634C9B56FF}"/>
              </a:ext>
            </a:extLst>
          </p:cNvPr>
          <p:cNvSpPr>
            <a:spLocks xmlns:a="http://schemas.openxmlformats.org/drawingml/2006/main" noGrp="1"/>
          </p:cNvSpPr>
          <p:nvPr/>
        </p:nvSpPr>
        <p:spPr>
          <a:xfrm xmlns:a="http://schemas.openxmlformats.org/drawingml/2006/main">
            <a:off x="609600" y="5724525"/>
            <a:ext cx="10972800" cy="37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025" b="0">
                <a:solidFill>
                  <a:srgbClr val="126F87"/>
                </a:solidFill>
                <a:latin typeface="Arial"/>
                <a:ea typeface="Arial"/>
                <a:cs typeface="Arial"/>
              </a:defRPr>
            </a:defPPr>
          </a:lstStyle>
          <a:p xmlns:a="http://schemas.openxmlformats.org/drawingml/2006/main">
            <a:pPr>
              <a:defRPr sz="2025" b="0">
                <a:solidFill>
                  <a:srgbClr val="126F87"/>
                </a:solidFill>
                <a:latin typeface="Arial"/>
                <a:ea typeface="Arial"/>
                <a:cs typeface="Arial"/>
              </a:defRPr>
            </a:pPr>
            <a:r>
              <a:rPr sz="2025" b="0">
                <a:solidFill>
                  <a:srgbClr val="126F87"/>
                </a:solidFill>
                <a:latin typeface="Arial"/>
                <a:ea typeface="Arial"/>
                <a:cs typeface="Arial"/>
              </a:rPr>
              <a:t>Fluencia = flujo integrado en el tiempo. Dosis = energía absorbida / masa.</a:t>
            </a:r>
          </a:p>
        </p:txBody>
      </p:sp>
      <p:sp>
        <p:nvSpPr>
          <p:cNvPr id="5" name="">
            <a:extLst xmlns:a="http://schemas.openxmlformats.org/drawingml/2006/main">
              <a:ext uri="{FF2B5EF4-FFF2-40B4-BE49-F238E27FC236}">
                <a16:creationId xmlns:a16="http://schemas.microsoft.com/office/drawing/2014/main" id="{6835D4AC-CABA-4C03-9724-C7A2132E8D31}"/>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JPL · Tablas 2-1, 2-2 y 5-3</a:t>
            </a:r>
          </a:p>
        </p:txBody>
      </p:sp>
      <p:sp>
        <p:nvSpPr>
          <p:cNvPr id="6" name="">
            <a:extLst xmlns:a="http://schemas.openxmlformats.org/drawingml/2006/main">
              <a:ext uri="{FF2B5EF4-FFF2-40B4-BE49-F238E27FC236}">
                <a16:creationId xmlns:a16="http://schemas.microsoft.com/office/drawing/2014/main" id="{5887EC98-8C08-41C1-958D-6F155043FB3F}"/>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06</a:t>
            </a:r>
          </a:p>
        </p:txBody>
      </p:sp>
    </p:spTree>
    <p:extLst>
      <p:ext uri="{BB962C8B-B14F-4D97-AF65-F5344CB8AC3E}">
        <p14:creationId xmlns:p14="http://schemas.microsoft.com/office/powerpoint/2010/main" val="7708661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28D0FB-F37C-473E-A177-519F26C88DD6}"/>
              </a:ext>
            </a:extLst>
          </p:cNvPr>
          <p:cNvSpPr>
            <a:spLocks xmlns:a="http://schemas.openxmlformats.org/drawingml/2006/main" noGrp="1"/>
          </p:cNvSpPr>
          <p:nvPr/>
        </p:nvSpPr>
        <p:spPr>
          <a:xfrm xmlns:a="http://schemas.openxmlformats.org/drawingml/2006/main">
            <a:off x="609600" y="457200"/>
            <a:ext cx="1097280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La respuesta del programa</a:t>
            </a:r>
          </a:p>
        </p:txBody>
      </p:sp>
      <p:sp>
        <p:nvSpPr>
          <p:cNvPr id="2" name="">
            <a:extLst xmlns:a="http://schemas.openxmlformats.org/drawingml/2006/main">
              <a:ext uri="{FF2B5EF4-FFF2-40B4-BE49-F238E27FC236}">
                <a16:creationId xmlns:a16="http://schemas.microsoft.com/office/drawing/2014/main" id="{108BD750-5B10-4C8D-B919-DFCA10BD9557}"/>
              </a:ext>
            </a:extLst>
          </p:cNvPr>
          <p:cNvSpPr>
            <a:spLocks xmlns:a="http://schemas.openxmlformats.org/drawingml/2006/main" noGrp="1"/>
          </p:cNvSpPr>
          <p:nvPr/>
        </p:nvSpPr>
        <p:spPr>
          <a:xfrm xmlns:a="http://schemas.openxmlformats.org/drawingml/2006/main">
            <a:off x="609600" y="1581150"/>
            <a:ext cx="5381625" cy="2763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75" b="0">
                <a:solidFill>
                  <a:srgbClr val="172B3A"/>
                </a:solidFill>
                <a:latin typeface="Arial"/>
                <a:ea typeface="Arial"/>
                <a:cs typeface="Arial"/>
              </a:defRPr>
            </a:defPPr>
          </a:lstStyle>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Voyager necesitaba circuitos que</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siguieran dentro de sus límites</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después de degradarse. El programa</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combinó sustitución de piezas,</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rediseño, fabricación modificada,</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selección y blindaje según cada</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aplicación.</a:t>
            </a:r>
          </a:p>
        </p:txBody>
      </p:sp>
      <p:pic>
        <p:nvPicPr>
          <p:cNvPr id="3" name="">
            <a:extLst xmlns:a="http://schemas.openxmlformats.org/drawingml/2006/main">
              <a:ext uri="{FF2B5EF4-FFF2-40B4-BE49-F238E27FC236}">
                <a16:creationId xmlns:a16="http://schemas.microsoft.com/office/drawing/2014/main" id="{9F0AE4E7-9315-4507-BDC0-94119D7DD443}"/>
              </a:ext>
            </a:extLst>
          </p:cNvPr>
          <p:cNvPicPr>
            <a:picLocks xmlns:a="http://schemas.openxmlformats.org/drawingml/2006/main" noChangeAspect="1"/>
          </p:cNvPicPr>
          <p:nvPr/>
        </p:nvPicPr>
        <p:blipFill>
          <a:blip xmlns:r="http://schemas.openxmlformats.org/officeDocument/2006/relationships" xmlns:a="http://schemas.openxmlformats.org/drawingml/2006/main" r:embed="R40acc2cf29114788"/>
          <a:stretch xmlns:a="http://schemas.openxmlformats.org/drawingml/2006/main"/>
        </p:blipFill>
        <p:spPr>
          <a:xfrm xmlns:a="http://schemas.openxmlformats.org/drawingml/2006/main">
            <a:off x="6592051" y="1485900"/>
            <a:ext cx="4932448"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7E90501-E8B9-4430-9BEC-51FCC43FB7A7}"/>
              </a:ext>
            </a:extLst>
          </p:cNvPr>
          <p:cNvSpPr>
            <a:spLocks xmlns:a="http://schemas.openxmlformats.org/drawingml/2006/main" noGrp="1"/>
          </p:cNvSpPr>
          <p:nvPr/>
        </p:nvSpPr>
        <p:spPr>
          <a:xfrm xmlns:a="http://schemas.openxmlformats.org/drawingml/2006/main">
            <a:off x="6553200" y="5314950"/>
            <a:ext cx="5010150" cy="350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0">
                <a:solidFill>
                  <a:srgbClr val="49616E"/>
                </a:solidFill>
                <a:latin typeface="Arial"/>
                <a:ea typeface="Arial"/>
                <a:cs typeface="Arial"/>
              </a:defRPr>
            </a:defPPr>
          </a:lstStyle>
          <a:p xmlns:a="http://schemas.openxmlformats.org/drawingml/2006/main">
            <a:pPr>
              <a:defRPr sz="1875" b="0">
                <a:solidFill>
                  <a:srgbClr val="49616E"/>
                </a:solidFill>
                <a:latin typeface="Arial"/>
                <a:ea typeface="Arial"/>
                <a:cs typeface="Arial"/>
              </a:defRPr>
            </a:pPr>
            <a:r>
              <a:rPr sz="1875" b="0">
                <a:solidFill>
                  <a:srgbClr val="49616E"/>
                </a:solidFill>
                <a:latin typeface="Arial"/>
                <a:ea typeface="Arial"/>
                <a:cs typeface="Arial"/>
              </a:rPr>
              <a:t>Instrumentos de Voyager · NASA</a:t>
            </a:r>
          </a:p>
        </p:txBody>
      </p:sp>
      <p:sp>
        <p:nvSpPr>
          <p:cNvPr id="5" name="">
            <a:extLst xmlns:a="http://schemas.openxmlformats.org/drawingml/2006/main">
              <a:ext uri="{FF2B5EF4-FFF2-40B4-BE49-F238E27FC236}">
                <a16:creationId xmlns:a16="http://schemas.microsoft.com/office/drawing/2014/main" id="{FCB42F2D-E068-4B94-B3DE-2186A97EF1B2}"/>
              </a:ext>
            </a:extLst>
          </p:cNvPr>
          <p:cNvSpPr>
            <a:spLocks xmlns:a="http://schemas.openxmlformats.org/drawingml/2006/main" noGrp="1"/>
          </p:cNvSpPr>
          <p:nvPr/>
        </p:nvSpPr>
        <p:spPr>
          <a:xfrm xmlns:a="http://schemas.openxmlformats.org/drawingml/2006/main">
            <a:off x="609600" y="5715000"/>
            <a:ext cx="10934700" cy="37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025" b="0">
                <a:solidFill>
                  <a:srgbClr val="126F87"/>
                </a:solidFill>
                <a:latin typeface="Arial"/>
                <a:ea typeface="Arial"/>
                <a:cs typeface="Arial"/>
              </a:defRPr>
            </a:defPPr>
          </a:lstStyle>
          <a:p xmlns:a="http://schemas.openxmlformats.org/drawingml/2006/main">
            <a:pPr>
              <a:defRPr sz="2025" b="0">
                <a:solidFill>
                  <a:srgbClr val="126F87"/>
                </a:solidFill>
                <a:latin typeface="Arial"/>
                <a:ea typeface="Arial"/>
                <a:cs typeface="Arial"/>
              </a:defRPr>
            </a:pPr>
            <a:r>
              <a:rPr sz="2025" b="0">
                <a:solidFill>
                  <a:srgbClr val="126F87"/>
                </a:solidFill>
                <a:latin typeface="Arial"/>
                <a:ea typeface="Arial"/>
                <a:cs typeface="Arial"/>
              </a:rPr>
              <a:t>Caracterización: conocer la respuesta. Screening: aceptar las piezas adecuadas.</a:t>
            </a:r>
          </a:p>
        </p:txBody>
      </p:sp>
      <p:sp>
        <p:nvSpPr>
          <p:cNvPr id="6" name="">
            <a:extLst xmlns:a="http://schemas.openxmlformats.org/drawingml/2006/main">
              <a:ext uri="{FF2B5EF4-FFF2-40B4-BE49-F238E27FC236}">
                <a16:creationId xmlns:a16="http://schemas.microsoft.com/office/drawing/2014/main" id="{25082B49-00B2-45BA-9DFD-A4511CC5292F}"/>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JPL · §III.A y §IV · Arquitectura: NASA/Tomayko</a:t>
            </a:r>
          </a:p>
        </p:txBody>
      </p:sp>
      <p:sp>
        <p:nvSpPr>
          <p:cNvPr id="7" name="">
            <a:extLst xmlns:a="http://schemas.openxmlformats.org/drawingml/2006/main">
              <a:ext uri="{FF2B5EF4-FFF2-40B4-BE49-F238E27FC236}">
                <a16:creationId xmlns:a16="http://schemas.microsoft.com/office/drawing/2014/main" id="{5431AF73-32C7-4261-89C8-502DCFBD5DCE}"/>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07</a:t>
            </a:r>
          </a:p>
        </p:txBody>
      </p:sp>
    </p:spTree>
    <p:extLst>
      <p:ext uri="{BB962C8B-B14F-4D97-AF65-F5344CB8AC3E}">
        <p14:creationId xmlns:p14="http://schemas.microsoft.com/office/powerpoint/2010/main" val="3973111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A62409-A7AD-450D-8D69-4CB7EDB6C470}"/>
              </a:ext>
            </a:extLst>
          </p:cNvPr>
          <p:cNvSpPr>
            <a:spLocks xmlns:a="http://schemas.openxmlformats.org/drawingml/2006/main" noGrp="1"/>
          </p:cNvSpPr>
          <p:nvPr/>
        </p:nvSpPr>
        <p:spPr>
          <a:xfrm xmlns:a="http://schemas.openxmlformats.org/drawingml/2006/main">
            <a:off x="609600" y="457200"/>
            <a:ext cx="1097280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Resistencias, capacitores y conexiones</a:t>
            </a:r>
          </a:p>
        </p:txBody>
      </p:sp>
      <p:sp>
        <p:nvSpPr>
          <p:cNvPr id="2" name="">
            <a:extLst xmlns:a="http://schemas.openxmlformats.org/drawingml/2006/main">
              <a:ext uri="{FF2B5EF4-FFF2-40B4-BE49-F238E27FC236}">
                <a16:creationId xmlns:a16="http://schemas.microsoft.com/office/drawing/2014/main" id="{CCD6190A-7175-4BD6-AFF5-F052ECE176DA}"/>
              </a:ext>
            </a:extLst>
          </p:cNvPr>
          <p:cNvSpPr>
            <a:spLocks xmlns:a="http://schemas.openxmlformats.org/drawingml/2006/main" noGrp="1"/>
          </p:cNvSpPr>
          <p:nvPr/>
        </p:nvSpPr>
        <p:spPr>
          <a:xfrm xmlns:a="http://schemas.openxmlformats.org/drawingml/2006/main">
            <a:off x="609600" y="1562100"/>
            <a:ext cx="10972800" cy="11818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Los pasivos ensayados mostraron cambios pequeños en resistencia y</a:t>
            </a:r>
          </a:p>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capacitancia. Esos resultados permitían concentrar el esfuerzo en dispositivos</a:t>
            </a:r>
          </a:p>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más sensibles, sin convertir a todos los materiales y aislantes en inmunes.</a:t>
            </a:r>
          </a:p>
        </p:txBody>
      </p:sp>
      <p:graphicFrame>
        <p:nvGraphicFramePr>
          <p:cNvPr id="3" name="">
            <a:extLst xmlns:a="http://schemas.openxmlformats.org/drawingml/2006/main">
              <a:ext uri="{FF2B5EF4-FFF2-40B4-BE49-F238E27FC236}">
                <a16:creationId xmlns:a16="http://schemas.microsoft.com/office/drawing/2014/main" id="{454A784F-98FD-4EB2-AEB2-EF68D846B548}"/>
              </a:ext>
            </a:extLst>
          </p:cNvPr>
          <p:cNvGraphicFramePr/>
          <p:nvPr/>
        </p:nvGraphicFramePr>
        <p:xfrm>
          <a:off xmlns:a="http://schemas.openxmlformats.org/drawingml/2006/main" x="609600" y="3209925"/>
          <a:ext xmlns:a="http://schemas.openxmlformats.org/drawingml/2006/main" cx="10972800" cy="2362200"/>
        </p:xfrm>
        <a:graphic xmlns:a="http://schemas.openxmlformats.org/drawingml/2006/main">
          <a:graphicData uri="http://schemas.openxmlformats.org/drawingml/2006/table">
            <a:tbl>
              <a:tblPr/>
              <a:tblGrid>
                <a:gridCol w="3905250"/>
                <a:gridCol w="2952750"/>
                <a:gridCol w="4114800"/>
              </a:tblGrid>
              <a:tr h="590550">
                <a:tc>
                  <a:txBody>
                    <a:bodyPr>
                      <a:noAutofit/>
                    </a:bodyPr>
                    <a:lstStyle/>
                    <a:p>
                      <a:r>
                        <a:rPr sz="2025" b="1">
                          <a:solidFill>
                            <a:srgbClr val="FFFFFF"/>
                          </a:solidFill>
                          <a:latin typeface="Arial"/>
                          <a:ea typeface="Arial"/>
                          <a:cs typeface="Arial"/>
                        </a:rPr>
                        <a:t>Pieza ensayada</a:t>
                      </a:r>
                    </a:p>
                  </a:txBody>
                  <a:tcPr marL="91440" marR="91440" marT="45720" marB="45720">
                    <a:lnL w="5715">
                      <a:solidFill>
                        <a:srgbClr val="D7E2E6"/>
                      </a:solidFill>
                      <a:prstDash val="solid"/>
                    </a:lnL>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c>
                  <a:txBody>
                    <a:bodyPr>
                      <a:noAutofit/>
                    </a:bodyPr>
                    <a:lstStyle/>
                    <a:p>
                      <a:r>
                        <a:rPr sz="2025" b="1">
                          <a:solidFill>
                            <a:srgbClr val="FFFFFF"/>
                          </a:solidFill>
                          <a:latin typeface="Arial"/>
                          <a:ea typeface="Arial"/>
                          <a:cs typeface="Arial"/>
                        </a:rPr>
                        <a:t>Exposición</a:t>
                      </a:r>
                    </a:p>
                  </a:txBody>
                  <a:tcPr marL="91440" marR="91440" marT="45720" marB="45720">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c>
                  <a:txBody>
                    <a:bodyPr>
                      <a:noAutofit/>
                    </a:bodyPr>
                    <a:lstStyle/>
                    <a:p>
                      <a:r>
                        <a:rPr sz="2025" b="1">
                          <a:solidFill>
                            <a:srgbClr val="FFFFFF"/>
                          </a:solidFill>
                          <a:latin typeface="Arial"/>
                          <a:ea typeface="Arial"/>
                          <a:cs typeface="Arial"/>
                        </a:rPr>
                        <a:t>Resultado</a:t>
                      </a:r>
                    </a:p>
                  </a:txBody>
                  <a:tcPr marL="91440" marR="91440" marT="45720" marB="45720">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r>
              <a:tr h="590550">
                <a:tc>
                  <a:txBody>
                    <a:bodyPr>
                      <a:noAutofit/>
                    </a:bodyPr>
                    <a:lstStyle/>
                    <a:p>
                      <a:r>
                        <a:rPr sz="2025" b="0">
                          <a:solidFill>
                            <a:srgbClr val="172B3A"/>
                          </a:solidFill>
                          <a:latin typeface="Arial"/>
                          <a:ea typeface="Arial"/>
                          <a:cs typeface="Arial"/>
                        </a:rPr>
                        <a:t>Dale: película metálica</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025" b="0">
                          <a:solidFill>
                            <a:srgbClr val="172B3A"/>
                          </a:solidFill>
                          <a:latin typeface="Arial"/>
                          <a:ea typeface="Arial"/>
                          <a:cs typeface="Arial"/>
                        </a:rPr>
                        <a:t>10¹³ e/cm²</a:t>
                      </a:r>
                    </a:p>
                  </a:txBody>
                  <a:tcPr marL="91440" marR="91440" marT="45720" marB="45720">
                    <a:lnR w="5715">
                      <a:solidFill>
                        <a:srgbClr val="D7E2E6"/>
                      </a:solidFill>
                      <a:prstDash val="solid"/>
                    </a:lnR>
                    <a:lnB w="5715">
                      <a:solidFill>
                        <a:srgbClr val="D7E2E6"/>
                      </a:solidFill>
                      <a:prstDash val="solid"/>
                    </a:lnB>
                    <a:solidFill>
                      <a:srgbClr val="FFFFFF"/>
                    </a:solidFill>
                  </a:tcPr>
                </a:tc>
                <a:tc>
                  <a:txBody>
                    <a:bodyPr>
                      <a:noAutofit/>
                    </a:bodyPr>
                    <a:lstStyle/>
                    <a:p>
                      <a:r>
                        <a:rPr sz="2025" b="0">
                          <a:solidFill>
                            <a:srgbClr val="172B3A"/>
                          </a:solidFill>
                          <a:latin typeface="Arial"/>
                          <a:ea typeface="Arial"/>
                          <a:cs typeface="Arial"/>
                        </a:rPr>
                        <a:t>ΔR dentro de ±0,01 %</a:t>
                      </a:r>
                    </a:p>
                  </a:txBody>
                  <a:tcPr marL="91440" marR="91440" marT="45720" marB="45720">
                    <a:lnR w="5715">
                      <a:solidFill>
                        <a:srgbClr val="D7E2E6"/>
                      </a:solidFill>
                      <a:prstDash val="solid"/>
                    </a:lnR>
                    <a:lnB w="5715">
                      <a:solidFill>
                        <a:srgbClr val="D7E2E6"/>
                      </a:solidFill>
                      <a:prstDash val="solid"/>
                    </a:lnB>
                    <a:solidFill>
                      <a:srgbClr val="FFFFFF"/>
                    </a:solidFill>
                  </a:tcPr>
                </a:tc>
              </a:tr>
              <a:tr h="590550">
                <a:tc>
                  <a:txBody>
                    <a:bodyPr>
                      <a:noAutofit/>
                    </a:bodyPr>
                    <a:lstStyle/>
                    <a:p>
                      <a:r>
                        <a:rPr sz="2025" b="0">
                          <a:solidFill>
                            <a:srgbClr val="172B3A"/>
                          </a:solidFill>
                          <a:latin typeface="Arial"/>
                          <a:ea typeface="Arial"/>
                          <a:cs typeface="Arial"/>
                        </a:rPr>
                        <a:t>B11B: 0,02 µF</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025" b="0">
                          <a:solidFill>
                            <a:srgbClr val="172B3A"/>
                          </a:solidFill>
                          <a:latin typeface="Arial"/>
                          <a:ea typeface="Arial"/>
                          <a:cs typeface="Arial"/>
                        </a:rPr>
                        <a:t>5 × 10¹² e/cm²</a:t>
                      </a:r>
                    </a:p>
                  </a:txBody>
                  <a:tcPr marL="91440" marR="91440" marT="45720" marB="45720">
                    <a:lnR w="5715">
                      <a:solidFill>
                        <a:srgbClr val="D7E2E6"/>
                      </a:solidFill>
                      <a:prstDash val="solid"/>
                    </a:lnR>
                    <a:lnB w="5715">
                      <a:solidFill>
                        <a:srgbClr val="D7E2E6"/>
                      </a:solidFill>
                      <a:prstDash val="solid"/>
                    </a:lnB>
                    <a:solidFill>
                      <a:srgbClr val="FFFFFF"/>
                    </a:solidFill>
                  </a:tcPr>
                </a:tc>
                <a:tc>
                  <a:txBody>
                    <a:bodyPr>
                      <a:noAutofit/>
                    </a:bodyPr>
                    <a:lstStyle/>
                    <a:p>
                      <a:r>
                        <a:rPr sz="2025" b="0">
                          <a:solidFill>
                            <a:srgbClr val="172B3A"/>
                          </a:solidFill>
                          <a:latin typeface="Arial"/>
                          <a:ea typeface="Arial"/>
                          <a:cs typeface="Arial"/>
                        </a:rPr>
                        <a:t>C disminuyó 5 pF en promedio</a:t>
                      </a:r>
                    </a:p>
                  </a:txBody>
                  <a:tcPr marL="91440" marR="91440" marT="45720" marB="45720">
                    <a:lnR w="5715">
                      <a:solidFill>
                        <a:srgbClr val="D7E2E6"/>
                      </a:solidFill>
                      <a:prstDash val="solid"/>
                    </a:lnR>
                    <a:lnB w="5715">
                      <a:solidFill>
                        <a:srgbClr val="D7E2E6"/>
                      </a:solidFill>
                      <a:prstDash val="solid"/>
                    </a:lnB>
                    <a:solidFill>
                      <a:srgbClr val="FFFFFF"/>
                    </a:solidFill>
                  </a:tcPr>
                </a:tc>
              </a:tr>
              <a:tr h="590550">
                <a:tc>
                  <a:txBody>
                    <a:bodyPr>
                      <a:noAutofit/>
                    </a:bodyPr>
                    <a:lstStyle/>
                    <a:p>
                      <a:r>
                        <a:rPr sz="2025" b="0">
                          <a:solidFill>
                            <a:srgbClr val="172B3A"/>
                          </a:solidFill>
                          <a:latin typeface="Arial"/>
                          <a:ea typeface="Arial"/>
                          <a:cs typeface="Arial"/>
                        </a:rPr>
                        <a:t>B11B: 0,05 µF</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025" b="0">
                          <a:solidFill>
                            <a:srgbClr val="172B3A"/>
                          </a:solidFill>
                          <a:latin typeface="Arial"/>
                          <a:ea typeface="Arial"/>
                          <a:cs typeface="Arial"/>
                        </a:rPr>
                        <a:t>5 × 10¹² e/cm²</a:t>
                      </a:r>
                    </a:p>
                  </a:txBody>
                  <a:tcPr marL="91440" marR="91440" marT="45720" marB="45720">
                    <a:lnR w="5715">
                      <a:solidFill>
                        <a:srgbClr val="D7E2E6"/>
                      </a:solidFill>
                      <a:prstDash val="solid"/>
                    </a:lnR>
                    <a:lnB w="5715">
                      <a:solidFill>
                        <a:srgbClr val="D7E2E6"/>
                      </a:solidFill>
                      <a:prstDash val="solid"/>
                    </a:lnB>
                    <a:solidFill>
                      <a:srgbClr val="FFFFFF"/>
                    </a:solidFill>
                  </a:tcPr>
                </a:tc>
                <a:tc>
                  <a:txBody>
                    <a:bodyPr>
                      <a:noAutofit/>
                    </a:bodyPr>
                    <a:lstStyle/>
                    <a:p>
                      <a:r>
                        <a:rPr sz="2025" b="0">
                          <a:solidFill>
                            <a:srgbClr val="172B3A"/>
                          </a:solidFill>
                          <a:latin typeface="Arial"/>
                          <a:ea typeface="Arial"/>
                          <a:cs typeface="Arial"/>
                        </a:rPr>
                        <a:t>C disminuyó 12 pF en promedio</a:t>
                      </a:r>
                    </a:p>
                  </a:txBody>
                  <a:tcPr marL="91440" marR="91440" marT="45720" marB="45720">
                    <a:lnR w="5715">
                      <a:solidFill>
                        <a:srgbClr val="D7E2E6"/>
                      </a:solidFill>
                      <a:prstDash val="solid"/>
                    </a:lnR>
                    <a:lnB w="5715">
                      <a:solidFill>
                        <a:srgbClr val="D7E2E6"/>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892B753-9B9D-4B03-A956-E1DD3B7758BF}"/>
              </a:ext>
            </a:extLst>
          </p:cNvPr>
          <p:cNvSpPr>
            <a:spLocks xmlns:a="http://schemas.openxmlformats.org/drawingml/2006/main" noGrp="1"/>
          </p:cNvSpPr>
          <p:nvPr/>
        </p:nvSpPr>
        <p:spPr>
          <a:xfrm xmlns:a="http://schemas.openxmlformats.org/drawingml/2006/main">
            <a:off x="609600" y="5810250"/>
            <a:ext cx="10972800" cy="361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b="0">
                <a:solidFill>
                  <a:srgbClr val="126F87"/>
                </a:solidFill>
                <a:latin typeface="Arial"/>
                <a:ea typeface="Arial"/>
                <a:cs typeface="Arial"/>
              </a:defRPr>
            </a:defPPr>
          </a:lstStyle>
          <a:p xmlns:a="http://schemas.openxmlformats.org/drawingml/2006/main">
            <a:pPr>
              <a:defRPr sz="1950" b="0">
                <a:solidFill>
                  <a:srgbClr val="126F87"/>
                </a:solidFill>
                <a:latin typeface="Arial"/>
                <a:ea typeface="Arial"/>
                <a:cs typeface="Arial"/>
              </a:defRPr>
            </a:pPr>
            <a:r>
              <a:rPr sz="1950" b="0">
                <a:solidFill>
                  <a:srgbClr val="126F87"/>
                </a:solidFill>
                <a:latin typeface="Arial"/>
                <a:ea typeface="Arial"/>
                <a:cs typeface="Arial"/>
              </a:rPr>
              <a:t>Inductores y conexiones: el informe no da una caracterización equivalente.</a:t>
            </a:r>
          </a:p>
        </p:txBody>
      </p:sp>
      <p:sp>
        <p:nvSpPr>
          <p:cNvPr id="5" name="">
            <a:extLst xmlns:a="http://schemas.openxmlformats.org/drawingml/2006/main">
              <a:ext uri="{FF2B5EF4-FFF2-40B4-BE49-F238E27FC236}">
                <a16:creationId xmlns:a16="http://schemas.microsoft.com/office/drawing/2014/main" id="{73B587A6-6C44-4FB3-AB92-F8375E55D550}"/>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JPL · §VII.H, p. 7-53 / PDF 151</a:t>
            </a:r>
          </a:p>
        </p:txBody>
      </p:sp>
      <p:sp>
        <p:nvSpPr>
          <p:cNvPr id="6" name="">
            <a:extLst xmlns:a="http://schemas.openxmlformats.org/drawingml/2006/main">
              <a:ext uri="{FF2B5EF4-FFF2-40B4-BE49-F238E27FC236}">
                <a16:creationId xmlns:a16="http://schemas.microsoft.com/office/drawing/2014/main" id="{C35A3DD8-A6DC-453D-9BDF-3D37069BD433}"/>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08</a:t>
            </a:r>
          </a:p>
        </p:txBody>
      </p:sp>
    </p:spTree>
    <p:extLst>
      <p:ext uri="{BB962C8B-B14F-4D97-AF65-F5344CB8AC3E}">
        <p14:creationId xmlns:p14="http://schemas.microsoft.com/office/powerpoint/2010/main" val="14086033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D1A347-7538-4EDD-A085-596118B78292}"/>
              </a:ext>
            </a:extLst>
          </p:cNvPr>
          <p:cNvSpPr>
            <a:spLocks xmlns:a="http://schemas.openxmlformats.org/drawingml/2006/main" noGrp="1"/>
          </p:cNvSpPr>
          <p:nvPr/>
        </p:nvSpPr>
        <p:spPr>
          <a:xfrm xmlns:a="http://schemas.openxmlformats.org/drawingml/2006/main">
            <a:off x="609600" y="457200"/>
            <a:ext cx="1097280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Diodos y acoplamientos ópticos</a:t>
            </a:r>
          </a:p>
        </p:txBody>
      </p:sp>
      <p:sp>
        <p:nvSpPr>
          <p:cNvPr id="2" name="">
            <a:extLst xmlns:a="http://schemas.openxmlformats.org/drawingml/2006/main">
              <a:ext uri="{FF2B5EF4-FFF2-40B4-BE49-F238E27FC236}">
                <a16:creationId xmlns:a16="http://schemas.microsoft.com/office/drawing/2014/main" id="{4150E5AF-4099-48F2-85FE-505D508648A2}"/>
              </a:ext>
            </a:extLst>
          </p:cNvPr>
          <p:cNvSpPr>
            <a:spLocks xmlns:a="http://schemas.openxmlformats.org/drawingml/2006/main" noGrp="1"/>
          </p:cNvSpPr>
          <p:nvPr/>
        </p:nvSpPr>
        <p:spPr>
          <a:xfrm xmlns:a="http://schemas.openxmlformats.org/drawingml/2006/main">
            <a:off x="609600" y="1581150"/>
            <a:ext cx="5381625" cy="2763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75" b="0">
                <a:solidFill>
                  <a:srgbClr val="172B3A"/>
                </a:solidFill>
                <a:latin typeface="Arial"/>
                <a:ea typeface="Arial"/>
                <a:cs typeface="Arial"/>
              </a:defRPr>
            </a:defPPr>
          </a:lstStyle>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Los diodos ensayados podían</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conservar parámetros adecuados</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mientras ciertos emisores y detectores</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ópticos se degradaban mucho. En un</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circuito del informe, la señal restante</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todavía alcanzaba para mantener una</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salida correcta.</a:t>
            </a:r>
          </a:p>
        </p:txBody>
      </p:sp>
      <p:pic>
        <p:nvPicPr>
          <p:cNvPr id="3" name="">
            <a:extLst xmlns:a="http://schemas.openxmlformats.org/drawingml/2006/main">
              <a:ext uri="{FF2B5EF4-FFF2-40B4-BE49-F238E27FC236}">
                <a16:creationId xmlns:a16="http://schemas.microsoft.com/office/drawing/2014/main" id="{633EF568-9DD2-49A0-8B37-B921D4E69DAE}"/>
              </a:ext>
            </a:extLst>
          </p:cNvPr>
          <p:cNvPicPr>
            <a:picLocks xmlns:a="http://schemas.openxmlformats.org/drawingml/2006/main" noChangeAspect="1"/>
          </p:cNvPicPr>
          <p:nvPr/>
        </p:nvPicPr>
        <p:blipFill>
          <a:blip xmlns:r="http://schemas.openxmlformats.org/officeDocument/2006/relationships" xmlns:a="http://schemas.openxmlformats.org/drawingml/2006/main" r:embed="Rf439e0b8a2ee4fe6"/>
          <a:stretch xmlns:a="http://schemas.openxmlformats.org/drawingml/2006/main"/>
        </p:blipFill>
        <p:spPr>
          <a:xfrm xmlns:a="http://schemas.openxmlformats.org/drawingml/2006/main">
            <a:off x="6553200" y="1563714"/>
            <a:ext cx="5010150" cy="355912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F46CFC7-78D7-4DE7-B065-EE1C54E7A433}"/>
              </a:ext>
            </a:extLst>
          </p:cNvPr>
          <p:cNvSpPr>
            <a:spLocks xmlns:a="http://schemas.openxmlformats.org/drawingml/2006/main" noGrp="1"/>
          </p:cNvSpPr>
          <p:nvPr/>
        </p:nvSpPr>
        <p:spPr>
          <a:xfrm xmlns:a="http://schemas.openxmlformats.org/drawingml/2006/main">
            <a:off x="6553200" y="5314950"/>
            <a:ext cx="5010150" cy="350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0">
                <a:solidFill>
                  <a:srgbClr val="49616E"/>
                </a:solidFill>
                <a:latin typeface="Arial"/>
                <a:ea typeface="Arial"/>
                <a:cs typeface="Arial"/>
              </a:defRPr>
            </a:defPPr>
          </a:lstStyle>
          <a:p xmlns:a="http://schemas.openxmlformats.org/drawingml/2006/main">
            <a:pPr>
              <a:defRPr sz="1875" b="0">
                <a:solidFill>
                  <a:srgbClr val="49616E"/>
                </a:solidFill>
                <a:latin typeface="Arial"/>
                <a:ea typeface="Arial"/>
                <a:cs typeface="Arial"/>
              </a:defRPr>
            </a:pPr>
            <a:r>
              <a:rPr sz="1875" b="0">
                <a:solidFill>
                  <a:srgbClr val="49616E"/>
                </a:solidFill>
                <a:latin typeface="Arial"/>
                <a:ea typeface="Arial"/>
                <a:cs typeface="Arial"/>
              </a:rPr>
              <a:t>Figura 7-9 · Circuito de ensayo</a:t>
            </a:r>
          </a:p>
        </p:txBody>
      </p:sp>
      <p:sp>
        <p:nvSpPr>
          <p:cNvPr id="5" name="">
            <a:extLst xmlns:a="http://schemas.openxmlformats.org/drawingml/2006/main">
              <a:ext uri="{FF2B5EF4-FFF2-40B4-BE49-F238E27FC236}">
                <a16:creationId xmlns:a16="http://schemas.microsoft.com/office/drawing/2014/main" id="{9803D081-A042-4E16-8AD2-4370F87E7770}"/>
              </a:ext>
            </a:extLst>
          </p:cNvPr>
          <p:cNvSpPr>
            <a:spLocks xmlns:a="http://schemas.openxmlformats.org/drawingml/2006/main" noGrp="1"/>
          </p:cNvSpPr>
          <p:nvPr/>
        </p:nvSpPr>
        <p:spPr>
          <a:xfrm xmlns:a="http://schemas.openxmlformats.org/drawingml/2006/main">
            <a:off x="609600" y="5715000"/>
            <a:ext cx="10934700" cy="37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025" b="0">
                <a:solidFill>
                  <a:srgbClr val="126F87"/>
                </a:solidFill>
                <a:latin typeface="Arial"/>
                <a:ea typeface="Arial"/>
                <a:cs typeface="Arial"/>
              </a:defRPr>
            </a:defPPr>
          </a:lstStyle>
          <a:p xmlns:a="http://schemas.openxmlformats.org/drawingml/2006/main">
            <a:pPr>
              <a:defRPr sz="2025" b="0">
                <a:solidFill>
                  <a:srgbClr val="126F87"/>
                </a:solidFill>
                <a:latin typeface="Arial"/>
                <a:ea typeface="Arial"/>
                <a:cs typeface="Arial"/>
              </a:defRPr>
            </a:pPr>
            <a:r>
              <a:rPr sz="2025" b="0">
                <a:solidFill>
                  <a:srgbClr val="126F87"/>
                </a:solidFill>
                <a:latin typeface="Arial"/>
                <a:ea typeface="Arial"/>
                <a:cs typeface="Arial"/>
              </a:rPr>
              <a:t>Una salida correcta puede coexistir con degradación interna.</a:t>
            </a:r>
          </a:p>
        </p:txBody>
      </p:sp>
      <p:sp>
        <p:nvSpPr>
          <p:cNvPr id="6" name="">
            <a:extLst xmlns:a="http://schemas.openxmlformats.org/drawingml/2006/main">
              <a:ext uri="{FF2B5EF4-FFF2-40B4-BE49-F238E27FC236}">
                <a16:creationId xmlns:a16="http://schemas.microsoft.com/office/drawing/2014/main" id="{57254C91-479E-465D-B521-E26F0A3157DE}"/>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JPL · §VII.I, pp. 7-55 y 7-57 / PDF 153 y 155</a:t>
            </a:r>
          </a:p>
        </p:txBody>
      </p:sp>
      <p:sp>
        <p:nvSpPr>
          <p:cNvPr id="7" name="">
            <a:extLst xmlns:a="http://schemas.openxmlformats.org/drawingml/2006/main">
              <a:ext uri="{FF2B5EF4-FFF2-40B4-BE49-F238E27FC236}">
                <a16:creationId xmlns:a16="http://schemas.microsoft.com/office/drawing/2014/main" id="{F4827A2A-24DB-48FB-A734-140985B49D8B}"/>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09</a:t>
            </a:r>
          </a:p>
        </p:txBody>
      </p:sp>
    </p:spTree>
    <p:extLst>
      <p:ext uri="{BB962C8B-B14F-4D97-AF65-F5344CB8AC3E}">
        <p14:creationId xmlns:p14="http://schemas.microsoft.com/office/powerpoint/2010/main" val="126204316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8F790C-2F47-478F-BCE0-E10BD49A9EC3}"/>
              </a:ext>
            </a:extLst>
          </p:cNvPr>
          <p:cNvSpPr>
            <a:spLocks xmlns:a="http://schemas.openxmlformats.org/drawingml/2006/main" noGrp="1"/>
          </p:cNvSpPr>
          <p:nvPr/>
        </p:nvSpPr>
        <p:spPr>
          <a:xfrm xmlns:a="http://schemas.openxmlformats.org/drawingml/2006/main">
            <a:off x="609600" y="457200"/>
            <a:ext cx="1097280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Bipolares: ganancia y punto de operación</a:t>
            </a:r>
          </a:p>
        </p:txBody>
      </p:sp>
      <p:sp>
        <p:nvSpPr>
          <p:cNvPr id="2" name="">
            <a:extLst xmlns:a="http://schemas.openxmlformats.org/drawingml/2006/main">
              <a:ext uri="{FF2B5EF4-FFF2-40B4-BE49-F238E27FC236}">
                <a16:creationId xmlns:a16="http://schemas.microsoft.com/office/drawing/2014/main" id="{1706593E-8479-4533-A7DF-BC505B2E7044}"/>
              </a:ext>
            </a:extLst>
          </p:cNvPr>
          <p:cNvSpPr>
            <a:spLocks xmlns:a="http://schemas.openxmlformats.org/drawingml/2006/main" noGrp="1"/>
          </p:cNvSpPr>
          <p:nvPr/>
        </p:nvSpPr>
        <p:spPr>
          <a:xfrm xmlns:a="http://schemas.openxmlformats.org/drawingml/2006/main">
            <a:off x="609600" y="1581150"/>
            <a:ext cx="5381625" cy="2763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75" b="0">
                <a:solidFill>
                  <a:srgbClr val="172B3A"/>
                </a:solidFill>
                <a:latin typeface="Arial"/>
                <a:ea typeface="Arial"/>
                <a:cs typeface="Arial"/>
              </a:defRPr>
            </a:defPPr>
          </a:lstStyle>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En los bipolares, el informe relaciona</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la degradación con un aumento de la</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corriente de base y de las fugas. La</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pérdida de ganancia era</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especialmente importante a bajas</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corrientes y dependía del fabricante y</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del proceso.</a:t>
            </a:r>
          </a:p>
        </p:txBody>
      </p:sp>
      <p:pic>
        <p:nvPicPr>
          <p:cNvPr id="3" name="">
            <a:extLst xmlns:a="http://schemas.openxmlformats.org/drawingml/2006/main">
              <a:ext uri="{FF2B5EF4-FFF2-40B4-BE49-F238E27FC236}">
                <a16:creationId xmlns:a16="http://schemas.microsoft.com/office/drawing/2014/main" id="{7BA34263-7605-4320-882D-820EB72C32CD}"/>
              </a:ext>
            </a:extLst>
          </p:cNvPr>
          <p:cNvPicPr>
            <a:picLocks xmlns:a="http://schemas.openxmlformats.org/drawingml/2006/main" noChangeAspect="1"/>
          </p:cNvPicPr>
          <p:nvPr/>
        </p:nvPicPr>
        <p:blipFill>
          <a:blip xmlns:r="http://schemas.openxmlformats.org/officeDocument/2006/relationships" xmlns:a="http://schemas.openxmlformats.org/drawingml/2006/main" r:embed="R0f2df1049cb948cf"/>
          <a:stretch xmlns:a="http://schemas.openxmlformats.org/drawingml/2006/main"/>
        </p:blipFill>
        <p:spPr>
          <a:xfrm xmlns:a="http://schemas.openxmlformats.org/drawingml/2006/main">
            <a:off x="7081069" y="1485900"/>
            <a:ext cx="3954411"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397CDF4-7B36-4586-8FB9-597CF7D0FD33}"/>
              </a:ext>
            </a:extLst>
          </p:cNvPr>
          <p:cNvSpPr>
            <a:spLocks xmlns:a="http://schemas.openxmlformats.org/drawingml/2006/main" noGrp="1"/>
          </p:cNvSpPr>
          <p:nvPr/>
        </p:nvSpPr>
        <p:spPr>
          <a:xfrm xmlns:a="http://schemas.openxmlformats.org/drawingml/2006/main">
            <a:off x="6553200" y="5314950"/>
            <a:ext cx="5010150" cy="350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0">
                <a:solidFill>
                  <a:srgbClr val="49616E"/>
                </a:solidFill>
                <a:latin typeface="Arial"/>
                <a:ea typeface="Arial"/>
                <a:cs typeface="Arial"/>
              </a:defRPr>
            </a:defPPr>
          </a:lstStyle>
          <a:p xmlns:a="http://schemas.openxmlformats.org/drawingml/2006/main">
            <a:pPr>
              <a:defRPr sz="1875" b="0">
                <a:solidFill>
                  <a:srgbClr val="49616E"/>
                </a:solidFill>
                <a:latin typeface="Arial"/>
                <a:ea typeface="Arial"/>
                <a:cs typeface="Arial"/>
              </a:defRPr>
            </a:pPr>
            <a:r>
              <a:rPr sz="1875" b="0">
                <a:solidFill>
                  <a:srgbClr val="49616E"/>
                </a:solidFill>
                <a:latin typeface="Arial"/>
                <a:ea typeface="Arial"/>
                <a:cs typeface="Arial"/>
              </a:rPr>
              <a:t>Figura 7-1 · Δ(1/β) frente a I_C</a:t>
            </a:r>
          </a:p>
        </p:txBody>
      </p:sp>
      <p:sp>
        <p:nvSpPr>
          <p:cNvPr id="5" name="">
            <a:extLst xmlns:a="http://schemas.openxmlformats.org/drawingml/2006/main">
              <a:ext uri="{FF2B5EF4-FFF2-40B4-BE49-F238E27FC236}">
                <a16:creationId xmlns:a16="http://schemas.microsoft.com/office/drawing/2014/main" id="{BAFF88AD-6C9F-4FB1-A5EE-A01669C1FD4D}"/>
              </a:ext>
            </a:extLst>
          </p:cNvPr>
          <p:cNvSpPr>
            <a:spLocks xmlns:a="http://schemas.openxmlformats.org/drawingml/2006/main" noGrp="1"/>
          </p:cNvSpPr>
          <p:nvPr/>
        </p:nvSpPr>
        <p:spPr>
          <a:xfrm xmlns:a="http://schemas.openxmlformats.org/drawingml/2006/main">
            <a:off x="609600" y="5715000"/>
            <a:ext cx="10934700" cy="37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025" b="0">
                <a:solidFill>
                  <a:srgbClr val="126F87"/>
                </a:solidFill>
                <a:latin typeface="Arial"/>
                <a:ea typeface="Arial"/>
                <a:cs typeface="Arial"/>
              </a:defRPr>
            </a:defPPr>
          </a:lstStyle>
          <a:p xmlns:a="http://schemas.openxmlformats.org/drawingml/2006/main">
            <a:pPr>
              <a:defRPr sz="2025" b="0">
                <a:solidFill>
                  <a:srgbClr val="126F87"/>
                </a:solidFill>
                <a:latin typeface="Arial"/>
                <a:ea typeface="Arial"/>
                <a:cs typeface="Arial"/>
              </a:defRPr>
            </a:pPr>
            <a:r>
              <a:rPr sz="2025" b="0">
                <a:solidFill>
                  <a:srgbClr val="126F87"/>
                </a:solidFill>
                <a:latin typeface="Arial"/>
                <a:ea typeface="Arial"/>
                <a:cs typeface="Arial"/>
              </a:rPr>
              <a:t>Ejemplo del informe: β pasa de 100 a 76,9.</a:t>
            </a:r>
          </a:p>
        </p:txBody>
      </p:sp>
      <p:sp>
        <p:nvSpPr>
          <p:cNvPr id="6" name="">
            <a:extLst xmlns:a="http://schemas.openxmlformats.org/drawingml/2006/main">
              <a:ext uri="{FF2B5EF4-FFF2-40B4-BE49-F238E27FC236}">
                <a16:creationId xmlns:a16="http://schemas.microsoft.com/office/drawing/2014/main" id="{92F12FAF-D962-4F78-93B8-23541AAB5B56}"/>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JPL · §VII.B-C, pp. 7-2 a 7-9 / PDF 100-107</a:t>
            </a:r>
          </a:p>
        </p:txBody>
      </p:sp>
      <p:sp>
        <p:nvSpPr>
          <p:cNvPr id="7" name="">
            <a:extLst xmlns:a="http://schemas.openxmlformats.org/drawingml/2006/main">
              <a:ext uri="{FF2B5EF4-FFF2-40B4-BE49-F238E27FC236}">
                <a16:creationId xmlns:a16="http://schemas.microsoft.com/office/drawing/2014/main" id="{BDAF07BF-0226-4D56-BAA5-A3B35727A30D}"/>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10</a:t>
            </a:r>
          </a:p>
        </p:txBody>
      </p:sp>
    </p:spTree>
    <p:extLst>
      <p:ext uri="{BB962C8B-B14F-4D97-AF65-F5344CB8AC3E}">
        <p14:creationId xmlns:p14="http://schemas.microsoft.com/office/powerpoint/2010/main" val="10038380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1183E5-F0FD-47C5-B2F0-BEACA1B35E02}"/>
              </a:ext>
            </a:extLst>
          </p:cNvPr>
          <p:cNvSpPr>
            <a:spLocks xmlns:a="http://schemas.openxmlformats.org/drawingml/2006/main" noGrp="1"/>
          </p:cNvSpPr>
          <p:nvPr/>
        </p:nvSpPr>
        <p:spPr>
          <a:xfrm xmlns:a="http://schemas.openxmlformats.org/drawingml/2006/main">
            <a:off x="609600" y="457200"/>
            <a:ext cx="1097280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JFET y conmutadores analógicos</a:t>
            </a:r>
          </a:p>
        </p:txBody>
      </p:sp>
      <p:sp>
        <p:nvSpPr>
          <p:cNvPr id="2" name="">
            <a:extLst xmlns:a="http://schemas.openxmlformats.org/drawingml/2006/main">
              <a:ext uri="{FF2B5EF4-FFF2-40B4-BE49-F238E27FC236}">
                <a16:creationId xmlns:a16="http://schemas.microsoft.com/office/drawing/2014/main" id="{57DDCABD-7422-4903-9B4D-A8C6FC4ACE2C}"/>
              </a:ext>
            </a:extLst>
          </p:cNvPr>
          <p:cNvSpPr>
            <a:spLocks xmlns:a="http://schemas.openxmlformats.org/drawingml/2006/main" noGrp="1"/>
          </p:cNvSpPr>
          <p:nvPr/>
        </p:nvSpPr>
        <p:spPr>
          <a:xfrm xmlns:a="http://schemas.openxmlformats.org/drawingml/2006/main">
            <a:off x="609600" y="1581150"/>
            <a:ext cx="10972800" cy="11818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Los JFET podían desarrollar fugas por efectos en su superficie, aunque su</a:t>
            </a:r>
          </a:p>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compuerta no fuera un óxido MOS. En los conmutadores analógicos también</a:t>
            </a:r>
          </a:p>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importaba el circuito que controlaba al transistor de paso.</a:t>
            </a:r>
          </a:p>
        </p:txBody>
      </p:sp>
      <p:graphicFrame>
        <p:nvGraphicFramePr>
          <p:cNvPr id="3" name="">
            <a:extLst xmlns:a="http://schemas.openxmlformats.org/drawingml/2006/main">
              <a:ext uri="{FF2B5EF4-FFF2-40B4-BE49-F238E27FC236}">
                <a16:creationId xmlns:a16="http://schemas.microsoft.com/office/drawing/2014/main" id="{7F20D65A-762E-45E6-B1F0-C4B4B716F146}"/>
              </a:ext>
            </a:extLst>
          </p:cNvPr>
          <p:cNvGraphicFramePr/>
          <p:nvPr/>
        </p:nvGraphicFramePr>
        <p:xfrm>
          <a:off xmlns:a="http://schemas.openxmlformats.org/drawingml/2006/main" x="609600" y="3286125"/>
          <a:ext xmlns:a="http://schemas.openxmlformats.org/drawingml/2006/main" cx="10972800" cy="1924050"/>
        </p:xfrm>
        <a:graphic xmlns:a="http://schemas.openxmlformats.org/drawingml/2006/main">
          <a:graphicData uri="http://schemas.openxmlformats.org/drawingml/2006/table">
            <a:tbl>
              <a:tblPr/>
              <a:tblGrid>
                <a:gridCol w="4524375"/>
                <a:gridCol w="3238500"/>
                <a:gridCol w="3209925"/>
              </a:tblGrid>
              <a:tr h="641350">
                <a:tc>
                  <a:txBody>
                    <a:bodyPr>
                      <a:noAutofit/>
                    </a:bodyPr>
                    <a:lstStyle/>
                    <a:p>
                      <a:r>
                        <a:rPr sz="2100" b="1">
                          <a:solidFill>
                            <a:srgbClr val="FFFFFF"/>
                          </a:solidFill>
                          <a:latin typeface="Arial"/>
                          <a:ea typeface="Arial"/>
                          <a:cs typeface="Arial"/>
                        </a:rPr>
                        <a:t>Conmutador</a:t>
                      </a:r>
                    </a:p>
                  </a:txBody>
                  <a:tcPr marL="91440" marR="91440" marT="45720" marB="45720">
                    <a:lnL w="5715">
                      <a:solidFill>
                        <a:srgbClr val="D7E2E6"/>
                      </a:solidFill>
                      <a:prstDash val="solid"/>
                    </a:lnL>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c>
                  <a:txBody>
                    <a:bodyPr>
                      <a:noAutofit/>
                    </a:bodyPr>
                    <a:lstStyle/>
                    <a:p>
                      <a:r>
                        <a:rPr sz="2100" b="1">
                          <a:solidFill>
                            <a:srgbClr val="FFFFFF"/>
                          </a:solidFill>
                          <a:latin typeface="Arial"/>
                          <a:ea typeface="Arial"/>
                          <a:cs typeface="Arial"/>
                        </a:rPr>
                        <a:t>Elemento de paso</a:t>
                      </a:r>
                    </a:p>
                  </a:txBody>
                  <a:tcPr marL="91440" marR="91440" marT="45720" marB="45720">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c>
                  <a:txBody>
                    <a:bodyPr>
                      <a:noAutofit/>
                    </a:bodyPr>
                    <a:lstStyle/>
                    <a:p>
                      <a:r>
                        <a:rPr sz="2100" b="1">
                          <a:solidFill>
                            <a:srgbClr val="FFFFFF"/>
                          </a:solidFill>
                          <a:latin typeface="Arial"/>
                          <a:ea typeface="Arial"/>
                          <a:cs typeface="Arial"/>
                        </a:rPr>
                        <a:t>Controlador</a:t>
                      </a:r>
                    </a:p>
                  </a:txBody>
                  <a:tcPr marL="91440" marR="91440" marT="45720" marB="45720">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r>
              <a:tr h="641350">
                <a:tc>
                  <a:txBody>
                    <a:bodyPr>
                      <a:noAutofit/>
                    </a:bodyPr>
                    <a:lstStyle/>
                    <a:p>
                      <a:r>
                        <a:rPr sz="2100" b="0">
                          <a:solidFill>
                            <a:srgbClr val="172B3A"/>
                          </a:solidFill>
                          <a:latin typeface="Arial"/>
                          <a:ea typeface="Arial"/>
                          <a:cs typeface="Arial"/>
                        </a:rPr>
                        <a:t>DG129 / DG133 / DG141</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100" b="0">
                          <a:solidFill>
                            <a:srgbClr val="172B3A"/>
                          </a:solidFill>
                          <a:latin typeface="Arial"/>
                          <a:ea typeface="Arial"/>
                          <a:cs typeface="Arial"/>
                        </a:rPr>
                        <a:t>JFET de canal n</a:t>
                      </a:r>
                    </a:p>
                  </a:txBody>
                  <a:tcPr marL="91440" marR="91440" marT="45720" marB="45720">
                    <a:lnR w="5715">
                      <a:solidFill>
                        <a:srgbClr val="D7E2E6"/>
                      </a:solidFill>
                      <a:prstDash val="solid"/>
                    </a:lnR>
                    <a:lnB w="5715">
                      <a:solidFill>
                        <a:srgbClr val="D7E2E6"/>
                      </a:solidFill>
                      <a:prstDash val="solid"/>
                    </a:lnB>
                    <a:solidFill>
                      <a:srgbClr val="FFFFFF"/>
                    </a:solidFill>
                  </a:tcPr>
                </a:tc>
                <a:tc>
                  <a:txBody>
                    <a:bodyPr>
                      <a:noAutofit/>
                    </a:bodyPr>
                    <a:lstStyle/>
                    <a:p>
                      <a:r>
                        <a:rPr sz="2100" b="0">
                          <a:solidFill>
                            <a:srgbClr val="172B3A"/>
                          </a:solidFill>
                          <a:latin typeface="Arial"/>
                          <a:ea typeface="Arial"/>
                          <a:cs typeface="Arial"/>
                        </a:rPr>
                        <a:t>Bipolar</a:t>
                      </a:r>
                    </a:p>
                  </a:txBody>
                  <a:tcPr marL="91440" marR="91440" marT="45720" marB="45720">
                    <a:lnR w="5715">
                      <a:solidFill>
                        <a:srgbClr val="D7E2E6"/>
                      </a:solidFill>
                      <a:prstDash val="solid"/>
                    </a:lnR>
                    <a:lnB w="5715">
                      <a:solidFill>
                        <a:srgbClr val="D7E2E6"/>
                      </a:solidFill>
                      <a:prstDash val="solid"/>
                    </a:lnB>
                    <a:solidFill>
                      <a:srgbClr val="FFFFFF"/>
                    </a:solidFill>
                  </a:tcPr>
                </a:tc>
              </a:tr>
              <a:tr h="641350">
                <a:tc>
                  <a:txBody>
                    <a:bodyPr>
                      <a:noAutofit/>
                    </a:bodyPr>
                    <a:lstStyle/>
                    <a:p>
                      <a:r>
                        <a:rPr sz="2100" b="0">
                          <a:solidFill>
                            <a:srgbClr val="172B3A"/>
                          </a:solidFill>
                          <a:latin typeface="Arial"/>
                          <a:ea typeface="Arial"/>
                          <a:cs typeface="Arial"/>
                        </a:rPr>
                        <a:t>DG181</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100" b="0">
                          <a:solidFill>
                            <a:srgbClr val="172B3A"/>
                          </a:solidFill>
                          <a:latin typeface="Arial"/>
                          <a:ea typeface="Arial"/>
                          <a:cs typeface="Arial"/>
                        </a:rPr>
                        <a:t>JFET de canal n</a:t>
                      </a:r>
                    </a:p>
                  </a:txBody>
                  <a:tcPr marL="91440" marR="91440" marT="45720" marB="45720">
                    <a:lnR w="5715">
                      <a:solidFill>
                        <a:srgbClr val="D7E2E6"/>
                      </a:solidFill>
                      <a:prstDash val="solid"/>
                    </a:lnR>
                    <a:lnB w="5715">
                      <a:solidFill>
                        <a:srgbClr val="D7E2E6"/>
                      </a:solidFill>
                      <a:prstDash val="solid"/>
                    </a:lnB>
                    <a:solidFill>
                      <a:srgbClr val="FFFFFF"/>
                    </a:solidFill>
                  </a:tcPr>
                </a:tc>
                <a:tc>
                  <a:txBody>
                    <a:bodyPr>
                      <a:noAutofit/>
                    </a:bodyPr>
                    <a:lstStyle/>
                    <a:p>
                      <a:r>
                        <a:rPr sz="2100" b="0">
                          <a:solidFill>
                            <a:srgbClr val="172B3A"/>
                          </a:solidFill>
                          <a:latin typeface="Arial"/>
                          <a:ea typeface="Arial"/>
                          <a:cs typeface="Arial"/>
                        </a:rPr>
                        <a:t>Bipolar y MOS</a:t>
                      </a:r>
                    </a:p>
                  </a:txBody>
                  <a:tcPr marL="91440" marR="91440" marT="45720" marB="45720">
                    <a:lnR w="5715">
                      <a:solidFill>
                        <a:srgbClr val="D7E2E6"/>
                      </a:solidFill>
                      <a:prstDash val="solid"/>
                    </a:lnR>
                    <a:lnB w="5715">
                      <a:solidFill>
                        <a:srgbClr val="D7E2E6"/>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CE62726-67A6-4C64-9137-EDD5F5ED917C}"/>
              </a:ext>
            </a:extLst>
          </p:cNvPr>
          <p:cNvSpPr>
            <a:spLocks xmlns:a="http://schemas.openxmlformats.org/drawingml/2006/main" noGrp="1"/>
          </p:cNvSpPr>
          <p:nvPr/>
        </p:nvSpPr>
        <p:spPr>
          <a:xfrm xmlns:a="http://schemas.openxmlformats.org/drawingml/2006/main">
            <a:off x="609600" y="5724525"/>
            <a:ext cx="10972800" cy="396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La polarización y el controlador pueden limitar a todo el conmutador.</a:t>
            </a:r>
          </a:p>
        </p:txBody>
      </p:sp>
      <p:sp>
        <p:nvSpPr>
          <p:cNvPr id="5" name="">
            <a:extLst xmlns:a="http://schemas.openxmlformats.org/drawingml/2006/main">
              <a:ext uri="{FF2B5EF4-FFF2-40B4-BE49-F238E27FC236}">
                <a16:creationId xmlns:a16="http://schemas.microsoft.com/office/drawing/2014/main" id="{28D7FF35-4E51-4813-8A7C-362204ADD1AC}"/>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JPL · §VII.E, §VIII.B y §IX.C.4</a:t>
            </a:r>
          </a:p>
        </p:txBody>
      </p:sp>
      <p:sp>
        <p:nvSpPr>
          <p:cNvPr id="6" name="">
            <a:extLst xmlns:a="http://schemas.openxmlformats.org/drawingml/2006/main">
              <a:ext uri="{FF2B5EF4-FFF2-40B4-BE49-F238E27FC236}">
                <a16:creationId xmlns:a16="http://schemas.microsoft.com/office/drawing/2014/main" id="{87A450E3-7413-4548-9586-993B6309A26A}"/>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11</a:t>
            </a:r>
          </a:p>
        </p:txBody>
      </p:sp>
    </p:spTree>
    <p:extLst>
      <p:ext uri="{BB962C8B-B14F-4D97-AF65-F5344CB8AC3E}">
        <p14:creationId xmlns:p14="http://schemas.microsoft.com/office/powerpoint/2010/main" val="24335410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5C8989-415F-4442-AC1E-CE2BF35A60AB}"/>
              </a:ext>
            </a:extLst>
          </p:cNvPr>
          <p:cNvSpPr>
            <a:spLocks xmlns:a="http://schemas.openxmlformats.org/drawingml/2006/main" noGrp="1"/>
          </p:cNvSpPr>
          <p:nvPr/>
        </p:nvSpPr>
        <p:spPr>
          <a:xfrm xmlns:a="http://schemas.openxmlformats.org/drawingml/2006/main">
            <a:off x="609600" y="457200"/>
            <a:ext cx="1097280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MOS y CMOS: cambios que se superponen</a:t>
            </a:r>
          </a:p>
        </p:txBody>
      </p:sp>
      <p:sp>
        <p:nvSpPr>
          <p:cNvPr id="2" name="">
            <a:extLst xmlns:a="http://schemas.openxmlformats.org/drawingml/2006/main">
              <a:ext uri="{FF2B5EF4-FFF2-40B4-BE49-F238E27FC236}">
                <a16:creationId xmlns:a16="http://schemas.microsoft.com/office/drawing/2014/main" id="{F408540C-1CC6-4810-AA69-3688F520D5BB}"/>
              </a:ext>
            </a:extLst>
          </p:cNvPr>
          <p:cNvSpPr>
            <a:spLocks xmlns:a="http://schemas.openxmlformats.org/drawingml/2006/main" noGrp="1"/>
          </p:cNvSpPr>
          <p:nvPr/>
        </p:nvSpPr>
        <p:spPr>
          <a:xfrm xmlns:a="http://schemas.openxmlformats.org/drawingml/2006/main">
            <a:off x="609600" y="1581150"/>
            <a:ext cx="5381625" cy="2763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75" b="0">
                <a:solidFill>
                  <a:srgbClr val="172B3A"/>
                </a:solidFill>
                <a:latin typeface="Arial"/>
                <a:ea typeface="Arial"/>
                <a:cs typeface="Arial"/>
              </a:defRPr>
            </a:defPPr>
          </a:lstStyle>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La carga en el óxido y los estados de</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interfaz pueden desplazar el umbral</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en sentidos diferentes. En ciertos</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MOS de canal n, el informe describe</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una recuperación parcial del umbral a</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dosis mayores, sin que eso garantice</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una mejora del circuito.</a:t>
            </a:r>
          </a:p>
        </p:txBody>
      </p:sp>
      <p:pic>
        <p:nvPicPr>
          <p:cNvPr id="3" name="">
            <a:extLst xmlns:a="http://schemas.openxmlformats.org/drawingml/2006/main">
              <a:ext uri="{FF2B5EF4-FFF2-40B4-BE49-F238E27FC236}">
                <a16:creationId xmlns:a16="http://schemas.microsoft.com/office/drawing/2014/main" id="{29B4ACC6-E3A6-4EC9-9F58-449FA8105332}"/>
              </a:ext>
            </a:extLst>
          </p:cNvPr>
          <p:cNvPicPr>
            <a:picLocks xmlns:a="http://schemas.openxmlformats.org/drawingml/2006/main" noChangeAspect="1"/>
          </p:cNvPicPr>
          <p:nvPr/>
        </p:nvPicPr>
        <p:blipFill>
          <a:blip xmlns:r="http://schemas.openxmlformats.org/officeDocument/2006/relationships" xmlns:a="http://schemas.openxmlformats.org/drawingml/2006/main" r:embed="Rb4fea6867e06486f"/>
          <a:stretch xmlns:a="http://schemas.openxmlformats.org/drawingml/2006/main"/>
        </p:blipFill>
        <p:spPr>
          <a:xfrm xmlns:a="http://schemas.openxmlformats.org/drawingml/2006/main">
            <a:off x="7988359" y="1485900"/>
            <a:ext cx="2139833"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A65666F-38D7-4D98-9C1B-4AB9CE754CED}"/>
              </a:ext>
            </a:extLst>
          </p:cNvPr>
          <p:cNvSpPr>
            <a:spLocks xmlns:a="http://schemas.openxmlformats.org/drawingml/2006/main" noGrp="1"/>
          </p:cNvSpPr>
          <p:nvPr/>
        </p:nvSpPr>
        <p:spPr>
          <a:xfrm xmlns:a="http://schemas.openxmlformats.org/drawingml/2006/main">
            <a:off x="6553200" y="5314950"/>
            <a:ext cx="5010150" cy="350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0">
                <a:solidFill>
                  <a:srgbClr val="49616E"/>
                </a:solidFill>
                <a:latin typeface="Arial"/>
                <a:ea typeface="Arial"/>
                <a:cs typeface="Arial"/>
              </a:defRPr>
            </a:defPPr>
          </a:lstStyle>
          <a:p xmlns:a="http://schemas.openxmlformats.org/drawingml/2006/main">
            <a:pPr>
              <a:defRPr sz="1875" b="0">
                <a:solidFill>
                  <a:srgbClr val="49616E"/>
                </a:solidFill>
                <a:latin typeface="Arial"/>
                <a:ea typeface="Arial"/>
                <a:cs typeface="Arial"/>
              </a:defRPr>
            </a:pPr>
            <a:r>
              <a:rPr sz="1875" b="0">
                <a:solidFill>
                  <a:srgbClr val="49616E"/>
                </a:solidFill>
                <a:latin typeface="Arial"/>
                <a:ea typeface="Arial"/>
                <a:cs typeface="Arial"/>
              </a:rPr>
              <a:t>Figura 6-1 · I_D frente a V_G</a:t>
            </a:r>
          </a:p>
        </p:txBody>
      </p:sp>
      <p:sp>
        <p:nvSpPr>
          <p:cNvPr id="5" name="">
            <a:extLst xmlns:a="http://schemas.openxmlformats.org/drawingml/2006/main">
              <a:ext uri="{FF2B5EF4-FFF2-40B4-BE49-F238E27FC236}">
                <a16:creationId xmlns:a16="http://schemas.microsoft.com/office/drawing/2014/main" id="{4ED53DFD-941A-4EF0-9B04-A4D8BCEDF29C}"/>
              </a:ext>
            </a:extLst>
          </p:cNvPr>
          <p:cNvSpPr>
            <a:spLocks xmlns:a="http://schemas.openxmlformats.org/drawingml/2006/main" noGrp="1"/>
          </p:cNvSpPr>
          <p:nvPr/>
        </p:nvSpPr>
        <p:spPr>
          <a:xfrm xmlns:a="http://schemas.openxmlformats.org/drawingml/2006/main">
            <a:off x="609600" y="5715000"/>
            <a:ext cx="10934700" cy="37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025" b="0">
                <a:solidFill>
                  <a:srgbClr val="126F87"/>
                </a:solidFill>
                <a:latin typeface="Arial"/>
                <a:ea typeface="Arial"/>
                <a:cs typeface="Arial"/>
              </a:defRPr>
            </a:defPPr>
          </a:lstStyle>
          <a:p xmlns:a="http://schemas.openxmlformats.org/drawingml/2006/main">
            <a:pPr>
              <a:defRPr sz="2025" b="0">
                <a:solidFill>
                  <a:srgbClr val="126F87"/>
                </a:solidFill>
                <a:latin typeface="Arial"/>
                <a:ea typeface="Arial"/>
                <a:cs typeface="Arial"/>
              </a:defRPr>
            </a:pPr>
            <a:r>
              <a:rPr sz="2025" b="0">
                <a:solidFill>
                  <a:srgbClr val="126F87"/>
                </a:solidFill>
                <a:latin typeface="Arial"/>
                <a:ea typeface="Arial"/>
                <a:cs typeface="Arial"/>
              </a:rPr>
              <a:t>Recuperación de un parámetro ≠ recuperación completa del dispositivo.</a:t>
            </a:r>
          </a:p>
        </p:txBody>
      </p:sp>
      <p:sp>
        <p:nvSpPr>
          <p:cNvPr id="6" name="">
            <a:extLst xmlns:a="http://schemas.openxmlformats.org/drawingml/2006/main">
              <a:ext uri="{FF2B5EF4-FFF2-40B4-BE49-F238E27FC236}">
                <a16:creationId xmlns:a16="http://schemas.microsoft.com/office/drawing/2014/main" id="{B1FD44E7-223D-4D6B-8A5D-93792C75C039}"/>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JPL · §VI.B, pp. 6-1 a 6-3 / PDF 81-83</a:t>
            </a:r>
          </a:p>
        </p:txBody>
      </p:sp>
      <p:sp>
        <p:nvSpPr>
          <p:cNvPr id="7" name="">
            <a:extLst xmlns:a="http://schemas.openxmlformats.org/drawingml/2006/main">
              <a:ext uri="{FF2B5EF4-FFF2-40B4-BE49-F238E27FC236}">
                <a16:creationId xmlns:a16="http://schemas.microsoft.com/office/drawing/2014/main" id="{A5855469-5616-43FC-963D-413121B91E49}"/>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12</a:t>
            </a:r>
          </a:p>
        </p:txBody>
      </p:sp>
    </p:spTree>
    <p:extLst>
      <p:ext uri="{BB962C8B-B14F-4D97-AF65-F5344CB8AC3E}">
        <p14:creationId xmlns:p14="http://schemas.microsoft.com/office/powerpoint/2010/main" val="15347092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5DE0FE-A5BA-4A41-93C8-1C2D0BEEBA45}"/>
              </a:ext>
            </a:extLst>
          </p:cNvPr>
          <p:cNvSpPr>
            <a:spLocks xmlns:a="http://schemas.openxmlformats.org/drawingml/2006/main" noGrp="1"/>
          </p:cNvSpPr>
          <p:nvPr/>
        </p:nvSpPr>
        <p:spPr>
          <a:xfrm xmlns:a="http://schemas.openxmlformats.org/drawingml/2006/main">
            <a:off x="609600" y="457200"/>
            <a:ext cx="1097280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Hardening de la familia CMOS RCA</a:t>
            </a:r>
          </a:p>
        </p:txBody>
      </p:sp>
      <p:sp>
        <p:nvSpPr>
          <p:cNvPr id="2" name="">
            <a:extLst xmlns:a="http://schemas.openxmlformats.org/drawingml/2006/main">
              <a:ext uri="{FF2B5EF4-FFF2-40B4-BE49-F238E27FC236}">
                <a16:creationId xmlns:a16="http://schemas.microsoft.com/office/drawing/2014/main" id="{6F355A7E-BF1E-40FF-9D51-E3E0FC0B3C28}"/>
              </a:ext>
            </a:extLst>
          </p:cNvPr>
          <p:cNvSpPr>
            <a:spLocks xmlns:a="http://schemas.openxmlformats.org/drawingml/2006/main" noGrp="1"/>
          </p:cNvSpPr>
          <p:nvPr/>
        </p:nvSpPr>
        <p:spPr>
          <a:xfrm xmlns:a="http://schemas.openxmlformats.org/drawingml/2006/main">
            <a:off x="609600" y="1581150"/>
            <a:ext cx="10972800" cy="1697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625" b="0">
                <a:solidFill>
                  <a:srgbClr val="172B3A"/>
                </a:solidFill>
                <a:latin typeface="Arial"/>
                <a:ea typeface="Arial"/>
                <a:cs typeface="Arial"/>
              </a:defRPr>
            </a:defPPr>
          </a:lstStyle>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RCA modificó el recocido del óxido de compuerta de 1100 a 950 °C para</a:t>
            </a:r>
          </a:p>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mejorar la respuesta de la familia CD4000. Los dispositivos podían seguir</a:t>
            </a:r>
          </a:p>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funcionando después de irradiarse, pero conservaban aumentos de fuga,</a:t>
            </a:r>
          </a:p>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consumo y retardo.</a:t>
            </a:r>
          </a:p>
        </p:txBody>
      </p:sp>
      <p:sp>
        <p:nvSpPr>
          <p:cNvPr id="3" name="">
            <a:extLst xmlns:a="http://schemas.openxmlformats.org/drawingml/2006/main">
              <a:ext uri="{FF2B5EF4-FFF2-40B4-BE49-F238E27FC236}">
                <a16:creationId xmlns:a16="http://schemas.microsoft.com/office/drawing/2014/main" id="{FF9BD154-5050-403B-8B75-73A921E87D1B}"/>
              </a:ext>
            </a:extLst>
          </p:cNvPr>
          <p:cNvSpPr>
            <a:spLocks xmlns:a="http://schemas.openxmlformats.org/drawingml/2006/main" noGrp="1"/>
          </p:cNvSpPr>
          <p:nvPr/>
        </p:nvSpPr>
        <p:spPr>
          <a:xfrm xmlns:a="http://schemas.openxmlformats.org/drawingml/2006/main">
            <a:off x="609600" y="3714750"/>
            <a:ext cx="10972800" cy="8069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800" b="1">
                <a:solidFill>
                  <a:srgbClr val="126F87"/>
                </a:solidFill>
                <a:latin typeface="Arial"/>
                <a:ea typeface="Arial"/>
                <a:cs typeface="Arial"/>
              </a:defRPr>
            </a:defPPr>
          </a:lstStyle>
          <a:p xmlns:a="http://schemas.openxmlformats.org/drawingml/2006/main">
            <a:pPr>
              <a:defRPr sz="4800" b="1">
                <a:solidFill>
                  <a:srgbClr val="126F87"/>
                </a:solidFill>
                <a:latin typeface="Arial"/>
                <a:ea typeface="Arial"/>
                <a:cs typeface="Arial"/>
              </a:defRPr>
            </a:pPr>
            <a:r>
              <a:rPr sz="4800" b="1">
                <a:solidFill>
                  <a:srgbClr val="126F87"/>
                </a:solidFill>
                <a:latin typeface="Arial"/>
                <a:ea typeface="Arial"/>
                <a:cs typeface="Arial"/>
              </a:rPr>
              <a:t>1100 °C → 950 °C</a:t>
            </a:r>
          </a:p>
        </p:txBody>
      </p:sp>
      <p:sp>
        <p:nvSpPr>
          <p:cNvPr id="4" name="">
            <a:extLst xmlns:a="http://schemas.openxmlformats.org/drawingml/2006/main">
              <a:ext uri="{FF2B5EF4-FFF2-40B4-BE49-F238E27FC236}">
                <a16:creationId xmlns:a16="http://schemas.microsoft.com/office/drawing/2014/main" id="{B3FAD8A0-D8B6-4F2F-9B62-34CB6CED89E8}"/>
              </a:ext>
            </a:extLst>
          </p:cNvPr>
          <p:cNvSpPr>
            <a:spLocks xmlns:a="http://schemas.openxmlformats.org/drawingml/2006/main" noGrp="1"/>
          </p:cNvSpPr>
          <p:nvPr/>
        </p:nvSpPr>
        <p:spPr>
          <a:xfrm xmlns:a="http://schemas.openxmlformats.org/drawingml/2006/main">
            <a:off x="609600" y="4667250"/>
            <a:ext cx="10972800" cy="4554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Recocido del óxido durante la fabricación</a:t>
            </a:r>
          </a:p>
        </p:txBody>
      </p:sp>
      <p:sp>
        <p:nvSpPr>
          <p:cNvPr id="5" name="">
            <a:extLst xmlns:a="http://schemas.openxmlformats.org/drawingml/2006/main">
              <a:ext uri="{FF2B5EF4-FFF2-40B4-BE49-F238E27FC236}">
                <a16:creationId xmlns:a16="http://schemas.microsoft.com/office/drawing/2014/main" id="{04C79F6B-D047-43DB-8E93-D867ACCBA9EF}"/>
              </a:ext>
            </a:extLst>
          </p:cNvPr>
          <p:cNvSpPr>
            <a:spLocks xmlns:a="http://schemas.openxmlformats.org/drawingml/2006/main" noGrp="1"/>
          </p:cNvSpPr>
          <p:nvPr/>
        </p:nvSpPr>
        <p:spPr>
          <a:xfrm xmlns:a="http://schemas.openxmlformats.org/drawingml/2006/main">
            <a:off x="609600" y="5638800"/>
            <a:ext cx="10972800" cy="396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72B3A"/>
                </a:solidFill>
                <a:latin typeface="Arial"/>
                <a:ea typeface="Arial"/>
                <a:cs typeface="Arial"/>
              </a:defRPr>
            </a:defPPr>
          </a:lstStyle>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Después: verificar fugas, consumo, retardo y variación entre lotes.</a:t>
            </a:r>
          </a:p>
        </p:txBody>
      </p:sp>
      <p:sp>
        <p:nvSpPr>
          <p:cNvPr id="6" name="">
            <a:extLst xmlns:a="http://schemas.openxmlformats.org/drawingml/2006/main">
              <a:ext uri="{FF2B5EF4-FFF2-40B4-BE49-F238E27FC236}">
                <a16:creationId xmlns:a16="http://schemas.microsoft.com/office/drawing/2014/main" id="{8215F0C7-CBC2-4205-BD4D-C4F031752FB4}"/>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JPL · §VI.B, §VII.F y §VIII.E</a:t>
            </a:r>
          </a:p>
        </p:txBody>
      </p:sp>
      <p:sp>
        <p:nvSpPr>
          <p:cNvPr id="7" name="">
            <a:extLst xmlns:a="http://schemas.openxmlformats.org/drawingml/2006/main">
              <a:ext uri="{FF2B5EF4-FFF2-40B4-BE49-F238E27FC236}">
                <a16:creationId xmlns:a16="http://schemas.microsoft.com/office/drawing/2014/main" id="{579AFC80-EEF4-42F3-842D-4F0FE7FFA74C}"/>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13</a:t>
            </a:r>
          </a:p>
        </p:txBody>
      </p:sp>
    </p:spTree>
    <p:extLst>
      <p:ext uri="{BB962C8B-B14F-4D97-AF65-F5344CB8AC3E}">
        <p14:creationId xmlns:p14="http://schemas.microsoft.com/office/powerpoint/2010/main" val="63538249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3BB6B6-FDE5-4EEA-8918-F5E2D7BB6E9C}"/>
              </a:ext>
            </a:extLst>
          </p:cNvPr>
          <p:cNvSpPr>
            <a:spLocks xmlns:a="http://schemas.openxmlformats.org/drawingml/2006/main" noGrp="1"/>
          </p:cNvSpPr>
          <p:nvPr/>
        </p:nvSpPr>
        <p:spPr>
          <a:xfrm xmlns:a="http://schemas.openxmlformats.org/drawingml/2006/main">
            <a:off x="609600" y="457200"/>
            <a:ext cx="1097280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LM108 y LM139: mejoras con contrapartidas</a:t>
            </a:r>
          </a:p>
        </p:txBody>
      </p:sp>
      <p:sp>
        <p:nvSpPr>
          <p:cNvPr id="2" name="">
            <a:extLst xmlns:a="http://schemas.openxmlformats.org/drawingml/2006/main">
              <a:ext uri="{FF2B5EF4-FFF2-40B4-BE49-F238E27FC236}">
                <a16:creationId xmlns:a16="http://schemas.microsoft.com/office/drawing/2014/main" id="{15F53D56-0AC3-4393-AF0F-F666704F82BA}"/>
              </a:ext>
            </a:extLst>
          </p:cNvPr>
          <p:cNvSpPr>
            <a:spLocks xmlns:a="http://schemas.openxmlformats.org/drawingml/2006/main" noGrp="1"/>
          </p:cNvSpPr>
          <p:nvPr/>
        </p:nvSpPr>
        <p:spPr>
          <a:xfrm xmlns:a="http://schemas.openxmlformats.org/drawingml/2006/main">
            <a:off x="609600" y="1581150"/>
            <a:ext cx="5381625" cy="2763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75" b="0">
                <a:solidFill>
                  <a:srgbClr val="172B3A"/>
                </a:solidFill>
                <a:latin typeface="Arial"/>
                <a:ea typeface="Arial"/>
                <a:cs typeface="Arial"/>
              </a:defRPr>
            </a:defPPr>
          </a:lstStyle>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Los cambios de fabricación mejoraron</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la resistencia de algunos circuitos</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lineales, pero también alteraron otras</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prestaciones. En el LM108</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aparecieron problemas de ruido y</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encapsulado; el LM139 mostró una</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fuerte dependencia de la polarización.</a:t>
            </a:r>
          </a:p>
        </p:txBody>
      </p:sp>
      <p:pic>
        <p:nvPicPr>
          <p:cNvPr id="3" name="">
            <a:extLst xmlns:a="http://schemas.openxmlformats.org/drawingml/2006/main">
              <a:ext uri="{FF2B5EF4-FFF2-40B4-BE49-F238E27FC236}">
                <a16:creationId xmlns:a16="http://schemas.microsoft.com/office/drawing/2014/main" id="{ABF34CE2-ECD8-4E1E-9FAC-9E99196175BD}"/>
              </a:ext>
            </a:extLst>
          </p:cNvPr>
          <p:cNvPicPr>
            <a:picLocks xmlns:a="http://schemas.openxmlformats.org/drawingml/2006/main" noChangeAspect="1"/>
          </p:cNvPicPr>
          <p:nvPr/>
        </p:nvPicPr>
        <p:blipFill>
          <a:blip xmlns:r="http://schemas.openxmlformats.org/officeDocument/2006/relationships" xmlns:a="http://schemas.openxmlformats.org/drawingml/2006/main" r:embed="R74f0c9b6cae14673"/>
          <a:stretch xmlns:a="http://schemas.openxmlformats.org/drawingml/2006/main"/>
        </p:blipFill>
        <p:spPr>
          <a:xfrm xmlns:a="http://schemas.openxmlformats.org/drawingml/2006/main">
            <a:off x="6981627" y="1485900"/>
            <a:ext cx="4153297"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5FA38CE-A89D-4266-8F44-7394E0A2394F}"/>
              </a:ext>
            </a:extLst>
          </p:cNvPr>
          <p:cNvSpPr>
            <a:spLocks xmlns:a="http://schemas.openxmlformats.org/drawingml/2006/main" noGrp="1"/>
          </p:cNvSpPr>
          <p:nvPr/>
        </p:nvSpPr>
        <p:spPr>
          <a:xfrm xmlns:a="http://schemas.openxmlformats.org/drawingml/2006/main">
            <a:off x="6553200" y="5314950"/>
            <a:ext cx="5010150" cy="350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0">
                <a:solidFill>
                  <a:srgbClr val="49616E"/>
                </a:solidFill>
                <a:latin typeface="Arial"/>
                <a:ea typeface="Arial"/>
                <a:cs typeface="Arial"/>
              </a:defRPr>
            </a:defPPr>
          </a:lstStyle>
          <a:p xmlns:a="http://schemas.openxmlformats.org/drawingml/2006/main">
            <a:pPr>
              <a:defRPr sz="1875" b="0">
                <a:solidFill>
                  <a:srgbClr val="49616E"/>
                </a:solidFill>
                <a:latin typeface="Arial"/>
                <a:ea typeface="Arial"/>
                <a:cs typeface="Arial"/>
              </a:defRPr>
            </a:pPr>
            <a:r>
              <a:rPr sz="1875" b="0">
                <a:solidFill>
                  <a:srgbClr val="49616E"/>
                </a:solidFill>
                <a:latin typeface="Arial"/>
                <a:ea typeface="Arial"/>
                <a:cs typeface="Arial"/>
              </a:rPr>
              <a:t>Figura 7-4 · LM108 estándar y endurecido</a:t>
            </a:r>
          </a:p>
        </p:txBody>
      </p:sp>
      <p:sp>
        <p:nvSpPr>
          <p:cNvPr id="5" name="">
            <a:extLst xmlns:a="http://schemas.openxmlformats.org/drawingml/2006/main">
              <a:ext uri="{FF2B5EF4-FFF2-40B4-BE49-F238E27FC236}">
                <a16:creationId xmlns:a16="http://schemas.microsoft.com/office/drawing/2014/main" id="{06F2F9A3-A64F-4FBD-BBC5-9A2AC0B29BA8}"/>
              </a:ext>
            </a:extLst>
          </p:cNvPr>
          <p:cNvSpPr>
            <a:spLocks xmlns:a="http://schemas.openxmlformats.org/drawingml/2006/main" noGrp="1"/>
          </p:cNvSpPr>
          <p:nvPr/>
        </p:nvSpPr>
        <p:spPr>
          <a:xfrm xmlns:a="http://schemas.openxmlformats.org/drawingml/2006/main">
            <a:off x="609600" y="5715000"/>
            <a:ext cx="10934700" cy="37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025" b="0">
                <a:solidFill>
                  <a:srgbClr val="126F87"/>
                </a:solidFill>
                <a:latin typeface="Arial"/>
                <a:ea typeface="Arial"/>
                <a:cs typeface="Arial"/>
              </a:defRPr>
            </a:defPPr>
          </a:lstStyle>
          <a:p xmlns:a="http://schemas.openxmlformats.org/drawingml/2006/main">
            <a:pPr>
              <a:defRPr sz="2025" b="0">
                <a:solidFill>
                  <a:srgbClr val="126F87"/>
                </a:solidFill>
                <a:latin typeface="Arial"/>
                <a:ea typeface="Arial"/>
                <a:cs typeface="Arial"/>
              </a:defRPr>
            </a:pPr>
            <a:r>
              <a:rPr sz="2025" b="0">
                <a:solidFill>
                  <a:srgbClr val="126F87"/>
                </a:solidFill>
                <a:latin typeface="Arial"/>
                <a:ea typeface="Arial"/>
                <a:cs typeface="Arial"/>
              </a:rPr>
              <a:t>Mayor tolerancia radiativa no garantiza menor ruido ni el mismo margen de salida.</a:t>
            </a:r>
          </a:p>
        </p:txBody>
      </p:sp>
      <p:sp>
        <p:nvSpPr>
          <p:cNvPr id="6" name="">
            <a:extLst xmlns:a="http://schemas.openxmlformats.org/drawingml/2006/main">
              <a:ext uri="{FF2B5EF4-FFF2-40B4-BE49-F238E27FC236}">
                <a16:creationId xmlns:a16="http://schemas.microsoft.com/office/drawing/2014/main" id="{27D721A7-25CE-436A-84EF-563423701810}"/>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JPL · §VI.C y §VII.D · Figura 7-4</a:t>
            </a:r>
          </a:p>
        </p:txBody>
      </p:sp>
      <p:sp>
        <p:nvSpPr>
          <p:cNvPr id="7" name="">
            <a:extLst xmlns:a="http://schemas.openxmlformats.org/drawingml/2006/main">
              <a:ext uri="{FF2B5EF4-FFF2-40B4-BE49-F238E27FC236}">
                <a16:creationId xmlns:a16="http://schemas.microsoft.com/office/drawing/2014/main" id="{68AA1DCD-02BC-4C46-83B2-B23C7C1A55B3}"/>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14</a:t>
            </a:r>
          </a:p>
        </p:txBody>
      </p:sp>
    </p:spTree>
    <p:extLst>
      <p:ext uri="{BB962C8B-B14F-4D97-AF65-F5344CB8AC3E}">
        <p14:creationId xmlns:p14="http://schemas.microsoft.com/office/powerpoint/2010/main" val="13570141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1EE7861-4980-45B3-84E1-D8ED0A1973C4}"/>
              </a:ext>
            </a:extLst>
          </p:cNvPr>
          <p:cNvSpPr>
            <a:spLocks xmlns:a="http://schemas.openxmlformats.org/drawingml/2006/main" noGrp="1"/>
          </p:cNvSpPr>
          <p:nvPr/>
        </p:nvSpPr>
        <p:spPr>
          <a:xfrm xmlns:a="http://schemas.openxmlformats.org/drawingml/2006/main">
            <a:off x="609600" y="457200"/>
            <a:ext cx="1097280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Memorias, registros y cuarzo</a:t>
            </a:r>
          </a:p>
        </p:txBody>
      </p:sp>
      <p:sp>
        <p:nvSpPr>
          <p:cNvPr id="2" name="">
            <a:extLst xmlns:a="http://schemas.openxmlformats.org/drawingml/2006/main">
              <a:ext uri="{FF2B5EF4-FFF2-40B4-BE49-F238E27FC236}">
                <a16:creationId xmlns:a16="http://schemas.microsoft.com/office/drawing/2014/main" id="{0314FAD7-0DCB-44C1-87C3-56A08CB84C07}"/>
              </a:ext>
            </a:extLst>
          </p:cNvPr>
          <p:cNvSpPr>
            <a:spLocks xmlns:a="http://schemas.openxmlformats.org/drawingml/2006/main" noGrp="1"/>
          </p:cNvSpPr>
          <p:nvPr/>
        </p:nvSpPr>
        <p:spPr>
          <a:xfrm xmlns:a="http://schemas.openxmlformats.org/drawingml/2006/main">
            <a:off x="609600" y="1581150"/>
            <a:ext cx="10972800" cy="1287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625" b="0">
                <a:solidFill>
                  <a:srgbClr val="172B3A"/>
                </a:solidFill>
                <a:latin typeface="Arial"/>
                <a:ea typeface="Arial"/>
                <a:cs typeface="Arial"/>
              </a:defRPr>
            </a:defPPr>
          </a:lstStyle>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La memoria CMOS sensible recibió protección específica para limitar su</a:t>
            </a:r>
          </a:p>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dosis. En los cristales de cuarzo, el programa seleccionó material</a:t>
            </a:r>
          </a:p>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mediante muestras antes de fabricar las unidades de vuelo.</a:t>
            </a:r>
          </a:p>
        </p:txBody>
      </p:sp>
      <p:sp>
        <p:nvSpPr>
          <p:cNvPr id="3" name="">
            <a:extLst xmlns:a="http://schemas.openxmlformats.org/drawingml/2006/main">
              <a:ext uri="{FF2B5EF4-FFF2-40B4-BE49-F238E27FC236}">
                <a16:creationId xmlns:a16="http://schemas.microsoft.com/office/drawing/2014/main" id="{4931759E-6E3E-45B7-94A6-CB7293A17C67}"/>
              </a:ext>
            </a:extLst>
          </p:cNvPr>
          <p:cNvSpPr>
            <a:spLocks xmlns:a="http://schemas.openxmlformats.org/drawingml/2006/main" noGrp="1"/>
          </p:cNvSpPr>
          <p:nvPr/>
        </p:nvSpPr>
        <p:spPr>
          <a:xfrm xmlns:a="http://schemas.openxmlformats.org/drawingml/2006/main">
            <a:off x="609600" y="3495675"/>
            <a:ext cx="5048250" cy="4789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1">
                <a:solidFill>
                  <a:srgbClr val="126F87"/>
                </a:solidFill>
                <a:latin typeface="Arial"/>
                <a:ea typeface="Arial"/>
                <a:cs typeface="Arial"/>
              </a:defRPr>
            </a:defPPr>
          </a:lstStyle>
          <a:p xmlns:a="http://schemas.openxmlformats.org/drawingml/2006/main">
            <a:pPr>
              <a:defRPr sz="2700" b="1">
                <a:solidFill>
                  <a:srgbClr val="126F87"/>
                </a:solidFill>
                <a:latin typeface="Arial"/>
                <a:ea typeface="Arial"/>
                <a:cs typeface="Arial"/>
              </a:defRPr>
            </a:pPr>
            <a:r>
              <a:rPr sz="2700" b="1">
                <a:solidFill>
                  <a:srgbClr val="126F87"/>
                </a:solidFill>
                <a:latin typeface="Arial"/>
                <a:ea typeface="Arial"/>
                <a:cs typeface="Arial"/>
              </a:rPr>
              <a:t>Memoria CMOS</a:t>
            </a:r>
          </a:p>
        </p:txBody>
      </p:sp>
      <p:sp>
        <p:nvSpPr>
          <p:cNvPr id="4" name="">
            <a:extLst xmlns:a="http://schemas.openxmlformats.org/drawingml/2006/main">
              <a:ext uri="{FF2B5EF4-FFF2-40B4-BE49-F238E27FC236}">
                <a16:creationId xmlns:a16="http://schemas.microsoft.com/office/drawing/2014/main" id="{50301BB8-C0A5-46C6-BABE-B88C4A9766DC}"/>
              </a:ext>
            </a:extLst>
          </p:cNvPr>
          <p:cNvSpPr>
            <a:spLocks xmlns:a="http://schemas.openxmlformats.org/drawingml/2006/main" noGrp="1"/>
          </p:cNvSpPr>
          <p:nvPr/>
        </p:nvSpPr>
        <p:spPr>
          <a:xfrm xmlns:a="http://schemas.openxmlformats.org/drawingml/2006/main">
            <a:off x="609600" y="4086225"/>
            <a:ext cx="5048250" cy="8538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Blindaje para limitar la dosis a 10</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krad(Si).</a:t>
            </a:r>
          </a:p>
        </p:txBody>
      </p:sp>
      <p:sp>
        <p:nvSpPr>
          <p:cNvPr id="5" name="">
            <a:extLst xmlns:a="http://schemas.openxmlformats.org/drawingml/2006/main">
              <a:ext uri="{FF2B5EF4-FFF2-40B4-BE49-F238E27FC236}">
                <a16:creationId xmlns:a16="http://schemas.microsoft.com/office/drawing/2014/main" id="{87EB6368-D151-4ACC-8D36-B416A1B3903C}"/>
              </a:ext>
            </a:extLst>
          </p:cNvPr>
          <p:cNvSpPr>
            <a:spLocks xmlns:a="http://schemas.openxmlformats.org/drawingml/2006/main" noGrp="1"/>
          </p:cNvSpPr>
          <p:nvPr/>
        </p:nvSpPr>
        <p:spPr>
          <a:xfrm xmlns:a="http://schemas.openxmlformats.org/drawingml/2006/main">
            <a:off x="6572250" y="3495675"/>
            <a:ext cx="4953000" cy="4789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1">
                <a:solidFill>
                  <a:srgbClr val="126F87"/>
                </a:solidFill>
                <a:latin typeface="Arial"/>
                <a:ea typeface="Arial"/>
                <a:cs typeface="Arial"/>
              </a:defRPr>
            </a:defPPr>
          </a:lstStyle>
          <a:p xmlns:a="http://schemas.openxmlformats.org/drawingml/2006/main">
            <a:pPr>
              <a:defRPr sz="2700" b="1">
                <a:solidFill>
                  <a:srgbClr val="126F87"/>
                </a:solidFill>
                <a:latin typeface="Arial"/>
                <a:ea typeface="Arial"/>
                <a:cs typeface="Arial"/>
              </a:defRPr>
            </a:pPr>
            <a:r>
              <a:rPr sz="2700" b="1">
                <a:solidFill>
                  <a:srgbClr val="126F87"/>
                </a:solidFill>
                <a:latin typeface="Arial"/>
                <a:ea typeface="Arial"/>
                <a:cs typeface="Arial"/>
              </a:rPr>
              <a:t>Cristales de cuarzo</a:t>
            </a:r>
          </a:p>
        </p:txBody>
      </p:sp>
      <p:sp>
        <p:nvSpPr>
          <p:cNvPr id="6" name="">
            <a:extLst xmlns:a="http://schemas.openxmlformats.org/drawingml/2006/main">
              <a:ext uri="{FF2B5EF4-FFF2-40B4-BE49-F238E27FC236}">
                <a16:creationId xmlns:a16="http://schemas.microsoft.com/office/drawing/2014/main" id="{8EA22F4B-BD35-4916-91A6-2C8BC623E904}"/>
              </a:ext>
            </a:extLst>
          </p:cNvPr>
          <p:cNvSpPr>
            <a:spLocks xmlns:a="http://schemas.openxmlformats.org/drawingml/2006/main" noGrp="1"/>
          </p:cNvSpPr>
          <p:nvPr/>
        </p:nvSpPr>
        <p:spPr>
          <a:xfrm xmlns:a="http://schemas.openxmlformats.org/drawingml/2006/main">
            <a:off x="6572250" y="4086225"/>
            <a:ext cx="4953000" cy="8538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Muestras de las barras antes de</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fabricar piezas de vuelo.</a:t>
            </a:r>
          </a:p>
        </p:txBody>
      </p:sp>
      <p:sp>
        <p:nvSpPr>
          <p:cNvPr id="7" name="">
            <a:extLst xmlns:a="http://schemas.openxmlformats.org/drawingml/2006/main">
              <a:ext uri="{FF2B5EF4-FFF2-40B4-BE49-F238E27FC236}">
                <a16:creationId xmlns:a16="http://schemas.microsoft.com/office/drawing/2014/main" id="{957F43A5-A112-40D6-9379-DD344326379A}"/>
              </a:ext>
            </a:extLst>
          </p:cNvPr>
          <p:cNvSpPr>
            <a:spLocks xmlns:a="http://schemas.openxmlformats.org/drawingml/2006/main" noGrp="1"/>
          </p:cNvSpPr>
          <p:nvPr/>
        </p:nvSpPr>
        <p:spPr>
          <a:xfrm xmlns:a="http://schemas.openxmlformats.org/drawingml/2006/main">
            <a:off x="609600" y="5695950"/>
            <a:ext cx="109728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72B3A"/>
                </a:solidFill>
                <a:latin typeface="Arial"/>
                <a:ea typeface="Arial"/>
                <a:cs typeface="Arial"/>
              </a:defRPr>
            </a:defPPr>
          </a:lstStyle>
          <a:p xmlns:a="http://schemas.openxmlformats.org/drawingml/2006/main">
            <a:pPr>
              <a:defRPr sz="2100" b="0">
                <a:solidFill>
                  <a:srgbClr val="172B3A"/>
                </a:solidFill>
                <a:latin typeface="Arial"/>
                <a:ea typeface="Arial"/>
                <a:cs typeface="Arial"/>
              </a:defRPr>
            </a:pPr>
            <a:r>
              <a:rPr sz="2100" b="0">
                <a:solidFill>
                  <a:srgbClr val="172B3A"/>
                </a:solidFill>
                <a:latin typeface="Arial"/>
                <a:ea typeface="Arial"/>
                <a:cs typeface="Arial"/>
              </a:rPr>
              <a:t>Registros MOS: también aparecen en la lectura del detector UVS.</a:t>
            </a:r>
          </a:p>
        </p:txBody>
      </p:sp>
      <p:sp>
        <p:nvSpPr>
          <p:cNvPr id="8" name="">
            <a:extLst xmlns:a="http://schemas.openxmlformats.org/drawingml/2006/main">
              <a:ext uri="{FF2B5EF4-FFF2-40B4-BE49-F238E27FC236}">
                <a16:creationId xmlns:a16="http://schemas.microsoft.com/office/drawing/2014/main" id="{2BF8E786-2D3A-42A7-98F7-78AFA83965DB}"/>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JPL · §VI.B, §VII.I-J y §VIII.F</a:t>
            </a:r>
          </a:p>
        </p:txBody>
      </p:sp>
      <p:sp>
        <p:nvSpPr>
          <p:cNvPr id="9" name="">
            <a:extLst xmlns:a="http://schemas.openxmlformats.org/drawingml/2006/main">
              <a:ext uri="{FF2B5EF4-FFF2-40B4-BE49-F238E27FC236}">
                <a16:creationId xmlns:a16="http://schemas.microsoft.com/office/drawing/2014/main" id="{26684E55-D28B-4F69-99C5-F83A754A7A29}"/>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15</a:t>
            </a:r>
          </a:p>
        </p:txBody>
      </p:sp>
    </p:spTree>
    <p:extLst>
      <p:ext uri="{BB962C8B-B14F-4D97-AF65-F5344CB8AC3E}">
        <p14:creationId xmlns:p14="http://schemas.microsoft.com/office/powerpoint/2010/main" val="179787705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6B3B48-B2BC-4D32-BE10-432FDFA5ED5E}"/>
              </a:ext>
            </a:extLst>
          </p:cNvPr>
          <p:cNvSpPr>
            <a:spLocks xmlns:a="http://schemas.openxmlformats.org/drawingml/2006/main" noGrp="1"/>
          </p:cNvSpPr>
          <p:nvPr/>
        </p:nvSpPr>
        <p:spPr>
          <a:xfrm xmlns:a="http://schemas.openxmlformats.org/drawingml/2006/main">
            <a:off x="609600" y="457200"/>
            <a:ext cx="1097280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Screening: elegir las piezas de vuelo</a:t>
            </a:r>
          </a:p>
        </p:txBody>
      </p:sp>
      <p:sp>
        <p:nvSpPr>
          <p:cNvPr id="2" name="">
            <a:extLst xmlns:a="http://schemas.openxmlformats.org/drawingml/2006/main">
              <a:ext uri="{FF2B5EF4-FFF2-40B4-BE49-F238E27FC236}">
                <a16:creationId xmlns:a16="http://schemas.microsoft.com/office/drawing/2014/main" id="{1127958B-518E-49F2-94C2-947DE59D5214}"/>
              </a:ext>
            </a:extLst>
          </p:cNvPr>
          <p:cNvSpPr>
            <a:spLocks xmlns:a="http://schemas.openxmlformats.org/drawingml/2006/main" noGrp="1"/>
          </p:cNvSpPr>
          <p:nvPr/>
        </p:nvSpPr>
        <p:spPr>
          <a:xfrm xmlns:a="http://schemas.openxmlformats.org/drawingml/2006/main">
            <a:off x="609600" y="1581150"/>
            <a:ext cx="5381625" cy="23768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75" b="0">
                <a:solidFill>
                  <a:srgbClr val="172B3A"/>
                </a:solidFill>
                <a:latin typeface="Arial"/>
                <a:ea typeface="Arial"/>
                <a:cs typeface="Arial"/>
              </a:defRPr>
            </a:defPPr>
          </a:lstStyle>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Dos componentes con la misma</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referencia podían responder de</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manera distinta a la radiación. El</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screening vinculó la aceptación de</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lotes y unidades con los parámetros</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que necesitaba cada circuito.</a:t>
            </a:r>
          </a:p>
        </p:txBody>
      </p:sp>
      <p:pic>
        <p:nvPicPr>
          <p:cNvPr id="3" name="">
            <a:extLst xmlns:a="http://schemas.openxmlformats.org/drawingml/2006/main">
              <a:ext uri="{FF2B5EF4-FFF2-40B4-BE49-F238E27FC236}">
                <a16:creationId xmlns:a16="http://schemas.microsoft.com/office/drawing/2014/main" id="{3ADC2D2A-F424-42BF-ABCE-C6A449D34141}"/>
              </a:ext>
            </a:extLst>
          </p:cNvPr>
          <p:cNvPicPr>
            <a:picLocks xmlns:a="http://schemas.openxmlformats.org/drawingml/2006/main" noChangeAspect="1"/>
          </p:cNvPicPr>
          <p:nvPr/>
        </p:nvPicPr>
        <p:blipFill>
          <a:blip xmlns:r="http://schemas.openxmlformats.org/officeDocument/2006/relationships" xmlns:a="http://schemas.openxmlformats.org/drawingml/2006/main" r:embed="Re04bb0bc35bc4c8b"/>
          <a:stretch xmlns:a="http://schemas.openxmlformats.org/drawingml/2006/main"/>
        </p:blipFill>
        <p:spPr>
          <a:xfrm xmlns:a="http://schemas.openxmlformats.org/drawingml/2006/main">
            <a:off x="7881065" y="1485900"/>
            <a:ext cx="2354419"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5CB722-8848-491C-B0C4-D88D5530C6D8}"/>
              </a:ext>
            </a:extLst>
          </p:cNvPr>
          <p:cNvSpPr>
            <a:spLocks xmlns:a="http://schemas.openxmlformats.org/drawingml/2006/main" noGrp="1"/>
          </p:cNvSpPr>
          <p:nvPr/>
        </p:nvSpPr>
        <p:spPr>
          <a:xfrm xmlns:a="http://schemas.openxmlformats.org/drawingml/2006/main">
            <a:off x="6553200" y="5314950"/>
            <a:ext cx="5010150" cy="350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0">
                <a:solidFill>
                  <a:srgbClr val="49616E"/>
                </a:solidFill>
                <a:latin typeface="Arial"/>
                <a:ea typeface="Arial"/>
                <a:cs typeface="Arial"/>
              </a:defRPr>
            </a:defPPr>
          </a:lstStyle>
          <a:p xmlns:a="http://schemas.openxmlformats.org/drawingml/2006/main">
            <a:pPr>
              <a:defRPr sz="1875" b="0">
                <a:solidFill>
                  <a:srgbClr val="49616E"/>
                </a:solidFill>
                <a:latin typeface="Arial"/>
                <a:ea typeface="Arial"/>
                <a:cs typeface="Arial"/>
              </a:defRPr>
            </a:pPr>
            <a:r>
              <a:rPr sz="1875" b="0">
                <a:solidFill>
                  <a:srgbClr val="49616E"/>
                </a:solidFill>
                <a:latin typeface="Arial"/>
                <a:ea typeface="Arial"/>
                <a:cs typeface="Arial"/>
              </a:rPr>
              <a:t>Figura 8-21 · Lotes CD4053B</a:t>
            </a:r>
          </a:p>
        </p:txBody>
      </p:sp>
      <p:sp>
        <p:nvSpPr>
          <p:cNvPr id="5" name="">
            <a:extLst xmlns:a="http://schemas.openxmlformats.org/drawingml/2006/main">
              <a:ext uri="{FF2B5EF4-FFF2-40B4-BE49-F238E27FC236}">
                <a16:creationId xmlns:a16="http://schemas.microsoft.com/office/drawing/2014/main" id="{B8817951-75B9-4A9F-8172-864CF0E414C0}"/>
              </a:ext>
            </a:extLst>
          </p:cNvPr>
          <p:cNvSpPr>
            <a:spLocks xmlns:a="http://schemas.openxmlformats.org/drawingml/2006/main" noGrp="1"/>
          </p:cNvSpPr>
          <p:nvPr/>
        </p:nvSpPr>
        <p:spPr>
          <a:xfrm xmlns:a="http://schemas.openxmlformats.org/drawingml/2006/main">
            <a:off x="609600" y="5715000"/>
            <a:ext cx="10934700" cy="37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025" b="0">
                <a:solidFill>
                  <a:srgbClr val="126F87"/>
                </a:solidFill>
                <a:latin typeface="Arial"/>
                <a:ea typeface="Arial"/>
                <a:cs typeface="Arial"/>
              </a:defRPr>
            </a:defPPr>
          </a:lstStyle>
          <a:p xmlns:a="http://schemas.openxmlformats.org/drawingml/2006/main">
            <a:pPr>
              <a:defRPr sz="2025" b="0">
                <a:solidFill>
                  <a:srgbClr val="126F87"/>
                </a:solidFill>
                <a:latin typeface="Arial"/>
                <a:ea typeface="Arial"/>
                <a:cs typeface="Arial"/>
              </a:defRPr>
            </a:pPr>
            <a:r>
              <a:rPr sz="2025" b="0">
                <a:solidFill>
                  <a:srgbClr val="126F87"/>
                </a:solidFill>
                <a:latin typeface="Arial"/>
                <a:ea typeface="Arial"/>
                <a:cs typeface="Arial"/>
              </a:rPr>
              <a:t>Fabricación modificada + trazabilidad + criterios de aceptación.</a:t>
            </a:r>
          </a:p>
        </p:txBody>
      </p:sp>
      <p:sp>
        <p:nvSpPr>
          <p:cNvPr id="6" name="">
            <a:extLst xmlns:a="http://schemas.openxmlformats.org/drawingml/2006/main">
              <a:ext uri="{FF2B5EF4-FFF2-40B4-BE49-F238E27FC236}">
                <a16:creationId xmlns:a16="http://schemas.microsoft.com/office/drawing/2014/main" id="{616978B3-1D1C-45B2-A0D1-56100094D447}"/>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JPL · §IV.B y §VIII · Figura 8-21</a:t>
            </a:r>
          </a:p>
        </p:txBody>
      </p:sp>
      <p:sp>
        <p:nvSpPr>
          <p:cNvPr id="7" name="">
            <a:extLst xmlns:a="http://schemas.openxmlformats.org/drawingml/2006/main">
              <a:ext uri="{FF2B5EF4-FFF2-40B4-BE49-F238E27FC236}">
                <a16:creationId xmlns:a16="http://schemas.microsoft.com/office/drawing/2014/main" id="{0546AEB0-C2A7-462A-AB89-4D8452A019AC}"/>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16</a:t>
            </a:r>
          </a:p>
        </p:txBody>
      </p:sp>
    </p:spTree>
    <p:extLst>
      <p:ext uri="{BB962C8B-B14F-4D97-AF65-F5344CB8AC3E}">
        <p14:creationId xmlns:p14="http://schemas.microsoft.com/office/powerpoint/2010/main" val="206712996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069D1E-9E9B-4816-B732-8C3F44F0DC77}"/>
              </a:ext>
            </a:extLst>
          </p:cNvPr>
          <p:cNvSpPr>
            <a:spLocks xmlns:a="http://schemas.openxmlformats.org/drawingml/2006/main" noGrp="1"/>
          </p:cNvSpPr>
          <p:nvPr/>
        </p:nvSpPr>
        <p:spPr>
          <a:xfrm xmlns:a="http://schemas.openxmlformats.org/drawingml/2006/main">
            <a:off x="609600" y="457200"/>
            <a:ext cx="1097280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Blindaje y margen de circuito</a:t>
            </a:r>
          </a:p>
        </p:txBody>
      </p:sp>
      <p:sp>
        <p:nvSpPr>
          <p:cNvPr id="2" name="">
            <a:extLst xmlns:a="http://schemas.openxmlformats.org/drawingml/2006/main">
              <a:ext uri="{FF2B5EF4-FFF2-40B4-BE49-F238E27FC236}">
                <a16:creationId xmlns:a16="http://schemas.microsoft.com/office/drawing/2014/main" id="{918381AE-CF59-4B53-924C-E8E667262850}"/>
              </a:ext>
            </a:extLst>
          </p:cNvPr>
          <p:cNvSpPr>
            <a:spLocks xmlns:a="http://schemas.openxmlformats.org/drawingml/2006/main" noGrp="1"/>
          </p:cNvSpPr>
          <p:nvPr/>
        </p:nvSpPr>
        <p:spPr>
          <a:xfrm xmlns:a="http://schemas.openxmlformats.org/drawingml/2006/main">
            <a:off x="609600" y="1581150"/>
            <a:ext cx="10972800" cy="1697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625" b="0">
                <a:solidFill>
                  <a:srgbClr val="172B3A"/>
                </a:solidFill>
                <a:latin typeface="Arial"/>
                <a:ea typeface="Arial"/>
                <a:cs typeface="Arial"/>
              </a:defRPr>
            </a:defPPr>
          </a:lstStyle>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El blindaje reducía la exposición local cuando las otras medidas no</a:t>
            </a:r>
          </a:p>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alcanzaban. La capacidad se evaluaba para cada aplicación: un</a:t>
            </a:r>
          </a:p>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componente podía seguir funcionando y, aun así, haber perdido el</a:t>
            </a:r>
          </a:p>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margen que necesitaba su circuito.</a:t>
            </a:r>
          </a:p>
        </p:txBody>
      </p:sp>
      <p:sp>
        <p:nvSpPr>
          <p:cNvPr id="3" name="">
            <a:extLst xmlns:a="http://schemas.openxmlformats.org/drawingml/2006/main">
              <a:ext uri="{FF2B5EF4-FFF2-40B4-BE49-F238E27FC236}">
                <a16:creationId xmlns:a16="http://schemas.microsoft.com/office/drawing/2014/main" id="{BEA62C03-6AD7-4B8B-8943-8310ACA1286A}"/>
              </a:ext>
            </a:extLst>
          </p:cNvPr>
          <p:cNvSpPr>
            <a:spLocks xmlns:a="http://schemas.openxmlformats.org/drawingml/2006/main" noGrp="1"/>
          </p:cNvSpPr>
          <p:nvPr/>
        </p:nvSpPr>
        <p:spPr>
          <a:xfrm xmlns:a="http://schemas.openxmlformats.org/drawingml/2006/main">
            <a:off x="609600" y="3714750"/>
            <a:ext cx="10972800" cy="6898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050" b="1">
                <a:solidFill>
                  <a:srgbClr val="126F87"/>
                </a:solidFill>
                <a:latin typeface="Arial"/>
                <a:ea typeface="Arial"/>
                <a:cs typeface="Arial"/>
              </a:defRPr>
            </a:defPPr>
          </a:lstStyle>
          <a:p xmlns:a="http://schemas.openxmlformats.org/drawingml/2006/main">
            <a:pPr>
              <a:defRPr sz="4050" b="1">
                <a:solidFill>
                  <a:srgbClr val="126F87"/>
                </a:solidFill>
                <a:latin typeface="Arial"/>
                <a:ea typeface="Arial"/>
                <a:cs typeface="Arial"/>
              </a:defRPr>
            </a:pPr>
            <a:r>
              <a:rPr sz="4050" b="1">
                <a:solidFill>
                  <a:srgbClr val="126F87"/>
                </a:solidFill>
                <a:latin typeface="Arial"/>
                <a:ea typeface="Arial"/>
                <a:cs typeface="Arial"/>
              </a:rPr>
              <a:t>60 krad(Si) / 30 krad(Si) = 2</a:t>
            </a:r>
          </a:p>
        </p:txBody>
      </p:sp>
      <p:sp>
        <p:nvSpPr>
          <p:cNvPr id="4" name="">
            <a:extLst xmlns:a="http://schemas.openxmlformats.org/drawingml/2006/main">
              <a:ext uri="{FF2B5EF4-FFF2-40B4-BE49-F238E27FC236}">
                <a16:creationId xmlns:a16="http://schemas.microsoft.com/office/drawing/2014/main" id="{CABEAB49-745A-4029-B0BB-5C8F7201CF5B}"/>
              </a:ext>
            </a:extLst>
          </p:cNvPr>
          <p:cNvSpPr>
            <a:spLocks xmlns:a="http://schemas.openxmlformats.org/drawingml/2006/main" noGrp="1"/>
          </p:cNvSpPr>
          <p:nvPr/>
        </p:nvSpPr>
        <p:spPr>
          <a:xfrm xmlns:a="http://schemas.openxmlformats.org/drawingml/2006/main">
            <a:off x="609600" y="4686300"/>
            <a:ext cx="10972800" cy="443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75" b="0">
                <a:solidFill>
                  <a:srgbClr val="172B3A"/>
                </a:solidFill>
                <a:latin typeface="Arial"/>
                <a:ea typeface="Arial"/>
                <a:cs typeface="Arial"/>
              </a:defRPr>
            </a:defPPr>
          </a:lstStyle>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Capacidad en la aplicación / exposición local prevista</a:t>
            </a:r>
          </a:p>
        </p:txBody>
      </p:sp>
      <p:sp>
        <p:nvSpPr>
          <p:cNvPr id="5" name="">
            <a:extLst xmlns:a="http://schemas.openxmlformats.org/drawingml/2006/main">
              <a:ext uri="{FF2B5EF4-FFF2-40B4-BE49-F238E27FC236}">
                <a16:creationId xmlns:a16="http://schemas.microsoft.com/office/drawing/2014/main" id="{F0B41C1B-7D2F-4DC9-B82D-517CD15990FB}"/>
              </a:ext>
            </a:extLst>
          </p:cNvPr>
          <p:cNvSpPr>
            <a:spLocks xmlns:a="http://schemas.openxmlformats.org/drawingml/2006/main" noGrp="1"/>
          </p:cNvSpPr>
          <p:nvPr/>
        </p:nvSpPr>
        <p:spPr>
          <a:xfrm xmlns:a="http://schemas.openxmlformats.org/drawingml/2006/main">
            <a:off x="609600" y="5648325"/>
            <a:ext cx="10972800" cy="396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72B3A"/>
                </a:solidFill>
                <a:latin typeface="Arial"/>
                <a:ea typeface="Arial"/>
                <a:cs typeface="Arial"/>
              </a:defRPr>
            </a:defPPr>
          </a:lstStyle>
          <a:p xmlns:a="http://schemas.openxmlformats.org/drawingml/2006/main">
            <a:pPr>
              <a:defRPr sz="2175" b="0">
                <a:solidFill>
                  <a:srgbClr val="172B3A"/>
                </a:solidFill>
                <a:latin typeface="Arial"/>
                <a:ea typeface="Arial"/>
                <a:cs typeface="Arial"/>
              </a:defRPr>
            </a:pPr>
            <a:r>
              <a:rPr sz="2175" b="0">
                <a:solidFill>
                  <a:srgbClr val="172B3A"/>
                </a:solidFill>
                <a:latin typeface="Arial"/>
                <a:ea typeface="Arial"/>
                <a:cs typeface="Arial"/>
              </a:rPr>
              <a:t>Ejemplo del bus de ingeniería; no representa su dosis actual.</a:t>
            </a:r>
          </a:p>
        </p:txBody>
      </p:sp>
      <p:sp>
        <p:nvSpPr>
          <p:cNvPr id="6" name="">
            <a:extLst xmlns:a="http://schemas.openxmlformats.org/drawingml/2006/main">
              <a:ext uri="{FF2B5EF4-FFF2-40B4-BE49-F238E27FC236}">
                <a16:creationId xmlns:a16="http://schemas.microsoft.com/office/drawing/2014/main" id="{4B446981-F331-472F-B5A7-FDF5FED2A2E5}"/>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JPL · Tablas 2-2 y 3-1; §III.B-C</a:t>
            </a:r>
          </a:p>
        </p:txBody>
      </p:sp>
      <p:sp>
        <p:nvSpPr>
          <p:cNvPr id="7" name="">
            <a:extLst xmlns:a="http://schemas.openxmlformats.org/drawingml/2006/main">
              <a:ext uri="{FF2B5EF4-FFF2-40B4-BE49-F238E27FC236}">
                <a16:creationId xmlns:a16="http://schemas.microsoft.com/office/drawing/2014/main" id="{36C0B4C8-325B-41BB-8548-C7B1443E47C8}"/>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17</a:t>
            </a:r>
          </a:p>
        </p:txBody>
      </p:sp>
    </p:spTree>
    <p:extLst>
      <p:ext uri="{BB962C8B-B14F-4D97-AF65-F5344CB8AC3E}">
        <p14:creationId xmlns:p14="http://schemas.microsoft.com/office/powerpoint/2010/main" val="3373984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BE91B3-E456-4458-841F-5855D469BE1F}"/>
              </a:ext>
            </a:extLst>
          </p:cNvPr>
          <p:cNvSpPr>
            <a:spLocks xmlns:a="http://schemas.openxmlformats.org/drawingml/2006/main" noGrp="1"/>
          </p:cNvSpPr>
          <p:nvPr/>
        </p:nvSpPr>
        <p:spPr>
          <a:xfrm xmlns:a="http://schemas.openxmlformats.org/drawingml/2006/main">
            <a:off x="609600" y="457200"/>
            <a:ext cx="10972800" cy="57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Las decisiones que dejó el programa</a:t>
            </a:r>
          </a:p>
        </p:txBody>
      </p:sp>
      <p:sp>
        <p:nvSpPr>
          <p:cNvPr id="2" name="">
            <a:extLst xmlns:a="http://schemas.openxmlformats.org/drawingml/2006/main">
              <a:ext uri="{FF2B5EF4-FFF2-40B4-BE49-F238E27FC236}">
                <a16:creationId xmlns:a16="http://schemas.microsoft.com/office/drawing/2014/main" id="{FDB32935-DAC8-4525-A3A6-C593D820CC10}"/>
              </a:ext>
            </a:extLst>
          </p:cNvPr>
          <p:cNvSpPr>
            <a:spLocks xmlns:a="http://schemas.openxmlformats.org/drawingml/2006/main" noGrp="1"/>
          </p:cNvSpPr>
          <p:nvPr/>
        </p:nvSpPr>
        <p:spPr>
          <a:xfrm xmlns:a="http://schemas.openxmlformats.org/drawingml/2006/main">
            <a:off x="609600" y="1581150"/>
            <a:ext cx="5381625" cy="2763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75" b="0">
                <a:solidFill>
                  <a:srgbClr val="172B3A"/>
                </a:solidFill>
                <a:latin typeface="Arial"/>
                <a:ea typeface="Arial"/>
                <a:cs typeface="Arial"/>
              </a:defRPr>
            </a:defPPr>
          </a:lstStyle>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Voyager se preparó aceptando que</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algunos parámetros iban a cambiar. El</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programa combinó componentes</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seleccionados, modificaciones de</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fabricación, márgenes de circuito y</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protección localizada para conservar</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funciones útiles.</a:t>
            </a:r>
          </a:p>
        </p:txBody>
      </p:sp>
      <p:pic>
        <p:nvPicPr>
          <p:cNvPr id="3" name="">
            <a:extLst xmlns:a="http://schemas.openxmlformats.org/drawingml/2006/main">
              <a:ext uri="{FF2B5EF4-FFF2-40B4-BE49-F238E27FC236}">
                <a16:creationId xmlns:a16="http://schemas.microsoft.com/office/drawing/2014/main" id="{FBEC3BDD-EBCB-4518-B13D-8C38B610189A}"/>
              </a:ext>
            </a:extLst>
          </p:cNvPr>
          <p:cNvPicPr>
            <a:picLocks xmlns:a="http://schemas.openxmlformats.org/drawingml/2006/main" noChangeAspect="1"/>
          </p:cNvPicPr>
          <p:nvPr/>
        </p:nvPicPr>
        <p:blipFill>
          <a:blip xmlns:r="http://schemas.openxmlformats.org/officeDocument/2006/relationships" xmlns:a="http://schemas.openxmlformats.org/drawingml/2006/main" r:embed="Ra57d71158d00466d"/>
          <a:stretch xmlns:a="http://schemas.openxmlformats.org/drawingml/2006/main"/>
        </p:blipFill>
        <p:spPr>
          <a:xfrm xmlns:a="http://schemas.openxmlformats.org/drawingml/2006/main">
            <a:off x="6723840" y="1485900"/>
            <a:ext cx="4668870"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973BA59-D308-4130-986E-E4165BA42B12}"/>
              </a:ext>
            </a:extLst>
          </p:cNvPr>
          <p:cNvSpPr>
            <a:spLocks xmlns:a="http://schemas.openxmlformats.org/drawingml/2006/main" noGrp="1"/>
          </p:cNvSpPr>
          <p:nvPr/>
        </p:nvSpPr>
        <p:spPr>
          <a:xfrm xmlns:a="http://schemas.openxmlformats.org/drawingml/2006/main">
            <a:off x="6553200" y="5314950"/>
            <a:ext cx="5010150" cy="350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0">
                <a:solidFill>
                  <a:srgbClr val="49616E"/>
                </a:solidFill>
                <a:latin typeface="Arial"/>
                <a:ea typeface="Arial"/>
                <a:cs typeface="Arial"/>
              </a:defRPr>
            </a:defPPr>
          </a:lstStyle>
          <a:p xmlns:a="http://schemas.openxmlformats.org/drawingml/2006/main">
            <a:pPr>
              <a:defRPr sz="1875" b="0">
                <a:solidFill>
                  <a:srgbClr val="49616E"/>
                </a:solidFill>
                <a:latin typeface="Arial"/>
                <a:ea typeface="Arial"/>
                <a:cs typeface="Arial"/>
              </a:defRPr>
            </a:pPr>
            <a:r>
              <a:rPr sz="1875" b="0">
                <a:solidFill>
                  <a:srgbClr val="49616E"/>
                </a:solidFill>
                <a:latin typeface="Arial"/>
                <a:ea typeface="Arial"/>
                <a:cs typeface="Arial"/>
              </a:rPr>
              <a:t>Integración de Voyager 2 · NASA/JPL</a:t>
            </a:r>
          </a:p>
        </p:txBody>
      </p:sp>
      <p:sp>
        <p:nvSpPr>
          <p:cNvPr id="5" name="">
            <a:extLst xmlns:a="http://schemas.openxmlformats.org/drawingml/2006/main">
              <a:ext uri="{FF2B5EF4-FFF2-40B4-BE49-F238E27FC236}">
                <a16:creationId xmlns:a16="http://schemas.microsoft.com/office/drawing/2014/main" id="{74551EDE-0486-4980-B344-596F99304AB4}"/>
              </a:ext>
            </a:extLst>
          </p:cNvPr>
          <p:cNvSpPr>
            <a:spLocks xmlns:a="http://schemas.openxmlformats.org/drawingml/2006/main" noGrp="1"/>
          </p:cNvSpPr>
          <p:nvPr/>
        </p:nvSpPr>
        <p:spPr>
          <a:xfrm xmlns:a="http://schemas.openxmlformats.org/drawingml/2006/main">
            <a:off x="609600" y="5715000"/>
            <a:ext cx="10934700" cy="37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025" b="0">
                <a:solidFill>
                  <a:srgbClr val="126F87"/>
                </a:solidFill>
                <a:latin typeface="Arial"/>
                <a:ea typeface="Arial"/>
                <a:cs typeface="Arial"/>
              </a:defRPr>
            </a:defPPr>
          </a:lstStyle>
          <a:p xmlns:a="http://schemas.openxmlformats.org/drawingml/2006/main">
            <a:pPr>
              <a:defRPr sz="2025" b="0">
                <a:solidFill>
                  <a:srgbClr val="126F87"/>
                </a:solidFill>
                <a:latin typeface="Arial"/>
                <a:ea typeface="Arial"/>
                <a:cs typeface="Arial"/>
              </a:defRPr>
            </a:pPr>
            <a:r>
              <a:rPr sz="2025" b="0">
                <a:solidFill>
                  <a:srgbClr val="126F87"/>
                </a:solidFill>
                <a:latin typeface="Arial"/>
                <a:ea typeface="Arial"/>
                <a:cs typeface="Arial"/>
              </a:rPr>
              <a:t>El requisito era conservar la función con parámetros que podían degradarse.</a:t>
            </a:r>
          </a:p>
        </p:txBody>
      </p:sp>
      <p:sp>
        <p:nvSpPr>
          <p:cNvPr id="6" name="">
            <a:extLst xmlns:a="http://schemas.openxmlformats.org/drawingml/2006/main">
              <a:ext uri="{FF2B5EF4-FFF2-40B4-BE49-F238E27FC236}">
                <a16:creationId xmlns:a16="http://schemas.microsoft.com/office/drawing/2014/main" id="{E83EE9DA-8621-4903-8838-B148B23B79AA}"/>
              </a:ext>
            </a:extLst>
          </p:cNvPr>
          <p:cNvSpPr>
            <a:spLocks xmlns:a="http://schemas.openxmlformats.org/drawingml/2006/main" noGrp="1"/>
          </p:cNvSpPr>
          <p:nvPr/>
        </p:nvSpPr>
        <p:spPr>
          <a:xfrm xmlns:a="http://schemas.openxmlformats.org/drawingml/2006/main">
            <a:off x="609600" y="6362700"/>
            <a:ext cx="10001250" cy="2797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49616E"/>
                </a:solidFill>
                <a:latin typeface="Arial"/>
                <a:ea typeface="Arial"/>
                <a:cs typeface="Arial"/>
              </a:defRPr>
            </a:defPPr>
          </a:lstStyle>
          <a:p xmlns:a="http://schemas.openxmlformats.org/drawingml/2006/main">
            <a:pPr>
              <a:defRPr sz="1425" b="0">
                <a:solidFill>
                  <a:srgbClr val="49616E"/>
                </a:solidFill>
                <a:latin typeface="Arial"/>
                <a:ea typeface="Arial"/>
                <a:cs typeface="Arial"/>
              </a:defRPr>
            </a:pPr>
            <a:r>
              <a:rPr sz="1425" b="0">
                <a:solidFill>
                  <a:srgbClr val="49616E"/>
                </a:solidFill>
                <a:latin typeface="Arial"/>
                <a:ea typeface="Arial"/>
                <a:cs typeface="Arial"/>
              </a:rPr>
              <a:t>JPL · §IX, pp. 9-1 a 9-5 / PDF 204-208</a:t>
            </a:r>
          </a:p>
        </p:txBody>
      </p:sp>
      <p:sp>
        <p:nvSpPr>
          <p:cNvPr id="7" name="">
            <a:extLst xmlns:a="http://schemas.openxmlformats.org/drawingml/2006/main">
              <a:ext uri="{FF2B5EF4-FFF2-40B4-BE49-F238E27FC236}">
                <a16:creationId xmlns:a16="http://schemas.microsoft.com/office/drawing/2014/main" id="{C70CA8DC-4F6A-4F13-93EB-B6F2A3B3ECA6}"/>
              </a:ext>
            </a:extLst>
          </p:cNvPr>
          <p:cNvSpPr>
            <a:spLocks xmlns:a="http://schemas.openxmlformats.org/drawingml/2006/main" noGrp="1"/>
          </p:cNvSpPr>
          <p:nvPr/>
        </p:nvSpPr>
        <p:spPr>
          <a:xfrm xmlns:a="http://schemas.openxmlformats.org/drawingml/2006/main">
            <a:off x="11049000" y="6305550"/>
            <a:ext cx="533400" cy="385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00" b="0">
                <a:solidFill>
                  <a:srgbClr val="126F87"/>
                </a:solidFill>
                <a:latin typeface="Arial"/>
                <a:ea typeface="Arial"/>
                <a:cs typeface="Arial"/>
              </a:defRPr>
            </a:defPPr>
          </a:lstStyle>
          <a:p xmlns:a="http://schemas.openxmlformats.org/drawingml/2006/main">
            <a:pPr>
              <a:defRPr sz="2100" b="0">
                <a:solidFill>
                  <a:srgbClr val="126F87"/>
                </a:solidFill>
                <a:latin typeface="Arial"/>
                <a:ea typeface="Arial"/>
                <a:cs typeface="Arial"/>
              </a:defRPr>
            </a:pPr>
            <a:r>
              <a:rPr sz="2100" b="0">
                <a:solidFill>
                  <a:srgbClr val="126F87"/>
                </a:solidFill>
                <a:latin typeface="Arial"/>
                <a:ea typeface="Arial"/>
                <a:cs typeface="Arial"/>
              </a:rPr>
              <a:t>18</a:t>
            </a:r>
          </a:p>
        </p:txBody>
      </p:sp>
    </p:spTree>
    <p:extLst>
      <p:ext uri="{BB962C8B-B14F-4D97-AF65-F5344CB8AC3E}">
        <p14:creationId xmlns:p14="http://schemas.microsoft.com/office/powerpoint/2010/main" val="15659188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2026-10-16T18:58:55.9760000Z</dcterms:created>
  <dcterms:modified xsi:type="dcterms:W3CDTF">2026-10-16T18:58:55.9760000Z</dcterms:modified>
</coreProperties>
</file>