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ora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VwhZUGvsH9En//z3pet0JVOwPW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EMILIA CAVALITT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ora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italic.fntdata"/><Relationship Id="rId25" Type="http://schemas.openxmlformats.org/officeDocument/2006/relationships/font" Target="fonts/Lora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Lor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03T21:34:22.728">
    <p:pos x="6000" y="0"/>
    <p:text>Diapositivas que deben ser eliminadas previo a la presentación (son solo de ejemplo).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gsIU-w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9-03T21:34:27.921">
    <p:pos x="6000" y="0"/>
    <p:text>Diapositivas que deben ser eliminadas previo a la presentación (son solo de ejemplo).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gsIU-0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a48c71606_3_0:notes"/>
          <p:cNvSpPr/>
          <p:nvPr>
            <p:ph idx="2" type="sldImg"/>
          </p:nvPr>
        </p:nvSpPr>
        <p:spPr>
          <a:xfrm>
            <a:off x="51435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fa48c71606_3_0:notes"/>
          <p:cNvSpPr txBox="1"/>
          <p:nvPr>
            <p:ph idx="1" type="body"/>
          </p:nvPr>
        </p:nvSpPr>
        <p:spPr>
          <a:xfrm>
            <a:off x="514350" y="3300413"/>
            <a:ext cx="41148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" name="Google Shape;26;g3fa48c71606_3_0:notes"/>
          <p:cNvSpPr txBox="1"/>
          <p:nvPr>
            <p:ph idx="12" type="sldNum"/>
          </p:nvPr>
        </p:nvSpPr>
        <p:spPr>
          <a:xfrm>
            <a:off x="2913460" y="6513910"/>
            <a:ext cx="222885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a0f3d7726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fa0f3d7726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fa0f3d7726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a0f3d7726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a0f3d7726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fa0f3d7726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drone_field.jpg" id="16" name="Google Shape;16;p1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384048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57784" y="411480"/>
            <a:ext cx="109728" cy="109728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 rot="1200000">
            <a:off x="8741664" y="4700016"/>
            <a:ext cx="182880" cy="292608"/>
          </a:xfrm>
          <a:prstGeom prst="ellipse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>
            <a:off x="731520" y="1417320"/>
            <a:ext cx="7680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B04B"/>
              </a:buClr>
              <a:buSzPts val="1200"/>
              <a:buFont typeface="Montserrat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31520" y="169164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3200"/>
              <a:buFont typeface="Montserrat"/>
              <a:buNone/>
            </a:pPr>
            <a:r>
              <a:rPr b="1" i="0" lang="en-US" sz="3200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Especificaciones del </a:t>
            </a:r>
            <a:r>
              <a:rPr b="1" lang="en-US" sz="320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i="0" lang="en-US" sz="3200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royecto por </a:t>
            </a:r>
            <a:r>
              <a:rPr b="1" lang="en-US" sz="320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á</a:t>
            </a:r>
            <a:r>
              <a:rPr b="1" i="0" lang="en-US" sz="3200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reas de in</a:t>
            </a:r>
            <a:r>
              <a:rPr b="1" lang="en-US" sz="320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vestigación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1097280" y="315468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Lora"/>
              <a:buNone/>
            </a:pPr>
            <a:r>
              <a:rPr b="1" lang="en-US" sz="1600">
                <a:solidFill>
                  <a:srgbClr val="1A1A1A"/>
                </a:solidFill>
                <a:latin typeface="Lora"/>
                <a:ea typeface="Lora"/>
                <a:cs typeface="Lora"/>
                <a:sym typeface="Lora"/>
              </a:rPr>
              <a:t>Estudio detallado de especificaciones</a:t>
            </a:r>
            <a:endParaRPr b="1" i="0" sz="160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a48c71606_3_0"/>
          <p:cNvSpPr txBox="1"/>
          <p:nvPr/>
        </p:nvSpPr>
        <p:spPr>
          <a:xfrm>
            <a:off x="411480" y="308610"/>
            <a:ext cx="831875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2400"/>
              <a:buFont typeface="Montserrat"/>
              <a:buNone/>
            </a:pPr>
            <a:r>
              <a:rPr b="1" i="0" lang="en-US" sz="2400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De dónde venimos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fa48c71606_3_0"/>
          <p:cNvSpPr txBox="1"/>
          <p:nvPr/>
        </p:nvSpPr>
        <p:spPr>
          <a:xfrm>
            <a:off x="411480" y="768096"/>
            <a:ext cx="831875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52"/>
              </a:buClr>
              <a:buSzPts val="1100"/>
              <a:buFont typeface="Open Sans"/>
              <a:buNone/>
            </a:pPr>
            <a:r>
              <a:rPr lang="en-US" sz="1350" u="none" cap="none" strike="noStrik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El recorrido del proyecto hasta esta etapa.</a:t>
            </a:r>
            <a:endParaRPr sz="1350" u="none" cap="none" strike="noStrike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0" name="Google Shape;30;g3fa48c71606_3_0"/>
          <p:cNvCxnSpPr/>
          <p:nvPr/>
        </p:nvCxnSpPr>
        <p:spPr>
          <a:xfrm>
            <a:off x="1047514" y="2436094"/>
            <a:ext cx="7048800" cy="0"/>
          </a:xfrm>
          <a:prstGeom prst="straightConnector1">
            <a:avLst/>
          </a:prstGeom>
          <a:noFill/>
          <a:ln cap="flat" cmpd="sng" w="43025">
            <a:solidFill>
              <a:srgbClr val="D4A3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g3fa48c71606_3_0"/>
          <p:cNvSpPr/>
          <p:nvPr/>
        </p:nvSpPr>
        <p:spPr>
          <a:xfrm>
            <a:off x="679580" y="2068158"/>
            <a:ext cx="735900" cy="735900"/>
          </a:xfrm>
          <a:prstGeom prst="ellipse">
            <a:avLst/>
          </a:prstGeom>
          <a:solidFill>
            <a:srgbClr val="88B04B"/>
          </a:solidFill>
          <a:ln cap="flat" cmpd="sng" w="28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86067" rotWithShape="0" algn="bl" dir="5400000" dist="28689">
              <a:srgbClr val="000000">
                <a:alpha val="18039"/>
              </a:srgbClr>
            </a:outerShdw>
          </a:effectLst>
        </p:spPr>
        <p:txBody>
          <a:bodyPr anchorCtr="0" anchor="ctr" bIns="77450" lIns="77450" spcFirstLastPara="1" rIns="77450" wrap="square" tIns="7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fa48c71606_3_0"/>
          <p:cNvSpPr txBox="1"/>
          <p:nvPr/>
        </p:nvSpPr>
        <p:spPr>
          <a:xfrm>
            <a:off x="679580" y="2068158"/>
            <a:ext cx="7359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33"/>
              <a:buFont typeface="Montserrat"/>
              <a:buNone/>
            </a:pPr>
            <a:r>
              <a:rPr b="1" i="0" lang="en-US" sz="203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20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fa48c71606_3_0"/>
          <p:cNvSpPr txBox="1"/>
          <p:nvPr/>
        </p:nvSpPr>
        <p:spPr>
          <a:xfrm>
            <a:off x="156726" y="2974441"/>
            <a:ext cx="1781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242"/>
              <a:buFont typeface="Montserrat"/>
              <a:buNone/>
            </a:pPr>
            <a:r>
              <a:rPr b="1" lang="en-US" sz="1242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Propuesta y elección del proyecto</a:t>
            </a:r>
            <a:endParaRPr b="0" i="0" sz="12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fa48c71606_3_0"/>
          <p:cNvSpPr txBox="1"/>
          <p:nvPr/>
        </p:nvSpPr>
        <p:spPr>
          <a:xfrm>
            <a:off x="156726" y="3539900"/>
            <a:ext cx="1781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3F"/>
              </a:buClr>
              <a:buSzPts val="904"/>
              <a:buFont typeface="Open Sans"/>
              <a:buNone/>
            </a:pPr>
            <a:r>
              <a:rPr lang="en-US" sz="1100">
                <a:solidFill>
                  <a:srgbClr val="4A4A3F"/>
                </a:solidFill>
                <a:latin typeface="Open Sans"/>
                <a:ea typeface="Open Sans"/>
                <a:cs typeface="Open Sans"/>
                <a:sym typeface="Open Sans"/>
              </a:rPr>
              <a:t>Cada equipo propuso un proyecto; el curso votó tras debatirlos con el profesor.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fa48c71606_3_0"/>
          <p:cNvSpPr/>
          <p:nvPr/>
        </p:nvSpPr>
        <p:spPr>
          <a:xfrm>
            <a:off x="3080836" y="2068158"/>
            <a:ext cx="735900" cy="735900"/>
          </a:xfrm>
          <a:prstGeom prst="ellipse">
            <a:avLst/>
          </a:prstGeom>
          <a:solidFill>
            <a:srgbClr val="88B04B"/>
          </a:solidFill>
          <a:ln cap="flat" cmpd="sng" w="28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86067" rotWithShape="0" algn="bl" dir="5400000" dist="28689">
              <a:srgbClr val="000000">
                <a:alpha val="18039"/>
              </a:srgbClr>
            </a:outerShdw>
          </a:effectLst>
        </p:spPr>
        <p:txBody>
          <a:bodyPr anchorCtr="0" anchor="ctr" bIns="77450" lIns="77450" spcFirstLastPara="1" rIns="77450" wrap="square" tIns="7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a48c71606_3_0"/>
          <p:cNvSpPr txBox="1"/>
          <p:nvPr/>
        </p:nvSpPr>
        <p:spPr>
          <a:xfrm>
            <a:off x="3080836" y="2068158"/>
            <a:ext cx="7359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33"/>
              <a:buFont typeface="Montserrat"/>
              <a:buNone/>
            </a:pPr>
            <a:r>
              <a:rPr b="1" i="0" lang="en-US" sz="203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20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fa48c71606_3_0"/>
          <p:cNvSpPr txBox="1"/>
          <p:nvPr/>
        </p:nvSpPr>
        <p:spPr>
          <a:xfrm>
            <a:off x="2557982" y="2974441"/>
            <a:ext cx="1781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242"/>
              <a:buFont typeface="Montserrat"/>
              <a:buNone/>
            </a:pPr>
            <a:r>
              <a:rPr b="1" i="0" lang="en-US" sz="1242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Lineamientos</a:t>
            </a:r>
            <a:endParaRPr b="0" i="0" sz="12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242"/>
              <a:buFont typeface="Montserrat"/>
              <a:buNone/>
            </a:pPr>
            <a:r>
              <a:rPr b="1" i="0" lang="en-US" sz="1242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generales</a:t>
            </a:r>
            <a:endParaRPr b="0" i="0" sz="12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fa48c71606_3_0"/>
          <p:cNvSpPr txBox="1"/>
          <p:nvPr/>
        </p:nvSpPr>
        <p:spPr>
          <a:xfrm>
            <a:off x="2557982" y="3539900"/>
            <a:ext cx="1781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3F"/>
              </a:buClr>
              <a:buSzPts val="904"/>
              <a:buFont typeface="Open Sans"/>
              <a:buNone/>
            </a:pPr>
            <a:r>
              <a:rPr i="0" lang="en-US" sz="1104" u="none" cap="none" strike="noStrike">
                <a:solidFill>
                  <a:srgbClr val="4A4A3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i="0" lang="en-US" sz="1104" u="none" cap="none" strike="noStrike">
                <a:solidFill>
                  <a:srgbClr val="4A4A3F"/>
                </a:solidFill>
                <a:latin typeface="Open Sans"/>
                <a:ea typeface="Open Sans"/>
                <a:cs typeface="Open Sans"/>
                <a:sym typeface="Open Sans"/>
              </a:rPr>
              <a:t>ncuadre general del</a:t>
            </a:r>
            <a:endParaRPr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3F"/>
              </a:buClr>
              <a:buSzPts val="904"/>
              <a:buFont typeface="Open Sans"/>
              <a:buNone/>
            </a:pPr>
            <a:r>
              <a:rPr i="0" lang="en-US" sz="1104" u="none" cap="none" strike="noStrike">
                <a:solidFill>
                  <a:srgbClr val="4A4A3F"/>
                </a:solidFill>
                <a:latin typeface="Open Sans"/>
                <a:ea typeface="Open Sans"/>
                <a:cs typeface="Open Sans"/>
                <a:sym typeface="Open Sans"/>
              </a:rPr>
              <a:t>proyecto y sus </a:t>
            </a:r>
            <a:r>
              <a:rPr lang="en-US" sz="1104">
                <a:solidFill>
                  <a:srgbClr val="4A4A3F"/>
                </a:solidFill>
                <a:latin typeface="Open Sans"/>
                <a:ea typeface="Open Sans"/>
                <a:cs typeface="Open Sans"/>
                <a:sym typeface="Open Sans"/>
              </a:rPr>
              <a:t>diferentes </a:t>
            </a:r>
            <a:r>
              <a:rPr i="0" lang="en-US" sz="1104" u="none" cap="none" strike="noStrike">
                <a:solidFill>
                  <a:srgbClr val="4A4A3F"/>
                </a:solidFill>
                <a:latin typeface="Open Sans"/>
                <a:ea typeface="Open Sans"/>
                <a:cs typeface="Open Sans"/>
                <a:sym typeface="Open Sans"/>
              </a:rPr>
              <a:t> áreas.</a:t>
            </a:r>
            <a:endParaRPr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fa48c71606_3_0"/>
          <p:cNvSpPr txBox="1"/>
          <p:nvPr/>
        </p:nvSpPr>
        <p:spPr>
          <a:xfrm>
            <a:off x="5385267" y="1646001"/>
            <a:ext cx="929400" cy="2325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7"/>
              <a:buFont typeface="Montserrat"/>
              <a:buNone/>
            </a:pPr>
            <a:r>
              <a:rPr b="1" i="0" lang="en-US" sz="1017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HOY</a:t>
            </a:r>
            <a:endParaRPr b="0" i="0" sz="10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fa48c71606_3_0"/>
          <p:cNvSpPr/>
          <p:nvPr/>
        </p:nvSpPr>
        <p:spPr>
          <a:xfrm>
            <a:off x="5385267" y="1971333"/>
            <a:ext cx="929400" cy="929400"/>
          </a:xfrm>
          <a:prstGeom prst="ellipse">
            <a:avLst/>
          </a:prstGeom>
          <a:solidFill>
            <a:srgbClr val="2D5A27"/>
          </a:solidFill>
          <a:ln cap="flat" cmpd="sng" w="28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86067" rotWithShape="0" algn="bl" dir="5400000" dist="28689">
              <a:srgbClr val="000000">
                <a:alpha val="18039"/>
              </a:srgbClr>
            </a:outerShdw>
          </a:effectLst>
        </p:spPr>
        <p:txBody>
          <a:bodyPr anchorCtr="0" anchor="ctr" bIns="77450" lIns="77450" spcFirstLastPara="1" rIns="77450" wrap="square" tIns="7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fa48c71606_3_0"/>
          <p:cNvSpPr txBox="1"/>
          <p:nvPr/>
        </p:nvSpPr>
        <p:spPr>
          <a:xfrm>
            <a:off x="5385267" y="1971333"/>
            <a:ext cx="9294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33"/>
              <a:buFont typeface="Montserrat"/>
              <a:buNone/>
            </a:pPr>
            <a:r>
              <a:rPr b="1" i="0" lang="en-US" sz="203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20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fa48c71606_3_0"/>
          <p:cNvSpPr txBox="1"/>
          <p:nvPr/>
        </p:nvSpPr>
        <p:spPr>
          <a:xfrm>
            <a:off x="4959237" y="3071266"/>
            <a:ext cx="1781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242"/>
              <a:buFont typeface="Montserrat"/>
              <a:buNone/>
            </a:pPr>
            <a:r>
              <a:rPr b="1" i="0" lang="en-US" sz="1242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Especificaciones</a:t>
            </a:r>
            <a:endParaRPr b="0" i="0" sz="12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242"/>
              <a:buFont typeface="Montserrat"/>
              <a:buNone/>
            </a:pPr>
            <a:r>
              <a:rPr b="1" i="0" lang="en-US" sz="1242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del proyecto</a:t>
            </a:r>
            <a:endParaRPr b="0" i="0" sz="12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fa48c71606_3_0"/>
          <p:cNvSpPr txBox="1"/>
          <p:nvPr/>
        </p:nvSpPr>
        <p:spPr>
          <a:xfrm>
            <a:off x="4959237" y="3636725"/>
            <a:ext cx="1781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3F"/>
              </a:buClr>
              <a:buSzPts val="904"/>
              <a:buFont typeface="Open Sans"/>
              <a:buNone/>
            </a:pPr>
            <a:r>
              <a:rPr b="0" i="0" lang="en-US" sz="1104" u="none" cap="none" strike="noStrike">
                <a:solidFill>
                  <a:srgbClr val="4A4A3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="0" i="0" lang="en-US" sz="1104" u="none" cap="none" strike="noStrike">
                <a:solidFill>
                  <a:srgbClr val="4A4A3F"/>
                </a:solidFill>
                <a:latin typeface="Open Sans"/>
                <a:ea typeface="Open Sans"/>
                <a:cs typeface="Open Sans"/>
                <a:sym typeface="Open Sans"/>
              </a:rPr>
              <a:t>efini</a:t>
            </a:r>
            <a:r>
              <a:rPr b="0" i="0" lang="en-US" sz="1104" u="none" cap="none" strike="noStrike">
                <a:solidFill>
                  <a:srgbClr val="4A4A3F"/>
                </a:solidFill>
                <a:latin typeface="Open Sans"/>
                <a:ea typeface="Open Sans"/>
                <a:cs typeface="Open Sans"/>
                <a:sym typeface="Open Sans"/>
              </a:rPr>
              <a:t>ción</a:t>
            </a:r>
            <a:r>
              <a:rPr b="0" i="0" lang="en-US" sz="1104" u="none" cap="none" strike="noStrike">
                <a:solidFill>
                  <a:srgbClr val="4A4A3F"/>
                </a:solidFill>
                <a:latin typeface="Open Sans"/>
                <a:ea typeface="Open Sans"/>
                <a:cs typeface="Open Sans"/>
                <a:sym typeface="Open Sans"/>
              </a:rPr>
              <a:t> concreta por</a:t>
            </a:r>
            <a:endParaRPr b="0"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3F"/>
              </a:buClr>
              <a:buSzPts val="904"/>
              <a:buFont typeface="Open Sans"/>
              <a:buNone/>
            </a:pPr>
            <a:r>
              <a:rPr b="0" i="0" lang="en-US" sz="1104" u="none" cap="none" strike="noStrike">
                <a:solidFill>
                  <a:srgbClr val="4A4A3F"/>
                </a:solidFill>
                <a:latin typeface="Open Sans"/>
                <a:ea typeface="Open Sans"/>
                <a:cs typeface="Open Sans"/>
                <a:sym typeface="Open Sans"/>
              </a:rPr>
              <a:t>cada grupo de trabajo.</a:t>
            </a:r>
            <a:endParaRPr b="0" i="0" sz="11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fa48c71606_3_0"/>
          <p:cNvSpPr/>
          <p:nvPr/>
        </p:nvSpPr>
        <p:spPr>
          <a:xfrm>
            <a:off x="7728428" y="2068158"/>
            <a:ext cx="735900" cy="735900"/>
          </a:xfrm>
          <a:prstGeom prst="ellipse">
            <a:avLst/>
          </a:prstGeom>
          <a:solidFill>
            <a:srgbClr val="F9F6F0"/>
          </a:solidFill>
          <a:ln cap="flat" cmpd="sng" w="32275">
            <a:solidFill>
              <a:srgbClr val="88B04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7450" lIns="77450" spcFirstLastPara="1" rIns="77450" wrap="square" tIns="7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fa48c71606_3_0"/>
          <p:cNvSpPr txBox="1"/>
          <p:nvPr/>
        </p:nvSpPr>
        <p:spPr>
          <a:xfrm>
            <a:off x="7728428" y="2068158"/>
            <a:ext cx="7359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B04B"/>
              </a:buClr>
              <a:buSzPts val="2259"/>
              <a:buFont typeface="Montserrat"/>
              <a:buNone/>
            </a:pPr>
            <a:r>
              <a:rPr b="1" i="0" lang="en-US" sz="2259" u="none" cap="none" strike="noStrike">
                <a:solidFill>
                  <a:srgbClr val="88B04B"/>
                </a:solidFill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b="0" i="0" sz="22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fa48c71606_3_0"/>
          <p:cNvSpPr txBox="1"/>
          <p:nvPr/>
        </p:nvSpPr>
        <p:spPr>
          <a:xfrm>
            <a:off x="7205574" y="2974441"/>
            <a:ext cx="1781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7A"/>
              </a:buClr>
              <a:buSzPts val="1242"/>
              <a:buFont typeface="Montserrat"/>
              <a:buNone/>
            </a:pPr>
            <a:r>
              <a:rPr b="1" i="1" lang="en-US" sz="1242" u="none" cap="none" strike="noStrike">
                <a:solidFill>
                  <a:srgbClr val="8A8A7A"/>
                </a:solidFill>
                <a:latin typeface="Montserrat"/>
                <a:ea typeface="Montserrat"/>
                <a:cs typeface="Montserrat"/>
                <a:sym typeface="Montserrat"/>
              </a:rPr>
              <a:t>Continuará…</a:t>
            </a:r>
            <a:endParaRPr b="0" i="0" sz="12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fa48c71606_3_0"/>
          <p:cNvSpPr txBox="1"/>
          <p:nvPr/>
        </p:nvSpPr>
        <p:spPr>
          <a:xfrm>
            <a:off x="7205574" y="3539900"/>
            <a:ext cx="1781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9A8C"/>
              </a:buClr>
              <a:buSzPts val="904"/>
              <a:buFont typeface="Open Sans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Próxima etapa 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9A8C"/>
              </a:buClr>
              <a:buSzPts val="904"/>
              <a:buFont typeface="Open Sans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proyecto.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/>
          <p:nvPr/>
        </p:nvSpPr>
        <p:spPr>
          <a:xfrm>
            <a:off x="0" y="0"/>
            <a:ext cx="9144000" cy="75895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0" y="75895"/>
            <a:ext cx="1143000" cy="41148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411480" y="219456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B04B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88B04B"/>
                </a:solidFill>
                <a:latin typeface="Montserrat"/>
                <a:ea typeface="Montserrat"/>
                <a:cs typeface="Montserrat"/>
                <a:sym typeface="Montserrat"/>
              </a:rPr>
              <a:t>PROYECTO DRONES AGRO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302752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476488" y="411480"/>
            <a:ext cx="109728" cy="109728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411480" y="493776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2500"/>
              <a:buFont typeface="Montserrat"/>
              <a:buNone/>
            </a:pPr>
            <a:r>
              <a:rPr b="1" i="0" lang="en-US" sz="2500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ÁREAS </a:t>
            </a:r>
            <a:r>
              <a:rPr b="1" lang="en-US" sz="250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A ESPECIFICAR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11450" y="1670116"/>
            <a:ext cx="8064900" cy="468000"/>
          </a:xfrm>
          <a:prstGeom prst="roundRect">
            <a:avLst>
              <a:gd fmla="val 10417" name="adj"/>
            </a:avLst>
          </a:prstGeom>
          <a:solidFill>
            <a:srgbClr val="FFFFFF"/>
          </a:solidFill>
          <a:ln cap="flat" cmpd="sng" w="108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86413" rotWithShape="0" algn="bl" dir="5400000" dist="28804">
              <a:srgbClr val="1A1A1A">
                <a:alpha val="14902"/>
              </a:srgbClr>
            </a:outerShdw>
          </a:effectLst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588705" y="1718870"/>
            <a:ext cx="336600" cy="370500"/>
          </a:xfrm>
          <a:prstGeom prst="ellipse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588705" y="1718870"/>
            <a:ext cx="3366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1"/>
              <a:buFont typeface="Montserrat"/>
              <a:buNone/>
            </a:pPr>
            <a:r>
              <a:rPr b="1" i="0" lang="en-US" sz="136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3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142983" y="1670116"/>
            <a:ext cx="434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474"/>
              <a:buFont typeface="Montserrat"/>
              <a:buNone/>
            </a:pPr>
            <a:r>
              <a:rPr b="1" i="0" lang="en-US" sz="1474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Investigación de mercado y competencia</a:t>
            </a:r>
            <a:endParaRPr b="0" i="0" sz="14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11450" y="2274666"/>
            <a:ext cx="8064900" cy="468000"/>
          </a:xfrm>
          <a:prstGeom prst="roundRect">
            <a:avLst>
              <a:gd fmla="val 10417" name="adj"/>
            </a:avLst>
          </a:prstGeom>
          <a:solidFill>
            <a:srgbClr val="FFFFFF"/>
          </a:solidFill>
          <a:ln cap="flat" cmpd="sng" w="108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86413" rotWithShape="0" algn="bl" dir="5400000" dist="28804">
              <a:srgbClr val="1A1A1A">
                <a:alpha val="14902"/>
              </a:srgbClr>
            </a:outerShdw>
          </a:effectLst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88705" y="2323420"/>
            <a:ext cx="336600" cy="370500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588705" y="2323420"/>
            <a:ext cx="3366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1"/>
              <a:buFont typeface="Montserrat"/>
              <a:buNone/>
            </a:pPr>
            <a:r>
              <a:rPr b="1" i="0" lang="en-US" sz="136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3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142974" y="2274658"/>
            <a:ext cx="4615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474"/>
              <a:buFont typeface="Montserrat"/>
              <a:buNone/>
            </a:pPr>
            <a:r>
              <a:rPr b="1" i="0" lang="en-US" sz="1474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Especificaciones técnicas del servicio a ofrecer</a:t>
            </a:r>
            <a:endParaRPr b="0" i="0" sz="14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11450" y="2879216"/>
            <a:ext cx="8064900" cy="468000"/>
          </a:xfrm>
          <a:prstGeom prst="roundRect">
            <a:avLst>
              <a:gd fmla="val 10417" name="adj"/>
            </a:avLst>
          </a:prstGeom>
          <a:solidFill>
            <a:srgbClr val="FFFFFF"/>
          </a:solidFill>
          <a:ln cap="flat" cmpd="sng" w="108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86413" rotWithShape="0" algn="bl" dir="5400000" dist="28804">
              <a:srgbClr val="1A1A1A">
                <a:alpha val="14902"/>
              </a:srgbClr>
            </a:outerShdw>
          </a:effectLst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588705" y="2927970"/>
            <a:ext cx="336600" cy="370500"/>
          </a:xfrm>
          <a:prstGeom prst="ellipse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588705" y="2927970"/>
            <a:ext cx="3366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1"/>
              <a:buFont typeface="Montserrat"/>
              <a:buNone/>
            </a:pPr>
            <a:r>
              <a:rPr b="1" i="0" lang="en-US" sz="136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3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1142983" y="2879216"/>
            <a:ext cx="434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474"/>
              <a:buFont typeface="Montserrat"/>
              <a:buNone/>
            </a:pPr>
            <a:r>
              <a:rPr b="1" i="0" lang="en-US" sz="1474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Estudio técnico del dron</a:t>
            </a:r>
            <a:endParaRPr b="0" i="0" sz="14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11450" y="3483766"/>
            <a:ext cx="8064900" cy="468000"/>
          </a:xfrm>
          <a:prstGeom prst="roundRect">
            <a:avLst>
              <a:gd fmla="val 10417" name="adj"/>
            </a:avLst>
          </a:prstGeom>
          <a:solidFill>
            <a:srgbClr val="FFFFFF"/>
          </a:solidFill>
          <a:ln cap="flat" cmpd="sng" w="108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86413" rotWithShape="0" algn="bl" dir="5400000" dist="28804">
              <a:srgbClr val="1A1A1A">
                <a:alpha val="14902"/>
              </a:srgbClr>
            </a:outerShdw>
          </a:effectLst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588705" y="3532520"/>
            <a:ext cx="336600" cy="370500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103675" lIns="103675" spcFirstLastPara="1" rIns="103675" wrap="square" tIns="103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 txBox="1"/>
          <p:nvPr/>
        </p:nvSpPr>
        <p:spPr>
          <a:xfrm>
            <a:off x="588705" y="3532520"/>
            <a:ext cx="3366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1"/>
              <a:buFont typeface="Montserrat"/>
              <a:buNone/>
            </a:pPr>
            <a:r>
              <a:rPr b="1" i="0" lang="en-US" sz="136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3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1142983" y="3483766"/>
            <a:ext cx="4342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474"/>
              <a:buFont typeface="Montserrat"/>
              <a:buNone/>
            </a:pPr>
            <a:r>
              <a:rPr b="1" i="0" lang="en-US" sz="1474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Marco normativo actual</a:t>
            </a:r>
            <a:endParaRPr b="0" i="0" sz="14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411455" y="1089575"/>
            <a:ext cx="8321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Lora"/>
              <a:buNone/>
            </a:pPr>
            <a:r>
              <a:rPr lang="en-US" sz="1350">
                <a:solidFill>
                  <a:srgbClr val="1A1A1A"/>
                </a:solidFill>
                <a:latin typeface="Lora"/>
                <a:ea typeface="Lora"/>
                <a:cs typeface="Lora"/>
                <a:sym typeface="Lora"/>
              </a:rPr>
              <a:t>Se presentan las especificaciones detalladas como paso previo al desarrollo del proyecto.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0f3d7726_0_32"/>
          <p:cNvSpPr/>
          <p:nvPr/>
        </p:nvSpPr>
        <p:spPr>
          <a:xfrm>
            <a:off x="0" y="0"/>
            <a:ext cx="9144000" cy="759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a0f3d7726_0_32"/>
          <p:cNvSpPr/>
          <p:nvPr/>
        </p:nvSpPr>
        <p:spPr>
          <a:xfrm>
            <a:off x="0" y="75895"/>
            <a:ext cx="1143000" cy="4110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a0f3d7726_0_32"/>
          <p:cNvSpPr/>
          <p:nvPr/>
        </p:nvSpPr>
        <p:spPr>
          <a:xfrm>
            <a:off x="8302752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a0f3d7726_0_32"/>
          <p:cNvSpPr/>
          <p:nvPr/>
        </p:nvSpPr>
        <p:spPr>
          <a:xfrm>
            <a:off x="8476488" y="411480"/>
            <a:ext cx="109800" cy="109800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fa0f3d7726_0_32"/>
          <p:cNvSpPr txBox="1"/>
          <p:nvPr/>
        </p:nvSpPr>
        <p:spPr>
          <a:xfrm>
            <a:off x="411480" y="493776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2500"/>
              <a:buFont typeface="Montserrat"/>
              <a:buNone/>
            </a:pPr>
            <a:r>
              <a:rPr b="1" lang="en-US" sz="250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Diapositiva de template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fa0f3d7726_0_32"/>
          <p:cNvSpPr txBox="1"/>
          <p:nvPr/>
        </p:nvSpPr>
        <p:spPr>
          <a:xfrm>
            <a:off x="411480" y="1097280"/>
            <a:ext cx="8321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Lora"/>
              <a:buNone/>
            </a:pPr>
            <a:r>
              <a:rPr lang="en-US" sz="1250">
                <a:solidFill>
                  <a:srgbClr val="1A1A1A"/>
                </a:solidFill>
                <a:latin typeface="Lora"/>
                <a:ea typeface="Lora"/>
                <a:cs typeface="Lora"/>
                <a:sym typeface="Lora"/>
              </a:rPr>
              <a:t>Dejamos esta diapositiva por si quieren copiar algún formato, color o tipografía.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a0f3d7726_0_32"/>
          <p:cNvSpPr/>
          <p:nvPr/>
        </p:nvSpPr>
        <p:spPr>
          <a:xfrm>
            <a:off x="411480" y="1920240"/>
            <a:ext cx="2587800" cy="2697600"/>
          </a:xfrm>
          <a:prstGeom prst="roundRect">
            <a:avLst>
              <a:gd fmla="val 1767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1A1A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fa0f3d7726_0_32"/>
          <p:cNvSpPr/>
          <p:nvPr/>
        </p:nvSpPr>
        <p:spPr>
          <a:xfrm>
            <a:off x="411480" y="1920240"/>
            <a:ext cx="2587800" cy="54900"/>
          </a:xfrm>
          <a:prstGeom prst="rect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a0f3d7726_0_32"/>
          <p:cNvSpPr/>
          <p:nvPr/>
        </p:nvSpPr>
        <p:spPr>
          <a:xfrm>
            <a:off x="612648" y="2139696"/>
            <a:ext cx="347400" cy="347400"/>
          </a:xfrm>
          <a:prstGeom prst="ellipse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fa0f3d7726_0_32"/>
          <p:cNvSpPr txBox="1"/>
          <p:nvPr/>
        </p:nvSpPr>
        <p:spPr>
          <a:xfrm>
            <a:off x="612648" y="213969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a0f3d7726_0_32"/>
          <p:cNvSpPr txBox="1"/>
          <p:nvPr/>
        </p:nvSpPr>
        <p:spPr>
          <a:xfrm>
            <a:off x="594360" y="2596896"/>
            <a:ext cx="222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250"/>
              <a:buFont typeface="Montserrat"/>
              <a:buNone/>
            </a:pPr>
            <a:r>
              <a:rPr b="1" lang="en-US" sz="125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a0f3d7726_0_32"/>
          <p:cNvSpPr txBox="1"/>
          <p:nvPr/>
        </p:nvSpPr>
        <p:spPr>
          <a:xfrm>
            <a:off x="594360" y="3054096"/>
            <a:ext cx="2222100" cy="13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[Completar]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a0f3d7726_0_32"/>
          <p:cNvSpPr/>
          <p:nvPr/>
        </p:nvSpPr>
        <p:spPr>
          <a:xfrm>
            <a:off x="3145536" y="1920240"/>
            <a:ext cx="2587800" cy="2697600"/>
          </a:xfrm>
          <a:prstGeom prst="roundRect">
            <a:avLst>
              <a:gd fmla="val 1767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1A1A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a0f3d7726_0_32"/>
          <p:cNvSpPr/>
          <p:nvPr/>
        </p:nvSpPr>
        <p:spPr>
          <a:xfrm>
            <a:off x="3145536" y="1920240"/>
            <a:ext cx="2587800" cy="5490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a0f3d7726_0_32"/>
          <p:cNvSpPr/>
          <p:nvPr/>
        </p:nvSpPr>
        <p:spPr>
          <a:xfrm>
            <a:off x="3346704" y="2139696"/>
            <a:ext cx="347400" cy="347400"/>
          </a:xfrm>
          <a:prstGeom prst="ellipse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a0f3d7726_0_32"/>
          <p:cNvSpPr txBox="1"/>
          <p:nvPr/>
        </p:nvSpPr>
        <p:spPr>
          <a:xfrm>
            <a:off x="3346704" y="213969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fa0f3d7726_0_32"/>
          <p:cNvSpPr/>
          <p:nvPr/>
        </p:nvSpPr>
        <p:spPr>
          <a:xfrm>
            <a:off x="5879592" y="1920240"/>
            <a:ext cx="2587800" cy="2697600"/>
          </a:xfrm>
          <a:prstGeom prst="roundRect">
            <a:avLst>
              <a:gd fmla="val 1767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1A1A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a0f3d7726_0_32"/>
          <p:cNvSpPr/>
          <p:nvPr/>
        </p:nvSpPr>
        <p:spPr>
          <a:xfrm>
            <a:off x="5879592" y="1920240"/>
            <a:ext cx="2587800" cy="54900"/>
          </a:xfrm>
          <a:prstGeom prst="rect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a0f3d7726_0_32"/>
          <p:cNvSpPr/>
          <p:nvPr/>
        </p:nvSpPr>
        <p:spPr>
          <a:xfrm>
            <a:off x="6080760" y="2139696"/>
            <a:ext cx="347400" cy="347400"/>
          </a:xfrm>
          <a:prstGeom prst="ellipse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fa0f3d7726_0_32"/>
          <p:cNvSpPr txBox="1"/>
          <p:nvPr/>
        </p:nvSpPr>
        <p:spPr>
          <a:xfrm>
            <a:off x="6080760" y="213969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0f3d7726_0_60"/>
          <p:cNvSpPr/>
          <p:nvPr/>
        </p:nvSpPr>
        <p:spPr>
          <a:xfrm>
            <a:off x="0" y="0"/>
            <a:ext cx="9144000" cy="759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a0f3d7726_0_60"/>
          <p:cNvSpPr/>
          <p:nvPr/>
        </p:nvSpPr>
        <p:spPr>
          <a:xfrm>
            <a:off x="0" y="75895"/>
            <a:ext cx="1143000" cy="4110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a0f3d7726_0_60"/>
          <p:cNvSpPr/>
          <p:nvPr/>
        </p:nvSpPr>
        <p:spPr>
          <a:xfrm>
            <a:off x="8302752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a0f3d7726_0_60"/>
          <p:cNvSpPr/>
          <p:nvPr/>
        </p:nvSpPr>
        <p:spPr>
          <a:xfrm>
            <a:off x="8476488" y="411480"/>
            <a:ext cx="109800" cy="109800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a0f3d7726_0_60"/>
          <p:cNvSpPr txBox="1"/>
          <p:nvPr/>
        </p:nvSpPr>
        <p:spPr>
          <a:xfrm>
            <a:off x="411480" y="493776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2500"/>
              <a:buFont typeface="Montserrat"/>
              <a:buNone/>
            </a:pPr>
            <a:r>
              <a:rPr b="1" lang="en-US" sz="250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Diapositiva de template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a0f3d7726_0_60"/>
          <p:cNvSpPr txBox="1"/>
          <p:nvPr/>
        </p:nvSpPr>
        <p:spPr>
          <a:xfrm>
            <a:off x="411480" y="1097280"/>
            <a:ext cx="8321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Lora"/>
              <a:buNone/>
            </a:pPr>
            <a:r>
              <a:rPr lang="en-US" sz="1250">
                <a:solidFill>
                  <a:srgbClr val="1A1A1A"/>
                </a:solidFill>
                <a:latin typeface="Lora"/>
                <a:ea typeface="Lora"/>
                <a:cs typeface="Lora"/>
                <a:sym typeface="Lora"/>
              </a:rPr>
              <a:t>Dejamos esta diapositiva por si quieren copiar algún formato, color o tipografía.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Lora"/>
              <a:buNone/>
            </a:pPr>
            <a:r>
              <a:t/>
            </a:r>
            <a:endParaRPr sz="1250">
              <a:solidFill>
                <a:srgbClr val="1A1A1A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2" name="Google Shape;112;g3fa0f3d7726_0_60"/>
          <p:cNvSpPr/>
          <p:nvPr/>
        </p:nvSpPr>
        <p:spPr>
          <a:xfrm>
            <a:off x="411480" y="1920240"/>
            <a:ext cx="3913500" cy="1298400"/>
          </a:xfrm>
          <a:prstGeom prst="roundRect">
            <a:avLst>
              <a:gd fmla="val 3521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1A1A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a0f3d7726_0_60"/>
          <p:cNvSpPr/>
          <p:nvPr/>
        </p:nvSpPr>
        <p:spPr>
          <a:xfrm>
            <a:off x="411480" y="1920240"/>
            <a:ext cx="3913500" cy="54900"/>
          </a:xfrm>
          <a:prstGeom prst="rect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a0f3d7726_0_60"/>
          <p:cNvSpPr txBox="1"/>
          <p:nvPr/>
        </p:nvSpPr>
        <p:spPr>
          <a:xfrm>
            <a:off x="594360" y="2596896"/>
            <a:ext cx="35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1250"/>
              <a:buFont typeface="Montserrat"/>
              <a:buNone/>
            </a:pPr>
            <a:r>
              <a:rPr b="1" lang="en-US" sz="125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a0f3d7726_0_60"/>
          <p:cNvSpPr txBox="1"/>
          <p:nvPr/>
        </p:nvSpPr>
        <p:spPr>
          <a:xfrm>
            <a:off x="594360" y="3054096"/>
            <a:ext cx="35478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[Completar: autonomía operacional, cobertura por batería, velocidad]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fa0f3d7726_0_60"/>
          <p:cNvSpPr/>
          <p:nvPr/>
        </p:nvSpPr>
        <p:spPr>
          <a:xfrm>
            <a:off x="4471416" y="1920240"/>
            <a:ext cx="3913500" cy="1298400"/>
          </a:xfrm>
          <a:prstGeom prst="roundRect">
            <a:avLst>
              <a:gd fmla="val 3521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1A1A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a0f3d7726_0_60"/>
          <p:cNvSpPr/>
          <p:nvPr/>
        </p:nvSpPr>
        <p:spPr>
          <a:xfrm>
            <a:off x="4471416" y="1920240"/>
            <a:ext cx="3913500" cy="5490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fa0f3d7726_0_60"/>
          <p:cNvSpPr txBox="1"/>
          <p:nvPr/>
        </p:nvSpPr>
        <p:spPr>
          <a:xfrm>
            <a:off x="4654296" y="3054096"/>
            <a:ext cx="35478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[Completar: peso de carga, sensores, SDK/API]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a0f3d7726_0_60"/>
          <p:cNvSpPr/>
          <p:nvPr/>
        </p:nvSpPr>
        <p:spPr>
          <a:xfrm>
            <a:off x="411480" y="3383280"/>
            <a:ext cx="3913500" cy="1298400"/>
          </a:xfrm>
          <a:prstGeom prst="roundRect">
            <a:avLst>
              <a:gd fmla="val 3521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1A1A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a0f3d7726_0_60"/>
          <p:cNvSpPr/>
          <p:nvPr/>
        </p:nvSpPr>
        <p:spPr>
          <a:xfrm>
            <a:off x="411480" y="3383280"/>
            <a:ext cx="3913500" cy="5490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a0f3d7726_0_60"/>
          <p:cNvSpPr txBox="1"/>
          <p:nvPr/>
        </p:nvSpPr>
        <p:spPr>
          <a:xfrm>
            <a:off x="594360" y="4517136"/>
            <a:ext cx="35478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[Completar: LoRa, Wi-Fi/Ethernet/USB, descarga de imágenes]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a0f3d7726_0_60"/>
          <p:cNvSpPr/>
          <p:nvPr/>
        </p:nvSpPr>
        <p:spPr>
          <a:xfrm>
            <a:off x="4471416" y="3383280"/>
            <a:ext cx="3913500" cy="1298400"/>
          </a:xfrm>
          <a:prstGeom prst="roundRect">
            <a:avLst>
              <a:gd fmla="val 3521" name="adj"/>
            </a:avLst>
          </a:prstGeom>
          <a:solidFill>
            <a:srgbClr val="FFFFFF"/>
          </a:solidFill>
          <a:ln cap="flat" cmpd="sng" w="9525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1A1A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a0f3d7726_0_60"/>
          <p:cNvSpPr/>
          <p:nvPr/>
        </p:nvSpPr>
        <p:spPr>
          <a:xfrm>
            <a:off x="4471416" y="3383280"/>
            <a:ext cx="3913500" cy="54900"/>
          </a:xfrm>
          <a:prstGeom prst="rect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a0f3d7726_0_60"/>
          <p:cNvSpPr txBox="1"/>
          <p:nvPr/>
        </p:nvSpPr>
        <p:spPr>
          <a:xfrm>
            <a:off x="4654296" y="4517136"/>
            <a:ext cx="35478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Open Sans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Open Sans"/>
                <a:ea typeface="Open Sans"/>
                <a:cs typeface="Open Sans"/>
                <a:sym typeface="Open Sans"/>
              </a:rPr>
              <a:t>[Completar: validaciones de viento, temperatura, IP, batería]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drone_field.jpg" id="130" name="Google Shape;130;p3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384048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557784" y="411480"/>
            <a:ext cx="109728" cy="109728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 rot="1200000">
            <a:off x="8741664" y="4700016"/>
            <a:ext cx="182880" cy="292608"/>
          </a:xfrm>
          <a:prstGeom prst="ellipse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731520" y="2148840"/>
            <a:ext cx="7680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3000"/>
              <a:buFont typeface="Montserrat"/>
              <a:buNone/>
            </a:pPr>
            <a:r>
              <a:rPr b="1" i="0" lang="en-US" sz="3000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Investigación de mercado y competencia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/>
          <p:nvPr/>
        </p:nvSpPr>
        <p:spPr>
          <a:xfrm>
            <a:off x="0" y="0"/>
            <a:ext cx="9144000" cy="75895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0" y="75895"/>
            <a:ext cx="1143000" cy="41148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8302752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8476488" y="411480"/>
            <a:ext cx="109728" cy="109728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411480" y="493776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2500"/>
              <a:buFont typeface="Montserrat"/>
              <a:buNone/>
            </a:pPr>
            <a:r>
              <a:rPr b="1" lang="en-US" sz="250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GRUPO 4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11480" y="219456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B04B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88B04B"/>
                </a:solidFill>
                <a:latin typeface="Montserrat"/>
                <a:ea typeface="Montserrat"/>
                <a:cs typeface="Montserrat"/>
                <a:sym typeface="Montserrat"/>
              </a:rPr>
              <a:t>PROYECTO DRONES AGRO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drone_field.jpg" id="151" name="Google Shape;151;p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384048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57784" y="411480"/>
            <a:ext cx="109728" cy="109728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 rot="1200000">
            <a:off x="8741664" y="4700016"/>
            <a:ext cx="182880" cy="292608"/>
          </a:xfrm>
          <a:prstGeom prst="ellipse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731520" y="2148840"/>
            <a:ext cx="7680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3000"/>
              <a:buFont typeface="Montserrat"/>
              <a:buNone/>
            </a:pPr>
            <a:r>
              <a:rPr b="1" i="0" lang="en-US" sz="3000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Especificaciones técnicas del servicio a ofrecer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0" y="0"/>
            <a:ext cx="9144000" cy="75895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0" y="75895"/>
            <a:ext cx="1143000" cy="41148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8302752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8476488" y="411480"/>
            <a:ext cx="109728" cy="109728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411480" y="493776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2500"/>
              <a:buFont typeface="Montserrat"/>
              <a:buNone/>
            </a:pPr>
            <a:r>
              <a:rPr b="1" lang="en-US" sz="250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GRUPO 5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411480" y="219456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B04B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88B04B"/>
                </a:solidFill>
                <a:latin typeface="Montserrat"/>
                <a:ea typeface="Montserrat"/>
                <a:cs typeface="Montserrat"/>
                <a:sym typeface="Montserrat"/>
              </a:rPr>
              <a:t>PROYECTO DRONES AGRO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drone_field.jpg" id="172" name="Google Shape;172;p9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/>
          <p:nvPr/>
        </p:nvSpPr>
        <p:spPr>
          <a:xfrm>
            <a:off x="384048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557784" y="411480"/>
            <a:ext cx="109728" cy="109728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 rot="1200000">
            <a:off x="8741664" y="4700016"/>
            <a:ext cx="182880" cy="292608"/>
          </a:xfrm>
          <a:prstGeom prst="ellipse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731520" y="2148840"/>
            <a:ext cx="7680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3000"/>
              <a:buFont typeface="Montserrat"/>
              <a:buNone/>
            </a:pPr>
            <a:r>
              <a:rPr b="1" i="0" lang="en-US" sz="3000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Estudio técnico del dron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0" y="0"/>
            <a:ext cx="9144000" cy="75895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0" y="75895"/>
            <a:ext cx="1143000" cy="41148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8302752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8476488" y="411480"/>
            <a:ext cx="109728" cy="109728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411480" y="493776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2500"/>
              <a:buFont typeface="Montserrat"/>
              <a:buNone/>
            </a:pPr>
            <a:r>
              <a:rPr b="1" lang="en-US" sz="250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GRUPO 2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411480" y="219456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B04B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88B04B"/>
                </a:solidFill>
                <a:latin typeface="Montserrat"/>
                <a:ea typeface="Montserrat"/>
                <a:cs typeface="Montserrat"/>
                <a:sym typeface="Montserrat"/>
              </a:rPr>
              <a:t>PROYECTO DRONES AGRO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drone_field.jpg" id="193" name="Google Shape;193;p12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2"/>
          <p:cNvSpPr/>
          <p:nvPr/>
        </p:nvSpPr>
        <p:spPr>
          <a:xfrm>
            <a:off x="384048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557784" y="411480"/>
            <a:ext cx="109728" cy="109728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 rot="1200000">
            <a:off x="8741664" y="4700016"/>
            <a:ext cx="182880" cy="292608"/>
          </a:xfrm>
          <a:prstGeom prst="ellipse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731520" y="2148840"/>
            <a:ext cx="7680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3000"/>
              <a:buFont typeface="Montserrat"/>
              <a:buNone/>
            </a:pPr>
            <a:r>
              <a:rPr b="1" i="0" lang="en-US" sz="3000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Marco normativo actual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/>
          <p:nvPr/>
        </p:nvSpPr>
        <p:spPr>
          <a:xfrm>
            <a:off x="0" y="0"/>
            <a:ext cx="9144000" cy="75895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"/>
          <p:cNvSpPr/>
          <p:nvPr/>
        </p:nvSpPr>
        <p:spPr>
          <a:xfrm>
            <a:off x="0" y="75895"/>
            <a:ext cx="1143000" cy="41148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8302752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8476488" y="411480"/>
            <a:ext cx="109728" cy="109728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411480" y="493776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2500"/>
              <a:buFont typeface="Montserrat"/>
              <a:buNone/>
            </a:pPr>
            <a:r>
              <a:rPr b="1" lang="en-US" sz="2500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GRUPO 3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411480" y="219456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B04B"/>
              </a:buClr>
              <a:buSzPts val="1050"/>
              <a:buFont typeface="Montserrat"/>
              <a:buNone/>
            </a:pPr>
            <a:r>
              <a:rPr b="1" i="0" lang="en-US" sz="1050" u="none" cap="none" strike="noStrike">
                <a:solidFill>
                  <a:srgbClr val="88B04B"/>
                </a:solidFill>
                <a:latin typeface="Montserrat"/>
                <a:ea typeface="Montserrat"/>
                <a:cs typeface="Montserrat"/>
                <a:sym typeface="Montserrat"/>
              </a:rPr>
              <a:t>PROYECTO DRONES AGRO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6F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drone_field.jpg" id="214" name="Google Shape;214;p18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/>
          <p:nvPr/>
        </p:nvSpPr>
        <p:spPr>
          <a:xfrm>
            <a:off x="384048" y="237744"/>
            <a:ext cx="457200" cy="457200"/>
          </a:xfrm>
          <a:prstGeom prst="ellipse">
            <a:avLst/>
          </a:prstGeom>
          <a:noFill/>
          <a:ln cap="flat" cmpd="sng" w="19050">
            <a:solidFill>
              <a:srgbClr val="2D5A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57784" y="411480"/>
            <a:ext cx="109728" cy="109728"/>
          </a:xfrm>
          <a:prstGeom prst="ellipse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 rot="1200000">
            <a:off x="8741664" y="4700016"/>
            <a:ext cx="182880" cy="292608"/>
          </a:xfrm>
          <a:prstGeom prst="ellipse">
            <a:avLst/>
          </a:prstGeom>
          <a:solidFill>
            <a:srgbClr val="88B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731520" y="2148840"/>
            <a:ext cx="7680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5A27"/>
              </a:buClr>
              <a:buSzPts val="3000"/>
              <a:buFont typeface="Montserrat"/>
              <a:buNone/>
            </a:pPr>
            <a:r>
              <a:rPr b="1" i="0" lang="en-US" sz="3000" u="none" cap="none" strike="noStrike">
                <a:solidFill>
                  <a:srgbClr val="2D5A27"/>
                </a:solidFill>
                <a:latin typeface="Montserrat"/>
                <a:ea typeface="Montserrat"/>
                <a:cs typeface="Montserrat"/>
                <a:sym typeface="Montserrat"/>
              </a:rPr>
              <a:t>Preguntas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2026-09-03T21:09:33Z</dcterms:created>
  <dc:creator>PptxGenJS</dc:creator>
</cp:coreProperties>
</file>